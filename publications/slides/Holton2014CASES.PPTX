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358" r:id="rId3"/>
    <p:sldId id="332" r:id="rId4"/>
    <p:sldId id="331" r:id="rId5"/>
    <p:sldId id="333" r:id="rId6"/>
    <p:sldId id="325" r:id="rId7"/>
    <p:sldId id="327" r:id="rId8"/>
    <p:sldId id="334" r:id="rId9"/>
    <p:sldId id="335" r:id="rId10"/>
    <p:sldId id="336" r:id="rId11"/>
    <p:sldId id="337" r:id="rId12"/>
    <p:sldId id="340" r:id="rId13"/>
    <p:sldId id="342" r:id="rId14"/>
    <p:sldId id="259" r:id="rId15"/>
    <p:sldId id="328" r:id="rId16"/>
    <p:sldId id="343" r:id="rId17"/>
    <p:sldId id="344" r:id="rId18"/>
    <p:sldId id="345" r:id="rId19"/>
    <p:sldId id="347" r:id="rId20"/>
    <p:sldId id="355" r:id="rId21"/>
    <p:sldId id="356" r:id="rId22"/>
    <p:sldId id="357" r:id="rId23"/>
    <p:sldId id="349" r:id="rId24"/>
    <p:sldId id="354" r:id="rId25"/>
    <p:sldId id="351" r:id="rId26"/>
    <p:sldId id="352" r:id="rId27"/>
    <p:sldId id="353" r:id="rId28"/>
    <p:sldId id="271" r:id="rId29"/>
    <p:sldId id="272" r:id="rId30"/>
    <p:sldId id="304" r:id="rId31"/>
    <p:sldId id="315" r:id="rId32"/>
    <p:sldId id="274" r:id="rId33"/>
    <p:sldId id="359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497A5B-815D-4FDD-96FF-EE185B11BF15}">
          <p14:sldIdLst>
            <p14:sldId id="256"/>
            <p14:sldId id="358"/>
            <p14:sldId id="332"/>
            <p14:sldId id="331"/>
            <p14:sldId id="333"/>
            <p14:sldId id="325"/>
            <p14:sldId id="327"/>
            <p14:sldId id="334"/>
            <p14:sldId id="335"/>
            <p14:sldId id="336"/>
            <p14:sldId id="337"/>
            <p14:sldId id="340"/>
            <p14:sldId id="342"/>
            <p14:sldId id="259"/>
            <p14:sldId id="328"/>
            <p14:sldId id="343"/>
            <p14:sldId id="344"/>
            <p14:sldId id="345"/>
            <p14:sldId id="347"/>
            <p14:sldId id="355"/>
            <p14:sldId id="356"/>
            <p14:sldId id="357"/>
            <p14:sldId id="349"/>
            <p14:sldId id="354"/>
            <p14:sldId id="351"/>
            <p14:sldId id="352"/>
            <p14:sldId id="353"/>
            <p14:sldId id="271"/>
            <p14:sldId id="272"/>
            <p14:sldId id="304"/>
            <p14:sldId id="315"/>
            <p14:sldId id="274"/>
            <p14:sldId id="3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35"/>
    <a:srgbClr val="080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6" autoAdjust="0"/>
    <p:restoredTop sz="98884" autoAdjust="0"/>
  </p:normalViewPr>
  <p:slideViewPr>
    <p:cSldViewPr>
      <p:cViewPr varScale="1">
        <p:scale>
          <a:sx n="102" d="100"/>
          <a:sy n="102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9" d="100"/>
        <a:sy n="59" d="100"/>
      </p:scale>
      <p:origin x="0" y="8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holto\SkyDrive\Documents\Thesis\CASES%202014\Resul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holto\SkyDrive\Documents\Thesis\CASES%202014\Resul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55633243155401"/>
          <c:y val="6.08956322095612E-2"/>
          <c:w val="0.86701669914263102"/>
          <c:h val="0.52445742078881896"/>
        </c:manualLayout>
      </c:layout>
      <c:barChart>
        <c:barDir val="col"/>
        <c:grouping val="clustered"/>
        <c:varyColors val="0"/>
        <c:ser>
          <c:idx val="0"/>
          <c:order val="0"/>
          <c:tx>
            <c:v>GCCFG</c:v>
          </c:tx>
          <c:spPr>
            <a:solidFill>
              <a:schemeClr val="tx2"/>
            </a:solidFill>
            <a:ln>
              <a:solidFill>
                <a:sysClr val="windowText" lastClr="000000"/>
              </a:solidFill>
            </a:ln>
          </c:spPr>
          <c:invertIfNegative val="0"/>
          <c:cat>
            <c:strRef>
              <c:f>Sheet1!$A$3:$A$11</c:f>
              <c:strCache>
                <c:ptCount val="9"/>
                <c:pt idx="0">
                  <c:v>Adpcm</c:v>
                </c:pt>
                <c:pt idx="1">
                  <c:v>Basicmath</c:v>
                </c:pt>
                <c:pt idx="2">
                  <c:v>Dijkstra</c:v>
                </c:pt>
                <c:pt idx="3">
                  <c:v>Patricia</c:v>
                </c:pt>
                <c:pt idx="4">
                  <c:v>Sha</c:v>
                </c:pt>
                <c:pt idx="5">
                  <c:v>String_Search</c:v>
                </c:pt>
                <c:pt idx="6">
                  <c:v>Susan_Edge</c:v>
                </c:pt>
                <c:pt idx="7">
                  <c:v>Susan_Smoothing</c:v>
                </c:pt>
                <c:pt idx="8">
                  <c:v>Average</c:v>
                </c:pt>
              </c:strCache>
            </c:strRef>
          </c:cat>
          <c:val>
            <c:numRef>
              <c:f>Sheet1!$B$3:$B$11</c:f>
              <c:numCache>
                <c:formatCode>General</c:formatCode>
                <c:ptCount val="9"/>
                <c:pt idx="0">
                  <c:v>7</c:v>
                </c:pt>
                <c:pt idx="1">
                  <c:v>6</c:v>
                </c:pt>
                <c:pt idx="2">
                  <c:v>10</c:v>
                </c:pt>
                <c:pt idx="3">
                  <c:v>10</c:v>
                </c:pt>
                <c:pt idx="4">
                  <c:v>50</c:v>
                </c:pt>
                <c:pt idx="5">
                  <c:v>8</c:v>
                </c:pt>
                <c:pt idx="6">
                  <c:v>12</c:v>
                </c:pt>
                <c:pt idx="7">
                  <c:v>12</c:v>
                </c:pt>
                <c:pt idx="8">
                  <c:v>14.375</c:v>
                </c:pt>
              </c:numCache>
            </c:numRef>
          </c:val>
        </c:ser>
        <c:ser>
          <c:idx val="1"/>
          <c:order val="1"/>
          <c:tx>
            <c:v>GlobalCFG</c:v>
          </c:tx>
          <c:spPr>
            <a:solidFill>
              <a:srgbClr val="C00000"/>
            </a:solidFill>
            <a:ln>
              <a:solidFill>
                <a:sysClr val="windowText" lastClr="000000"/>
              </a:solidFill>
            </a:ln>
          </c:spPr>
          <c:invertIfNegative val="0"/>
          <c:cat>
            <c:strRef>
              <c:f>Sheet1!$A$3:$A$11</c:f>
              <c:strCache>
                <c:ptCount val="9"/>
                <c:pt idx="0">
                  <c:v>Adpcm</c:v>
                </c:pt>
                <c:pt idx="1">
                  <c:v>Basicmath</c:v>
                </c:pt>
                <c:pt idx="2">
                  <c:v>Dijkstra</c:v>
                </c:pt>
                <c:pt idx="3">
                  <c:v>Patricia</c:v>
                </c:pt>
                <c:pt idx="4">
                  <c:v>Sha</c:v>
                </c:pt>
                <c:pt idx="5">
                  <c:v>String_Search</c:v>
                </c:pt>
                <c:pt idx="6">
                  <c:v>Susan_Edge</c:v>
                </c:pt>
                <c:pt idx="7">
                  <c:v>Susan_Smoothing</c:v>
                </c:pt>
                <c:pt idx="8">
                  <c:v>Average</c:v>
                </c:pt>
              </c:strCache>
            </c:strRef>
          </c:cat>
          <c:val>
            <c:numRef>
              <c:f>Sheet1!$C$3:$C$11</c:f>
              <c:numCache>
                <c:formatCode>General</c:formatCode>
                <c:ptCount val="9"/>
                <c:pt idx="0">
                  <c:v>38</c:v>
                </c:pt>
                <c:pt idx="1">
                  <c:v>33</c:v>
                </c:pt>
                <c:pt idx="2">
                  <c:v>35</c:v>
                </c:pt>
                <c:pt idx="3">
                  <c:v>265</c:v>
                </c:pt>
                <c:pt idx="4">
                  <c:v>785</c:v>
                </c:pt>
                <c:pt idx="5">
                  <c:v>44</c:v>
                </c:pt>
                <c:pt idx="6">
                  <c:v>273</c:v>
                </c:pt>
                <c:pt idx="7">
                  <c:v>273</c:v>
                </c:pt>
                <c:pt idx="8">
                  <c:v>218.25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3397976"/>
        <c:axId val="243395232"/>
      </c:barChart>
      <c:catAx>
        <c:axId val="2433979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 algn="ctr">
              <a:defRPr/>
            </a:pPr>
            <a:endParaRPr lang="en-US"/>
          </a:p>
        </c:txPr>
        <c:crossAx val="243395232"/>
        <c:crosses val="autoZero"/>
        <c:auto val="1"/>
        <c:lblAlgn val="ctr"/>
        <c:lblOffset val="100"/>
        <c:noMultiLvlLbl val="0"/>
      </c:catAx>
      <c:valAx>
        <c:axId val="243395232"/>
        <c:scaling>
          <c:logBase val="10"/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 algn="ctr" rtl="0">
                  <a:defRPr/>
                </a:pPr>
                <a:r>
                  <a:rPr lang="en-US"/>
                  <a:t>Compilation Time (ms)</a:t>
                </a:r>
              </a:p>
            </c:rich>
          </c:tx>
          <c:layout>
            <c:manualLayout>
              <c:xMode val="edge"/>
              <c:yMode val="edge"/>
              <c:x val="2.54936483679147E-3"/>
              <c:y val="6.0895619184635097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433979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3716154070484801"/>
          <c:y val="6.5821409420596597E-2"/>
          <c:w val="0.17485443352689001"/>
          <c:h val="0.16031885883216199"/>
        </c:manualLayout>
      </c:layout>
      <c:overlay val="0"/>
      <c:spPr>
        <a:solidFill>
          <a:sysClr val="window" lastClr="FFFFFF"/>
        </a:solidFill>
        <a:ln>
          <a:solidFill>
            <a:sysClr val="windowText" lastClr="000000"/>
          </a:solidFill>
        </a:ln>
      </c:spPr>
      <c:txPr>
        <a:bodyPr/>
        <a:lstStyle/>
        <a:p>
          <a:pPr algn="ctr">
            <a:defRPr/>
          </a:pPr>
          <a:endParaRPr lang="en-US"/>
        </a:p>
      </c:txPr>
    </c:legend>
    <c:plotVisOnly val="1"/>
    <c:dispBlanksAs val="gap"/>
    <c:showDLblsOverMax val="0"/>
  </c:chart>
  <c:spPr>
    <a:ln w="22225">
      <a:solidFill>
        <a:schemeClr val="tx1"/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6032770313129"/>
          <c:y val="6.0028110515317902E-2"/>
          <c:w val="0.85354229244352897"/>
          <c:h val="0.52950895114949303"/>
        </c:manualLayout>
      </c:layout>
      <c:barChart>
        <c:barDir val="col"/>
        <c:grouping val="clustered"/>
        <c:varyColors val="0"/>
        <c:ser>
          <c:idx val="0"/>
          <c:order val="0"/>
          <c:tx>
            <c:v>GCCFG</c:v>
          </c:tx>
          <c:spPr>
            <a:solidFill>
              <a:schemeClr val="tx2"/>
            </a:solidFill>
            <a:ln>
              <a:solidFill>
                <a:sysClr val="windowText" lastClr="000000"/>
              </a:solidFill>
            </a:ln>
          </c:spPr>
          <c:invertIfNegative val="0"/>
          <c:cat>
            <c:strRef>
              <c:f>Sheet1!$E$3:$E$11</c:f>
              <c:strCache>
                <c:ptCount val="9"/>
                <c:pt idx="0">
                  <c:v>Adpcm</c:v>
                </c:pt>
                <c:pt idx="1">
                  <c:v>Basicmath</c:v>
                </c:pt>
                <c:pt idx="2">
                  <c:v>Dijkstra</c:v>
                </c:pt>
                <c:pt idx="3">
                  <c:v>Patricia</c:v>
                </c:pt>
                <c:pt idx="4">
                  <c:v>Sha</c:v>
                </c:pt>
                <c:pt idx="5">
                  <c:v>String_Search</c:v>
                </c:pt>
                <c:pt idx="6">
                  <c:v>Susan_Edge</c:v>
                </c:pt>
                <c:pt idx="7">
                  <c:v>Susan_Smoothing</c:v>
                </c:pt>
                <c:pt idx="8">
                  <c:v>Average</c:v>
                </c:pt>
              </c:strCache>
            </c:strRef>
          </c:cat>
          <c:val>
            <c:numRef>
              <c:f>Sheet1!$F$3:$F$11</c:f>
              <c:numCache>
                <c:formatCode>General</c:formatCode>
                <c:ptCount val="9"/>
                <c:pt idx="0">
                  <c:v>11</c:v>
                </c:pt>
                <c:pt idx="1">
                  <c:v>9</c:v>
                </c:pt>
                <c:pt idx="2">
                  <c:v>8</c:v>
                </c:pt>
                <c:pt idx="3">
                  <c:v>13</c:v>
                </c:pt>
                <c:pt idx="4">
                  <c:v>1020</c:v>
                </c:pt>
                <c:pt idx="5">
                  <c:v>10</c:v>
                </c:pt>
                <c:pt idx="6">
                  <c:v>17</c:v>
                </c:pt>
                <c:pt idx="7">
                  <c:v>15</c:v>
                </c:pt>
                <c:pt idx="8">
                  <c:v>137.875</c:v>
                </c:pt>
              </c:numCache>
            </c:numRef>
          </c:val>
        </c:ser>
        <c:ser>
          <c:idx val="1"/>
          <c:order val="1"/>
          <c:tx>
            <c:v>GlobalCFG</c:v>
          </c:tx>
          <c:spPr>
            <a:solidFill>
              <a:srgbClr val="C00000"/>
            </a:solidFill>
            <a:ln>
              <a:solidFill>
                <a:sysClr val="windowText" lastClr="000000"/>
              </a:solidFill>
            </a:ln>
          </c:spPr>
          <c:invertIfNegative val="0"/>
          <c:cat>
            <c:strRef>
              <c:f>Sheet1!$E$3:$E$11</c:f>
              <c:strCache>
                <c:ptCount val="9"/>
                <c:pt idx="0">
                  <c:v>Adpcm</c:v>
                </c:pt>
                <c:pt idx="1">
                  <c:v>Basicmath</c:v>
                </c:pt>
                <c:pt idx="2">
                  <c:v>Dijkstra</c:v>
                </c:pt>
                <c:pt idx="3">
                  <c:v>Patricia</c:v>
                </c:pt>
                <c:pt idx="4">
                  <c:v>Sha</c:v>
                </c:pt>
                <c:pt idx="5">
                  <c:v>String_Search</c:v>
                </c:pt>
                <c:pt idx="6">
                  <c:v>Susan_Edge</c:v>
                </c:pt>
                <c:pt idx="7">
                  <c:v>Susan_Smoothing</c:v>
                </c:pt>
                <c:pt idx="8">
                  <c:v>Average</c:v>
                </c:pt>
              </c:strCache>
            </c:strRef>
          </c:cat>
          <c:val>
            <c:numRef>
              <c:f>Sheet1!$G$3:$G$11</c:f>
              <c:numCache>
                <c:formatCode>General</c:formatCode>
                <c:ptCount val="9"/>
                <c:pt idx="0">
                  <c:v>52</c:v>
                </c:pt>
                <c:pt idx="1">
                  <c:v>45</c:v>
                </c:pt>
                <c:pt idx="2">
                  <c:v>49</c:v>
                </c:pt>
                <c:pt idx="3">
                  <c:v>274</c:v>
                </c:pt>
                <c:pt idx="4">
                  <c:v>1722</c:v>
                </c:pt>
                <c:pt idx="5">
                  <c:v>45</c:v>
                </c:pt>
                <c:pt idx="6">
                  <c:v>380</c:v>
                </c:pt>
                <c:pt idx="7">
                  <c:v>345</c:v>
                </c:pt>
                <c:pt idx="8">
                  <c:v>364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3392096"/>
        <c:axId val="243393272"/>
      </c:barChart>
      <c:catAx>
        <c:axId val="2433920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 algn="ctr">
              <a:defRPr/>
            </a:pPr>
            <a:endParaRPr lang="en-US"/>
          </a:p>
        </c:txPr>
        <c:crossAx val="243393272"/>
        <c:crosses val="autoZero"/>
        <c:auto val="1"/>
        <c:lblAlgn val="ctr"/>
        <c:lblOffset val="100"/>
        <c:noMultiLvlLbl val="0"/>
      </c:catAx>
      <c:valAx>
        <c:axId val="243393272"/>
        <c:scaling>
          <c:logBase val="10"/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Compilation Time (ms)</a:t>
                </a:r>
              </a:p>
            </c:rich>
          </c:tx>
          <c:layout>
            <c:manualLayout>
              <c:xMode val="edge"/>
              <c:yMode val="edge"/>
              <c:x val="5.0744738979251599E-3"/>
              <c:y val="5.45710095593799E-2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4339209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4774390688540201"/>
          <c:y val="6.3510710354754002E-2"/>
          <c:w val="0.18592198652743"/>
          <c:h val="0.123771448931787"/>
        </c:manualLayout>
      </c:layout>
      <c:overlay val="0"/>
      <c:spPr>
        <a:solidFill>
          <a:sysClr val="window" lastClr="FFFFFF"/>
        </a:solidFill>
        <a:ln>
          <a:solidFill>
            <a:sysClr val="windowText" lastClr="000000"/>
          </a:solidFill>
        </a:ln>
      </c:spPr>
      <c:txPr>
        <a:bodyPr/>
        <a:lstStyle/>
        <a:p>
          <a:pPr algn="ctr">
            <a:defRPr/>
          </a:pPr>
          <a:endParaRPr lang="en-US"/>
        </a:p>
      </c:txPr>
    </c:legend>
    <c:plotVisOnly val="1"/>
    <c:dispBlanksAs val="gap"/>
    <c:showDLblsOverMax val="0"/>
  </c:chart>
  <c:spPr>
    <a:ln w="22225">
      <a:solidFill>
        <a:schemeClr val="tx1"/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538A3-B8A0-48A4-A2D4-92176E6B24BA}" type="datetimeFigureOut">
              <a:rPr lang="en-US" smtClean="0"/>
              <a:pPr/>
              <a:t>11/3/2014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7898C-E72B-4DD5-A1F8-9181B48547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2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94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6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267" name="Foliennummernplatzhalt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2F8A3B89-01B3-41AC-A748-1582F3E86725}" type="slidenum">
              <a:rPr lang="de-DE" altLang="en-US" sz="1200"/>
              <a:pPr/>
              <a:t>6</a:t>
            </a:fld>
            <a:endParaRPr lang="de-DE" altLang="en-US" sz="1200"/>
          </a:p>
        </p:txBody>
      </p:sp>
    </p:spTree>
    <p:extLst>
      <p:ext uri="{BB962C8B-B14F-4D97-AF65-F5344CB8AC3E}">
        <p14:creationId xmlns:p14="http://schemas.microsoft.com/office/powerpoint/2010/main" val="3025102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30000" dirty="0" smtClean="0"/>
              <a:t>All the state-of-the-art data management techniques that have been developed for SMM architectures are inter-procedural code transformations, and require extensive inter-procedural analysis.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8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mtClean="0"/>
              <a:t>I haven’t mentioned  that the architecture is the Cell processor</a:t>
            </a:r>
          </a:p>
          <a:p>
            <a:pPr eaLnBrk="1" hangingPunct="1"/>
            <a:endParaRPr lang="en-US" altLang="zh-CN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190F8FB-7EA9-4DD0-A286-7B7A280095E1}" type="slidenum">
              <a:rPr lang="en-US" altLang="zh-CN">
                <a:latin typeface="Calibri" pitchFamily="34" charset="0"/>
              </a:rPr>
              <a:pPr eaLnBrk="1" hangingPunct="1"/>
              <a:t>10</a:t>
            </a:fld>
            <a:endParaRPr lang="en-US" altLang="zh-CN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919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 smtClean="0"/>
              <a:t>GCCFG contains three types of nodes</a:t>
            </a:r>
          </a:p>
          <a:p>
            <a:pPr lvl="1"/>
            <a:r>
              <a:rPr lang="en-US" sz="800" dirty="0" smtClean="0"/>
              <a:t>Function Node</a:t>
            </a:r>
          </a:p>
          <a:p>
            <a:pPr lvl="2"/>
            <a:r>
              <a:rPr lang="en-US" sz="800" dirty="0" smtClean="0"/>
              <a:t>Function call in a program</a:t>
            </a:r>
          </a:p>
          <a:p>
            <a:pPr lvl="2"/>
            <a:r>
              <a:rPr lang="en-US" sz="800" dirty="0" smtClean="0"/>
              <a:t>Circle Shape</a:t>
            </a:r>
          </a:p>
          <a:p>
            <a:pPr lvl="1"/>
            <a:r>
              <a:rPr lang="en-US" sz="800" dirty="0" smtClean="0"/>
              <a:t>Loop Node</a:t>
            </a:r>
          </a:p>
          <a:p>
            <a:pPr lvl="2"/>
            <a:r>
              <a:rPr lang="en-US" sz="800" dirty="0" smtClean="0"/>
              <a:t>Loop in a program</a:t>
            </a:r>
          </a:p>
          <a:p>
            <a:pPr lvl="2"/>
            <a:r>
              <a:rPr lang="en-US" sz="800" dirty="0" smtClean="0"/>
              <a:t>Square Shape</a:t>
            </a:r>
          </a:p>
          <a:p>
            <a:pPr lvl="1"/>
            <a:r>
              <a:rPr lang="en-US" sz="800" dirty="0" smtClean="0"/>
              <a:t>Condition Node</a:t>
            </a:r>
          </a:p>
          <a:p>
            <a:pPr lvl="2"/>
            <a:r>
              <a:rPr lang="en-US" sz="800" dirty="0" smtClean="0"/>
              <a:t>If-then-else in a program</a:t>
            </a:r>
          </a:p>
          <a:p>
            <a:pPr lvl="2"/>
            <a:r>
              <a:rPr lang="en-US" sz="800" dirty="0" smtClean="0"/>
              <a:t>Diamond Shape</a:t>
            </a:r>
          </a:p>
          <a:p>
            <a:pPr lvl="2"/>
            <a:r>
              <a:rPr lang="en-US" sz="800" dirty="0" smtClean="0"/>
              <a:t>Two sets of children</a:t>
            </a:r>
          </a:p>
          <a:p>
            <a:pPr lvl="3"/>
            <a:r>
              <a:rPr lang="en-US" sz="1200" dirty="0" smtClean="0"/>
              <a:t>Left </a:t>
            </a:r>
            <a:r>
              <a:rPr lang="en-US" sz="800" dirty="0" smtClean="0"/>
              <a:t>Set – Children executed in the if path</a:t>
            </a:r>
          </a:p>
          <a:p>
            <a:pPr lvl="3"/>
            <a:r>
              <a:rPr lang="en-US" sz="800" dirty="0" smtClean="0"/>
              <a:t>Right Set – Children executed in the false path</a:t>
            </a:r>
          </a:p>
          <a:p>
            <a:r>
              <a:rPr lang="en-US" sz="800" dirty="0" smtClean="0"/>
              <a:t>GCCFG contains edges between nodes</a:t>
            </a:r>
          </a:p>
          <a:p>
            <a:pPr lvl="1"/>
            <a:r>
              <a:rPr lang="en-US" sz="800" dirty="0" smtClean="0"/>
              <a:t>Set of outgoing edges</a:t>
            </a:r>
          </a:p>
          <a:p>
            <a:pPr lvl="2"/>
            <a:r>
              <a:rPr lang="en-US" sz="800" dirty="0" smtClean="0"/>
              <a:t>ordered set</a:t>
            </a:r>
          </a:p>
          <a:p>
            <a:pPr lvl="2"/>
            <a:r>
              <a:rPr lang="en-US" sz="800" dirty="0" smtClean="0"/>
              <a:t>edges on left are executed before edges on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08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Extract loop information from all of the CFG’s</a:t>
            </a:r>
          </a:p>
          <a:p>
            <a:pPr lvl="1"/>
            <a:r>
              <a:rPr lang="en-US" dirty="0" smtClean="0"/>
              <a:t>Contains Basic Blocks and edges</a:t>
            </a:r>
          </a:p>
          <a:p>
            <a:pPr lvl="1"/>
            <a:r>
              <a:rPr lang="en-US" dirty="0" smtClean="0"/>
              <a:t>Contains Sub-loops</a:t>
            </a:r>
          </a:p>
          <a:p>
            <a:pPr lvl="1"/>
            <a:r>
              <a:rPr lang="en-US" dirty="0" smtClean="0"/>
              <a:t>Strongly connected components</a:t>
            </a:r>
          </a:p>
          <a:p>
            <a:pPr lvl="1"/>
            <a:r>
              <a:rPr lang="en-US" dirty="0" smtClean="0"/>
              <a:t>	Block</a:t>
            </a:r>
            <a:r>
              <a:rPr lang="en-US" baseline="0" dirty="0" smtClean="0"/>
              <a:t> is reachable from all other blocks</a:t>
            </a:r>
            <a:endParaRPr lang="en-US" dirty="0" smtClean="0"/>
          </a:p>
          <a:p>
            <a:pPr lvl="1"/>
            <a:r>
              <a:rPr lang="en-US" dirty="0" smtClean="0"/>
              <a:t>Unique entry and exit block </a:t>
            </a:r>
          </a:p>
          <a:p>
            <a:pPr lvl="2"/>
            <a:r>
              <a:rPr lang="en-US" dirty="0" smtClean="0"/>
              <a:t>If not - we will convert the loop </a:t>
            </a:r>
          </a:p>
          <a:p>
            <a:pPr lvl="1"/>
            <a:r>
              <a:rPr lang="en-US" dirty="0" smtClean="0"/>
              <a:t>Loop has depth</a:t>
            </a:r>
          </a:p>
          <a:p>
            <a:pPr lvl="1"/>
            <a:r>
              <a:rPr lang="en-US" dirty="0" smtClean="0"/>
              <a:t>Highest level loop</a:t>
            </a:r>
          </a:p>
          <a:p>
            <a:pPr lvl="2"/>
            <a:r>
              <a:rPr lang="en-US" dirty="0" smtClean="0"/>
              <a:t>Contains all of the blocks and edges from CFG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85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Copy all blocks and edges from a loop into HFG</a:t>
            </a:r>
          </a:p>
          <a:p>
            <a:r>
              <a:rPr lang="en-US" dirty="0" smtClean="0"/>
              <a:t>Iterate over all blocks in HFG</a:t>
            </a:r>
          </a:p>
          <a:p>
            <a:pPr lvl="1"/>
            <a:r>
              <a:rPr lang="en-US" dirty="0" smtClean="0"/>
              <a:t>If a block belongs to a sub-loop and is a loop entrance or exit</a:t>
            </a:r>
          </a:p>
          <a:p>
            <a:pPr lvl="2"/>
            <a:r>
              <a:rPr lang="en-US" dirty="0" smtClean="0"/>
              <a:t>If sub-loop is one nesting level below HFG</a:t>
            </a:r>
          </a:p>
          <a:p>
            <a:pPr lvl="1"/>
            <a:r>
              <a:rPr lang="en-US" dirty="0" smtClean="0"/>
              <a:t>Remove edge between HFG and sub-loop block</a:t>
            </a:r>
          </a:p>
          <a:p>
            <a:pPr lvl="2"/>
            <a:r>
              <a:rPr lang="en-US" dirty="0" smtClean="0"/>
              <a:t>Add edge between HFG and Loop Place Holder block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18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Iterate over all blocks in HFG</a:t>
            </a:r>
          </a:p>
          <a:p>
            <a:pPr lvl="1"/>
            <a:r>
              <a:rPr lang="en-US" dirty="0" smtClean="0"/>
              <a:t>Look for Function Calls in instructions</a:t>
            </a:r>
          </a:p>
          <a:p>
            <a:pPr lvl="2"/>
            <a:r>
              <a:rPr lang="en-US" dirty="0" smtClean="0"/>
              <a:t>Add a function call node to CCFG</a:t>
            </a:r>
          </a:p>
          <a:p>
            <a:pPr lvl="1"/>
            <a:r>
              <a:rPr lang="en-US" dirty="0" smtClean="0"/>
              <a:t>Look for LPH’s</a:t>
            </a:r>
          </a:p>
          <a:p>
            <a:pPr lvl="2"/>
            <a:r>
              <a:rPr lang="en-US" dirty="0" smtClean="0"/>
              <a:t>Add a loop node to CCFG</a:t>
            </a:r>
          </a:p>
          <a:p>
            <a:pPr lvl="1"/>
            <a:r>
              <a:rPr lang="en-US" dirty="0" smtClean="0"/>
              <a:t>Look for blocks with more than one child</a:t>
            </a:r>
          </a:p>
          <a:p>
            <a:pPr lvl="2"/>
            <a:r>
              <a:rPr lang="en-US" dirty="0" smtClean="0"/>
              <a:t>Add a condition node to CCFG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4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Iterate over all blocks in HFG</a:t>
            </a:r>
          </a:p>
          <a:p>
            <a:pPr lvl="1"/>
            <a:r>
              <a:rPr lang="en-US" dirty="0" smtClean="0"/>
              <a:t>Look for Function Calls in instructions</a:t>
            </a:r>
          </a:p>
          <a:p>
            <a:pPr lvl="2"/>
            <a:r>
              <a:rPr lang="en-US" dirty="0" smtClean="0"/>
              <a:t>Add a function call node to CCFG</a:t>
            </a:r>
          </a:p>
          <a:p>
            <a:pPr lvl="1"/>
            <a:r>
              <a:rPr lang="en-US" dirty="0" smtClean="0"/>
              <a:t>Look for LPH’s</a:t>
            </a:r>
          </a:p>
          <a:p>
            <a:pPr lvl="2"/>
            <a:r>
              <a:rPr lang="en-US" dirty="0" smtClean="0"/>
              <a:t>Add a loop node to CCFG</a:t>
            </a:r>
          </a:p>
          <a:p>
            <a:pPr lvl="1"/>
            <a:r>
              <a:rPr lang="en-US" dirty="0" smtClean="0"/>
              <a:t>Look for blocks with more than one child</a:t>
            </a:r>
          </a:p>
          <a:p>
            <a:pPr lvl="2"/>
            <a:r>
              <a:rPr lang="en-US" dirty="0" smtClean="0"/>
              <a:t>Add a condition node to CCFG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4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Iterate over all blocks in HFG</a:t>
            </a:r>
          </a:p>
          <a:p>
            <a:pPr lvl="1"/>
            <a:r>
              <a:rPr lang="en-US" dirty="0" smtClean="0"/>
              <a:t>Look for Function Calls in instructions</a:t>
            </a:r>
          </a:p>
          <a:p>
            <a:pPr lvl="2"/>
            <a:r>
              <a:rPr lang="en-US" dirty="0" smtClean="0"/>
              <a:t>Add a function call node to CCFG</a:t>
            </a:r>
          </a:p>
          <a:p>
            <a:pPr lvl="1"/>
            <a:r>
              <a:rPr lang="en-US" dirty="0" smtClean="0"/>
              <a:t>Look for LPH’s</a:t>
            </a:r>
          </a:p>
          <a:p>
            <a:pPr lvl="2"/>
            <a:r>
              <a:rPr lang="en-US" dirty="0" smtClean="0"/>
              <a:t>Add a loop node to CCFG</a:t>
            </a:r>
          </a:p>
          <a:p>
            <a:pPr lvl="1"/>
            <a:r>
              <a:rPr lang="en-US" dirty="0" smtClean="0"/>
              <a:t>Look for blocks with more than one child</a:t>
            </a:r>
          </a:p>
          <a:p>
            <a:pPr lvl="2"/>
            <a:r>
              <a:rPr lang="en-US" dirty="0" smtClean="0"/>
              <a:t>Add a condition node to CCFG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4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Iterate over all blocks in HFG</a:t>
            </a:r>
          </a:p>
          <a:p>
            <a:pPr lvl="1"/>
            <a:r>
              <a:rPr lang="en-US" dirty="0" smtClean="0"/>
              <a:t>Look for Function Calls in instructions</a:t>
            </a:r>
          </a:p>
          <a:p>
            <a:pPr lvl="2"/>
            <a:r>
              <a:rPr lang="en-US" dirty="0" smtClean="0"/>
              <a:t>Add a function call node to CCFG</a:t>
            </a:r>
          </a:p>
          <a:p>
            <a:pPr lvl="1"/>
            <a:r>
              <a:rPr lang="en-US" dirty="0" smtClean="0"/>
              <a:t>Look for LPH’s</a:t>
            </a:r>
          </a:p>
          <a:p>
            <a:pPr lvl="2"/>
            <a:r>
              <a:rPr lang="en-US" dirty="0" smtClean="0"/>
              <a:t>Add a loop node to CCFG</a:t>
            </a:r>
          </a:p>
          <a:p>
            <a:pPr lvl="1"/>
            <a:r>
              <a:rPr lang="en-US" dirty="0" smtClean="0"/>
              <a:t>Look for blocks with more than one child</a:t>
            </a:r>
          </a:p>
          <a:p>
            <a:pPr lvl="2"/>
            <a:r>
              <a:rPr lang="en-US" dirty="0" smtClean="0"/>
              <a:t>Add a condition node to CCFG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4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5X faster with GCCFG vs. Global CFG</a:t>
            </a:r>
          </a:p>
          <a:p>
            <a:r>
              <a:rPr lang="en-US" dirty="0" smtClean="0"/>
              <a:t>Measure the amount of time it takes to do a single step of code management</a:t>
            </a:r>
          </a:p>
          <a:p>
            <a:r>
              <a:rPr lang="en-US" dirty="0" smtClean="0"/>
              <a:t>Initially all functions are mapped to their own region</a:t>
            </a:r>
          </a:p>
          <a:p>
            <a:r>
              <a:rPr lang="en-US" dirty="0" smtClean="0"/>
              <a:t>Each step merges two functions into one region</a:t>
            </a:r>
          </a:p>
          <a:p>
            <a:r>
              <a:rPr lang="en-US" dirty="0" smtClean="0"/>
              <a:t>This continues until reaching the code space requirement</a:t>
            </a:r>
          </a:p>
          <a:p>
            <a:r>
              <a:rPr lang="en-US" dirty="0" smtClean="0"/>
              <a:t>Each step needs to calculate the interference of all the functions existing in the same region</a:t>
            </a:r>
          </a:p>
          <a:p>
            <a:pPr lvl="1"/>
            <a:r>
              <a:rPr lang="en-US" dirty="0" smtClean="0"/>
              <a:t>Calculated using GCCFG vs. Global CFG</a:t>
            </a:r>
          </a:p>
          <a:p>
            <a:pPr lvl="1"/>
            <a:r>
              <a:rPr lang="en-US" dirty="0" smtClean="0"/>
              <a:t>An average step takes 8X longer with Global CFG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8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4X faster with GCCFG vs. Global CFG</a:t>
            </a:r>
          </a:p>
          <a:p>
            <a:r>
              <a:rPr lang="en-US" dirty="0" smtClean="0"/>
              <a:t>Global CFG must be reduced at every iteration to just the functions in an application</a:t>
            </a:r>
          </a:p>
          <a:p>
            <a:r>
              <a:rPr lang="en-US" dirty="0" smtClean="0"/>
              <a:t>We again measure the time for one iteration of stack management</a:t>
            </a:r>
          </a:p>
          <a:p>
            <a:r>
              <a:rPr lang="en-US" dirty="0" smtClean="0"/>
              <a:t>In each step stack frames are combined together into sets on a single path of execution.</a:t>
            </a:r>
          </a:p>
          <a:p>
            <a:r>
              <a:rPr lang="en-US" dirty="0" smtClean="0"/>
              <a:t>On average a single pass takes 8X longer with Global CFG vs. GCCFG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17898C-E72B-4DD5-A1F8-9181B485477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90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135255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20040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4AEEE236-BFB2-45EE-95BD-82362D94975F}" type="datetime1">
              <a:rPr lang="en-US" smtClean="0"/>
              <a:t>11/3/2014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111442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312420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 userDrawn="1"/>
        </p:nvSpPr>
        <p:spPr>
          <a:xfrm>
            <a:off x="904875" y="111442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914400" y="312420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grpSp>
        <p:nvGrpSpPr>
          <p:cNvPr id="11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12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3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4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1905000" y="6397823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 smtClean="0">
                <a:solidFill>
                  <a:srgbClr val="0808C0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  <a:endParaRPr kumimoji="0" lang="en-US" sz="1400" kern="1200" dirty="0">
              <a:solidFill>
                <a:srgbClr val="0808C0"/>
              </a:solidFill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DEF44CF0-85CE-42A4-AA82-F85AEEBDEB7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9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0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1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4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D13A376A-A841-4EDE-88C4-3E301F1DAF57}" type="datetime1">
              <a:rPr lang="en-US" smtClean="0"/>
              <a:t>11/3/2014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2192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8956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668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10668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grpSp>
        <p:nvGrpSpPr>
          <p:cNvPr id="10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11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2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3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4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1CB0E5AD-3C70-4829-B4F4-49CA71E381E8}" type="datetime1">
              <a:rPr lang="en-US" smtClean="0"/>
              <a:t>11/3/2014</a:t>
            </a:fld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905000" y="6397823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 smtClean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  <a:endParaRPr kumimoji="0" lang="en-US" sz="1400" kern="1200" dirty="0">
              <a:solidFill>
                <a:schemeClr val="tx1"/>
              </a:solidFill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F19303C7-CB9D-4892-9368-5190A15A649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12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3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4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F5314D25-90F0-4B5C-8840-11A1B5492F1F}" type="datetime1">
              <a:rPr lang="en-US" smtClean="0"/>
              <a:t>11/3/2014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F19303C7-CB9D-4892-9368-5190A15A649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14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5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6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BC63B76D-86C7-4950-AC04-9458A97E31B8}" type="datetime1">
              <a:rPr lang="en-US" smtClean="0"/>
              <a:t>11/3/2014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F19303C7-CB9D-4892-9368-5190A15A649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9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0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1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2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768AF565-CAA4-4060-B367-7F2D7D9F8E3B}" type="datetime1">
              <a:rPr lang="en-US" smtClean="0"/>
              <a:t>11/3/2014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F19303C7-CB9D-4892-9368-5190A15A649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9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0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1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2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3A6E9624-CD28-47E0-9CD8-4863BDD812BD}" type="datetime1">
              <a:rPr lang="en-US" smtClean="0"/>
              <a:t>11/3/2014</a:t>
            </a:fld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905000" y="6397823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 smtClean="0">
                <a:solidFill>
                  <a:srgbClr val="0808C0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  <a:endParaRPr kumimoji="0" lang="en-US" sz="1400" kern="1200" dirty="0">
              <a:solidFill>
                <a:srgbClr val="0808C0"/>
              </a:solidFill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F19303C7-CB9D-4892-9368-5190A15A649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14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5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6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2DCD07E3-C736-40F8-9025-1040753DD85E}" type="datetime1">
              <a:rPr lang="en-US" smtClean="0"/>
              <a:t>11/3/2014</a:t>
            </a:fld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905000" y="6397823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 smtClean="0">
                <a:solidFill>
                  <a:srgbClr val="0808C0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  <a:endParaRPr kumimoji="0" lang="en-US" sz="1400" kern="1200" dirty="0">
              <a:solidFill>
                <a:srgbClr val="0808C0"/>
              </a:solidFill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F19303C7-CB9D-4892-9368-5190A15A649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13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4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5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6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41ED700-15E7-4C2E-BC00-EFA86C13ADF9}" type="datetime1">
              <a:rPr lang="en-US" smtClean="0"/>
              <a:t>11/3/2014</a:t>
            </a:fld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905000" y="6397823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 smtClean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  <a:endParaRPr kumimoji="0" lang="en-US" sz="1400" kern="1200" dirty="0">
              <a:solidFill>
                <a:schemeClr val="tx1"/>
              </a:solidFill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F19303C7-CB9D-4892-9368-5190A15A649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9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0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1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2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F50C8FCA-008C-4EEE-A7C2-431AFC9287D8}" type="datetime1">
              <a:rPr lang="en-US" smtClean="0"/>
              <a:t>11/3/2014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F19303C7-CB9D-4892-9368-5190A15A649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12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3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4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C75F046E-AADB-4675-BABF-2DAE6E27E09E}" type="datetime1">
              <a:rPr lang="en-US" smtClean="0"/>
              <a:t>11/3/2014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905000" y="6397823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 smtClean="0">
                <a:solidFill>
                  <a:srgbClr val="0808C0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  <a:endParaRPr kumimoji="0" lang="en-US" sz="1400" kern="1200" dirty="0">
              <a:solidFill>
                <a:srgbClr val="0808C0"/>
              </a:solidFill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 b="1" u="none"/>
            </a:lvl1pPr>
            <a:lvl2pPr>
              <a:defRPr sz="2800" b="1" u="none"/>
            </a:lvl2pPr>
            <a:lvl3pPr>
              <a:defRPr sz="2800" b="1" u="none"/>
            </a:lvl3pPr>
            <a:lvl4pPr>
              <a:defRPr sz="2800" b="1" u="none"/>
            </a:lvl4pPr>
            <a:lvl5pPr>
              <a:defRPr sz="2800" b="1" u="none"/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4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fld id="{B517BFC6-0FB8-4F2D-ACE8-A5CF9F15C285}" type="datetime1">
              <a:rPr lang="en-US" altLang="en-US" smtClean="0"/>
              <a:t>11/3/2014</a:t>
            </a:fld>
            <a:endParaRPr lang="de-DE" altLang="en-US"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1"/>
          </p:nvPr>
        </p:nvSpPr>
        <p:spPr>
          <a:xfrm>
            <a:off x="1692275" y="6356350"/>
            <a:ext cx="57594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fld id="{5D0F761E-86C1-4762-A2CA-64B90AB69946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66365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7467600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/>
          <a:lstStyle/>
          <a:p>
            <a:fld id="{DEF44CF0-85CE-42A4-AA82-F85AEEBDEB77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3"/>
          <p:cNvGrpSpPr>
            <a:grpSpLocks/>
          </p:cNvGrpSpPr>
          <p:nvPr userDrawn="1"/>
        </p:nvGrpSpPr>
        <p:grpSpPr bwMode="auto">
          <a:xfrm>
            <a:off x="7777163" y="5932488"/>
            <a:ext cx="1443037" cy="1001712"/>
            <a:chOff x="4755" y="3497"/>
            <a:chExt cx="909" cy="631"/>
          </a:xfrm>
        </p:grpSpPr>
        <p:sp>
          <p:nvSpPr>
            <p:cNvPr id="15" name="Text Box 8"/>
            <p:cNvSpPr txBox="1">
              <a:spLocks noChangeAspect="1" noChangeArrowheads="1"/>
            </p:cNvSpPr>
            <p:nvPr/>
          </p:nvSpPr>
          <p:spPr bwMode="auto">
            <a:xfrm>
              <a:off x="4755" y="3634"/>
              <a:ext cx="393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6" name="Text Box 9"/>
            <p:cNvSpPr txBox="1">
              <a:spLocks noChangeAspect="1" noChangeArrowheads="1"/>
            </p:cNvSpPr>
            <p:nvPr/>
          </p:nvSpPr>
          <p:spPr bwMode="auto">
            <a:xfrm>
              <a:off x="4973" y="3497"/>
              <a:ext cx="47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7" name="Text Box 10"/>
            <p:cNvSpPr txBox="1">
              <a:spLocks noChangeAspect="1" noChangeArrowheads="1"/>
            </p:cNvSpPr>
            <p:nvPr/>
          </p:nvSpPr>
          <p:spPr bwMode="auto">
            <a:xfrm>
              <a:off x="5292" y="3641"/>
              <a:ext cx="372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8" name="Date Placeholder 27"/>
          <p:cNvSpPr>
            <a:spLocks noGrp="1"/>
          </p:cNvSpPr>
          <p:nvPr>
            <p:ph type="dt" sz="half" idx="2"/>
          </p:nvPr>
        </p:nvSpPr>
        <p:spPr>
          <a:xfrm>
            <a:off x="5407152" y="6355080"/>
            <a:ext cx="2286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89E3C51B-78FE-4504-BB0B-9BE7159C45C5}" type="datetime1">
              <a:rPr lang="en-US" smtClean="0"/>
              <a:t>11/3/2014</a:t>
            </a:fld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905000" y="6397823"/>
            <a:ext cx="3429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 smtClean="0">
                <a:solidFill>
                  <a:srgbClr val="0808C0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  <a:endParaRPr kumimoji="0" lang="en-US" sz="1400" kern="1200" dirty="0">
              <a:solidFill>
                <a:srgbClr val="0808C0"/>
              </a:solidFill>
              <a:latin typeface="Comic Sans MS" pitchFamily="66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lang="en-US" sz="4400" b="1" kern="1200" dirty="0">
          <a:solidFill>
            <a:srgbClr val="000066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ndara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1.xls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0.png"/><Relationship Id="rId5" Type="http://schemas.openxmlformats.org/officeDocument/2006/relationships/image" Target="../media/image30.png"/><Relationship Id="rId10" Type="http://schemas.openxmlformats.org/officeDocument/2006/relationships/image" Target="../media/image4.png"/><Relationship Id="rId4" Type="http://schemas.openxmlformats.org/officeDocument/2006/relationships/image" Target="../media/image22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6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3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7315200" cy="1295400"/>
          </a:xfrm>
        </p:spPr>
        <p:txBody>
          <a:bodyPr>
            <a:noAutofit/>
          </a:bodyPr>
          <a:lstStyle/>
          <a:p>
            <a:r>
              <a:rPr lang="en-US" sz="2200" dirty="0" smtClean="0"/>
              <a:t>GCCFG: A New Graphical Representation for </a:t>
            </a:r>
            <a:br>
              <a:rPr lang="en-US" sz="2200" dirty="0" smtClean="0"/>
            </a:br>
            <a:r>
              <a:rPr lang="en-US" sz="2200" dirty="0" smtClean="0"/>
              <a:t>Inter-procedural Optimizations in </a:t>
            </a:r>
            <a:br>
              <a:rPr lang="en-US" sz="2200" dirty="0" smtClean="0"/>
            </a:br>
            <a:r>
              <a:rPr lang="en-US" sz="2200" dirty="0" smtClean="0"/>
              <a:t>Software-Managed </a:t>
            </a:r>
            <a:r>
              <a:rPr lang="en-US" sz="2200" dirty="0" err="1" smtClean="0"/>
              <a:t>Manycore</a:t>
            </a:r>
            <a:r>
              <a:rPr lang="en-US" sz="2200" dirty="0" smtClean="0"/>
              <a:t> (SMM) Architectures</a:t>
            </a:r>
            <a:endParaRPr lang="en-US" sz="2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200400"/>
            <a:ext cx="7315200" cy="685800"/>
          </a:xfrm>
        </p:spPr>
        <p:txBody>
          <a:bodyPr>
            <a:noAutofit/>
          </a:bodyPr>
          <a:lstStyle/>
          <a:p>
            <a:r>
              <a:rPr lang="en-US" sz="1800" dirty="0"/>
              <a:t>Bryce Holton</a:t>
            </a:r>
            <a:r>
              <a:rPr lang="en-US" sz="1800" dirty="0" smtClean="0"/>
              <a:t>, Thesis Presentation</a:t>
            </a:r>
            <a:endParaRPr lang="en-US" sz="18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Simplified Overview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382000" cy="509016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We are working on a cache-less processor</a:t>
            </a:r>
          </a:p>
          <a:p>
            <a:pPr lvl="1"/>
            <a:r>
              <a:rPr lang="en-US" dirty="0" smtClean="0"/>
              <a:t>Has scratchpad memories only</a:t>
            </a:r>
          </a:p>
          <a:p>
            <a:r>
              <a:rPr lang="en-US" dirty="0" smtClean="0"/>
              <a:t>Data has to be managed in software</a:t>
            </a:r>
          </a:p>
          <a:p>
            <a:pPr lvl="1"/>
            <a:r>
              <a:rPr lang="en-US" dirty="0" smtClean="0"/>
              <a:t>Through DMA instructions</a:t>
            </a:r>
          </a:p>
          <a:p>
            <a:r>
              <a:rPr lang="en-US" dirty="0" smtClean="0"/>
              <a:t>Want to fetch data at coarse-granularity, and in advance</a:t>
            </a:r>
          </a:p>
          <a:p>
            <a:pPr lvl="1"/>
            <a:r>
              <a:rPr lang="en-US" dirty="0" smtClean="0"/>
              <a:t>Sometimes in the previous function</a:t>
            </a:r>
          </a:p>
          <a:p>
            <a:r>
              <a:rPr lang="en-US" dirty="0" smtClean="0"/>
              <a:t>Need inter-procedural analysis</a:t>
            </a:r>
          </a:p>
          <a:p>
            <a:pPr lvl="1"/>
            <a:r>
              <a:rPr lang="en-US" dirty="0" smtClean="0"/>
              <a:t>Need a program-level data structure</a:t>
            </a:r>
          </a:p>
          <a:p>
            <a:r>
              <a:rPr lang="en-US" dirty="0" smtClean="0"/>
              <a:t>Existing program-level data structures, e.g., Call graph are not so useful, or are too big</a:t>
            </a:r>
          </a:p>
          <a:p>
            <a:r>
              <a:rPr lang="en-US" dirty="0" smtClean="0"/>
              <a:t>Propose GCCFG: Global Call Control Flow Graph</a:t>
            </a:r>
          </a:p>
          <a:p>
            <a:pPr lvl="1"/>
            <a:r>
              <a:rPr lang="en-US" dirty="0" smtClean="0"/>
              <a:t>Captures both function calls and control flow in a hierarchical manner</a:t>
            </a:r>
          </a:p>
          <a:p>
            <a:r>
              <a:rPr lang="en-US" i="1" dirty="0" smtClean="0"/>
              <a:t>Thesis is </a:t>
            </a:r>
            <a:r>
              <a:rPr lang="en-US" i="1" dirty="0" smtClean="0"/>
              <a:t>about the construction of GCCFG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3724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>
            <a:spLocks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54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  <a:ea typeface="+mj-ea"/>
                <a:cs typeface="+mj-cs"/>
              </a:rPr>
              <a:t>The </a:t>
            </a:r>
            <a:r>
              <a:rPr lang="en-US" altLang="zh-CN" sz="5400" b="1" dirty="0" err="1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  <a:ea typeface="+mj-ea"/>
                <a:cs typeface="+mj-cs"/>
              </a:rPr>
              <a:t>Manycore</a:t>
            </a:r>
            <a:r>
              <a:rPr lang="en-US" altLang="zh-CN" sz="54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  <a:ea typeface="+mj-ea"/>
                <a:cs typeface="+mj-cs"/>
              </a:rPr>
              <a:t> Challenge</a:t>
            </a:r>
            <a:endParaRPr lang="zh-CN" altLang="en-US" sz="54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  <a:ea typeface="+mj-ea"/>
              <a:cs typeface="+mj-cs"/>
            </a:endParaRPr>
          </a:p>
        </p:txBody>
      </p:sp>
      <p:sp>
        <p:nvSpPr>
          <p:cNvPr id="1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07C8-73AF-4C93-9657-3F05B2743F4C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17" name="内容占位符 3"/>
          <p:cNvSpPr txBox="1">
            <a:spLocks/>
          </p:cNvSpPr>
          <p:nvPr/>
        </p:nvSpPr>
        <p:spPr>
          <a:xfrm>
            <a:off x="152399" y="1295400"/>
            <a:ext cx="5638801" cy="44958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Scaling cores</a:t>
            </a:r>
            <a:r>
              <a:rPr kumimoji="0" lang="en-US" altLang="zh-CN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 is easy</a:t>
            </a:r>
            <a:r>
              <a:rPr lang="en-US" altLang="zh-CN" sz="2800" baseline="0" dirty="0" smtClean="0">
                <a:latin typeface="Candara" pitchFamily="34" charset="0"/>
              </a:rPr>
              <a:t>… but how to</a:t>
            </a:r>
            <a:r>
              <a:rPr lang="en-US" altLang="zh-CN" sz="2800" dirty="0" smtClean="0">
                <a:latin typeface="Candara" pitchFamily="34" charset="0"/>
              </a:rPr>
              <a:t> scale the memory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ndara" pitchFamily="34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ndara" pitchFamily="34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Cache coherency protocols do not scale well</a:t>
            </a:r>
            <a:endParaRPr lang="en-US" altLang="zh-CN" sz="2800" dirty="0">
              <a:latin typeface="Candara" pitchFamily="34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lang="en-US" altLang="zh-CN" sz="2800" dirty="0" smtClean="0">
                <a:latin typeface="Candara" pitchFamily="34" charset="0"/>
              </a:rPr>
              <a:t>Non-Coherent Cache Architectures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ndara" pitchFamily="34" charset="0"/>
              <a:ea typeface="+mn-ea"/>
              <a:cs typeface="+mn-cs"/>
            </a:endParaRPr>
          </a:p>
          <a:p>
            <a:pPr marL="548640" lvl="1" indent="-274320" defTabSz="91440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Intel 48-core Single-chip Cloud Computer</a:t>
            </a:r>
          </a:p>
          <a:p>
            <a:pPr marL="54864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8-core DSP from Texas Instruments, TI 6678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andara" pitchFamily="34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Caches still consume too much power</a:t>
            </a:r>
          </a:p>
          <a:p>
            <a:pPr marL="548640" lvl="1" indent="-274320" fontAlgn="auto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Wingdings 3"/>
              <a:buChar char=""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ndara" pitchFamily="34" charset="0"/>
                <a:ea typeface="+mn-ea"/>
                <a:cs typeface="+mn-cs"/>
              </a:rPr>
              <a:t>44% power, and greater than 34 </a:t>
            </a:r>
            <a:r>
              <a:rPr lang="en-US" altLang="zh-CN" sz="2400" dirty="0" smtClean="0">
                <a:latin typeface="Candara" pitchFamily="34" charset="0"/>
                <a:cs typeface="+mn-cs"/>
              </a:rPr>
              <a:t>% area [1]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andara" pitchFamily="34" charset="0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ndara" pitchFamily="34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ndara" pitchFamily="34" charset="0"/>
              <a:ea typeface="+mn-ea"/>
              <a:cs typeface="+mn-cs"/>
            </a:endParaRPr>
          </a:p>
        </p:txBody>
      </p:sp>
      <p:sp>
        <p:nvSpPr>
          <p:cNvPr id="18" name="TextBox 8"/>
          <p:cNvSpPr txBox="1">
            <a:spLocks noChangeArrowheads="1"/>
          </p:cNvSpPr>
          <p:nvPr/>
        </p:nvSpPr>
        <p:spPr bwMode="auto">
          <a:xfrm>
            <a:off x="6705600" y="5452646"/>
            <a:ext cx="1981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02060"/>
                </a:solidFill>
              </a:rPr>
              <a:t>Intel </a:t>
            </a:r>
            <a:r>
              <a:rPr lang="en-US" altLang="zh-CN" sz="1600" b="1" dirty="0" smtClean="0">
                <a:solidFill>
                  <a:srgbClr val="002060"/>
                </a:solidFill>
              </a:rPr>
              <a:t>48 </a:t>
            </a:r>
            <a:r>
              <a:rPr lang="en-US" altLang="zh-CN" sz="1600" b="1" dirty="0">
                <a:solidFill>
                  <a:srgbClr val="002060"/>
                </a:solidFill>
              </a:rPr>
              <a:t>core chip</a:t>
            </a:r>
          </a:p>
        </p:txBody>
      </p:sp>
      <p:pic>
        <p:nvPicPr>
          <p:cNvPr id="19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697336"/>
            <a:ext cx="1755310" cy="17553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5867400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[1] </a:t>
            </a:r>
            <a:r>
              <a:rPr lang="en-US" dirty="0" err="1" smtClean="0"/>
              <a:t>Segars</a:t>
            </a:r>
            <a:r>
              <a:rPr lang="en-US" dirty="0" smtClean="0"/>
              <a:t> et al., International Solid-State Circuits Conference Tutorial 2001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405" y="990600"/>
            <a:ext cx="3303395" cy="20040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72200" y="3048000"/>
            <a:ext cx="1752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64-core </a:t>
            </a:r>
            <a:r>
              <a:rPr lang="en-US" dirty="0" err="1" smtClean="0"/>
              <a:t>Tilera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1067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Autofit/>
          </a:bodyPr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4400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  <a:ea typeface="+mj-ea"/>
                <a:cs typeface="+mj-cs"/>
              </a:rPr>
              <a:t>Software</a:t>
            </a:r>
            <a:r>
              <a:rPr lang="en-US" sz="3200" kern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  <a:ea typeface="+mj-ea"/>
                <a:cs typeface="+mj-cs"/>
              </a:rPr>
              <a:t>Managed </a:t>
            </a:r>
            <a:r>
              <a:rPr lang="en-US" sz="4400" b="1" kern="1200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  <a:ea typeface="+mj-ea"/>
                <a:cs typeface="+mj-cs"/>
              </a:rPr>
              <a:t>Manycore</a:t>
            </a:r>
            <a:r>
              <a:rPr lang="en-US" sz="4400" b="1" kern="120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  <a:ea typeface="+mj-ea"/>
                <a:cs typeface="+mj-cs"/>
              </a:rPr>
              <a:t> (SMM)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895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Scalable </a:t>
            </a:r>
            <a:r>
              <a:rPr lang="en-US" dirty="0" err="1" smtClean="0"/>
              <a:t>manycore</a:t>
            </a:r>
            <a:r>
              <a:rPr lang="en-US" dirty="0" smtClean="0"/>
              <a:t> architecture</a:t>
            </a:r>
          </a:p>
          <a:p>
            <a:pPr lvl="1"/>
            <a:r>
              <a:rPr lang="en-US" dirty="0" smtClean="0"/>
              <a:t>Simpler to design and verify</a:t>
            </a:r>
          </a:p>
          <a:p>
            <a:r>
              <a:rPr lang="en-US" dirty="0" smtClean="0"/>
              <a:t>Microarchitectural policies are Software-Managed</a:t>
            </a:r>
          </a:p>
          <a:p>
            <a:pPr lvl="1"/>
            <a:r>
              <a:rPr lang="en-US" dirty="0" smtClean="0"/>
              <a:t>Most importantly, and in particular: data movement</a:t>
            </a:r>
          </a:p>
          <a:p>
            <a:endParaRPr lang="en-US" dirty="0" smtClean="0"/>
          </a:p>
          <a:p>
            <a:r>
              <a:rPr lang="en-US" dirty="0" smtClean="0"/>
              <a:t>Cache-less architecture</a:t>
            </a:r>
          </a:p>
          <a:p>
            <a:pPr lvl="1"/>
            <a:r>
              <a:rPr lang="en-US" dirty="0" smtClean="0"/>
              <a:t>Each core has a scratchpad instead of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22370" y="5532230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[2] </a:t>
            </a:r>
            <a:r>
              <a:rPr lang="en-US" dirty="0" err="1" smtClean="0"/>
              <a:t>Banakar</a:t>
            </a:r>
            <a:r>
              <a:rPr lang="en-US" dirty="0" smtClean="0"/>
              <a:t> CODES’02.</a:t>
            </a:r>
            <a:endParaRPr lang="en-US" dirty="0"/>
          </a:p>
        </p:txBody>
      </p:sp>
      <p:sp>
        <p:nvSpPr>
          <p:cNvPr id="5" name="矩形 49"/>
          <p:cNvSpPr/>
          <p:nvPr/>
        </p:nvSpPr>
        <p:spPr>
          <a:xfrm>
            <a:off x="76200" y="4236830"/>
            <a:ext cx="1066800" cy="457200"/>
          </a:xfrm>
          <a:prstGeom prst="rect">
            <a:avLst/>
          </a:prstGeom>
          <a:solidFill>
            <a:srgbClr val="99CCFF"/>
          </a:solidFill>
          <a:ln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Execution Core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矩形 50"/>
          <p:cNvSpPr/>
          <p:nvPr/>
        </p:nvSpPr>
        <p:spPr>
          <a:xfrm>
            <a:off x="76200" y="4770230"/>
            <a:ext cx="1066800" cy="2286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51"/>
          <p:cNvSpPr/>
          <p:nvPr/>
        </p:nvSpPr>
        <p:spPr>
          <a:xfrm>
            <a:off x="1295400" y="4236830"/>
            <a:ext cx="1066800" cy="457200"/>
          </a:xfrm>
          <a:prstGeom prst="rect">
            <a:avLst/>
          </a:prstGeom>
          <a:solidFill>
            <a:srgbClr val="99CCFF"/>
          </a:solidFill>
          <a:ln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Execution Core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矩形 52"/>
          <p:cNvSpPr/>
          <p:nvPr/>
        </p:nvSpPr>
        <p:spPr>
          <a:xfrm>
            <a:off x="1295400" y="4770230"/>
            <a:ext cx="1066800" cy="2286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53"/>
          <p:cNvSpPr/>
          <p:nvPr/>
        </p:nvSpPr>
        <p:spPr>
          <a:xfrm>
            <a:off x="2514600" y="4236830"/>
            <a:ext cx="1066800" cy="457200"/>
          </a:xfrm>
          <a:prstGeom prst="rect">
            <a:avLst/>
          </a:prstGeom>
          <a:solidFill>
            <a:srgbClr val="99CCFF"/>
          </a:solidFill>
          <a:ln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Execution Core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矩形 54"/>
          <p:cNvSpPr/>
          <p:nvPr/>
        </p:nvSpPr>
        <p:spPr>
          <a:xfrm>
            <a:off x="2514600" y="4770230"/>
            <a:ext cx="1066800" cy="2286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55"/>
          <p:cNvSpPr/>
          <p:nvPr/>
        </p:nvSpPr>
        <p:spPr>
          <a:xfrm>
            <a:off x="3733800" y="4236830"/>
            <a:ext cx="1066800" cy="457200"/>
          </a:xfrm>
          <a:prstGeom prst="rect">
            <a:avLst/>
          </a:prstGeom>
          <a:solidFill>
            <a:srgbClr val="99CCFF"/>
          </a:solidFill>
          <a:ln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Execution Core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矩形 56"/>
          <p:cNvSpPr/>
          <p:nvPr/>
        </p:nvSpPr>
        <p:spPr>
          <a:xfrm>
            <a:off x="3733800" y="4770230"/>
            <a:ext cx="1066800" cy="2286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57"/>
          <p:cNvSpPr/>
          <p:nvPr/>
        </p:nvSpPr>
        <p:spPr>
          <a:xfrm>
            <a:off x="4953000" y="4236830"/>
            <a:ext cx="1066800" cy="457200"/>
          </a:xfrm>
          <a:prstGeom prst="rect">
            <a:avLst/>
          </a:prstGeom>
          <a:solidFill>
            <a:srgbClr val="99CCFF"/>
          </a:solidFill>
          <a:ln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Execution Core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矩形 58"/>
          <p:cNvSpPr/>
          <p:nvPr/>
        </p:nvSpPr>
        <p:spPr>
          <a:xfrm>
            <a:off x="4953000" y="4770230"/>
            <a:ext cx="1066800" cy="2286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59"/>
          <p:cNvSpPr/>
          <p:nvPr/>
        </p:nvSpPr>
        <p:spPr>
          <a:xfrm>
            <a:off x="6172200" y="4236830"/>
            <a:ext cx="1066800" cy="457200"/>
          </a:xfrm>
          <a:prstGeom prst="rect">
            <a:avLst/>
          </a:prstGeom>
          <a:solidFill>
            <a:srgbClr val="99CCFF"/>
          </a:solidFill>
          <a:ln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Execution Core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矩形 60"/>
          <p:cNvSpPr/>
          <p:nvPr/>
        </p:nvSpPr>
        <p:spPr>
          <a:xfrm>
            <a:off x="6172200" y="4770230"/>
            <a:ext cx="1066800" cy="2286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SPM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61"/>
          <p:cNvCxnSpPr>
            <a:stCxn id="6" idx="2"/>
          </p:cNvCxnSpPr>
          <p:nvPr/>
        </p:nvCxnSpPr>
        <p:spPr>
          <a:xfrm>
            <a:off x="609600" y="4998830"/>
            <a:ext cx="0" cy="53340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62"/>
          <p:cNvSpPr/>
          <p:nvPr/>
        </p:nvSpPr>
        <p:spPr>
          <a:xfrm>
            <a:off x="76200" y="5532229"/>
            <a:ext cx="7162800" cy="304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Interconnect Bus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5075030"/>
            <a:ext cx="639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DMA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64"/>
          <p:cNvCxnSpPr/>
          <p:nvPr/>
        </p:nvCxnSpPr>
        <p:spPr>
          <a:xfrm>
            <a:off x="1828800" y="4998830"/>
            <a:ext cx="0" cy="53340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00" y="5075030"/>
            <a:ext cx="639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DMA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22" name="直接箭头连接符 66"/>
          <p:cNvCxnSpPr/>
          <p:nvPr/>
        </p:nvCxnSpPr>
        <p:spPr>
          <a:xfrm>
            <a:off x="3017681" y="4998830"/>
            <a:ext cx="0" cy="53340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17681" y="5075030"/>
            <a:ext cx="639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DMA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24" name="直接箭头连接符 68"/>
          <p:cNvCxnSpPr/>
          <p:nvPr/>
        </p:nvCxnSpPr>
        <p:spPr>
          <a:xfrm>
            <a:off x="4236881" y="4998830"/>
            <a:ext cx="0" cy="53340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36881" y="5075030"/>
            <a:ext cx="639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DMA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26" name="直接箭头连接符 70"/>
          <p:cNvCxnSpPr/>
          <p:nvPr/>
        </p:nvCxnSpPr>
        <p:spPr>
          <a:xfrm>
            <a:off x="5532281" y="4998830"/>
            <a:ext cx="0" cy="53340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0" y="507503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DMA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28" name="直接箭头连接符 72"/>
          <p:cNvCxnSpPr/>
          <p:nvPr/>
        </p:nvCxnSpPr>
        <p:spPr>
          <a:xfrm>
            <a:off x="6751481" y="4998830"/>
            <a:ext cx="0" cy="53340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51481" y="5075030"/>
            <a:ext cx="639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DMA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30" name="矩形 74"/>
          <p:cNvSpPr/>
          <p:nvPr/>
        </p:nvSpPr>
        <p:spPr>
          <a:xfrm>
            <a:off x="7391400" y="5520562"/>
            <a:ext cx="1676400" cy="3048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Main Memory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77"/>
          <p:cNvSpPr/>
          <p:nvPr/>
        </p:nvSpPr>
        <p:spPr>
          <a:xfrm>
            <a:off x="7391400" y="4225162"/>
            <a:ext cx="1676400" cy="1219200"/>
          </a:xfrm>
          <a:prstGeom prst="rect">
            <a:avLst/>
          </a:prstGeom>
          <a:solidFill>
            <a:srgbClr val="99CCFF"/>
          </a:solidFill>
          <a:ln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Main Core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37081" y="6020208"/>
            <a:ext cx="6399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DMA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3" name="肘形连接符 86"/>
          <p:cNvCxnSpPr/>
          <p:nvPr/>
        </p:nvCxnSpPr>
        <p:spPr>
          <a:xfrm rot="5400000" flipH="1" flipV="1">
            <a:off x="6013966" y="3533528"/>
            <a:ext cx="11668" cy="4572000"/>
          </a:xfrm>
          <a:prstGeom prst="bentConnector3">
            <a:avLst>
              <a:gd name="adj1" fmla="val -1959205"/>
            </a:avLst>
          </a:prstGeom>
          <a:ln w="25400" cmpd="sng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08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 animBg="1"/>
      <p:bldP spid="19" grpId="0"/>
      <p:bldP spid="21" grpId="0"/>
      <p:bldP spid="23" grpId="0"/>
      <p:bldP spid="25" grpId="0"/>
      <p:bldP spid="27" grpId="0"/>
      <p:bldP spid="29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0066"/>
                </a:solidFill>
                <a:latin typeface="Candara" pitchFamily="34" charset="0"/>
              </a:rPr>
              <a:t>Scratchpad Memory (SPM)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4114800"/>
            <a:ext cx="8153400" cy="2286000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ct val="30000"/>
              </a:spcBef>
            </a:pPr>
            <a:r>
              <a:rPr lang="en-US" sz="2800" dirty="0" smtClean="0">
                <a:latin typeface="Candara"/>
                <a:cs typeface="Candara"/>
              </a:rPr>
              <a:t>40% less energy as compared to cache [Banakar02]</a:t>
            </a:r>
          </a:p>
          <a:p>
            <a:pPr lvl="1">
              <a:spcBef>
                <a:spcPct val="30000"/>
              </a:spcBef>
            </a:pPr>
            <a:r>
              <a:rPr lang="en-US" sz="2600" dirty="0" smtClean="0">
                <a:solidFill>
                  <a:srgbClr val="0000CC"/>
                </a:solidFill>
                <a:latin typeface="Candara"/>
                <a:cs typeface="Candara"/>
              </a:rPr>
              <a:t>Absence of tag arrays, comparators and </a:t>
            </a:r>
            <a:r>
              <a:rPr lang="en-US" sz="2600" dirty="0" err="1" smtClean="0">
                <a:solidFill>
                  <a:srgbClr val="0000CC"/>
                </a:solidFill>
                <a:latin typeface="Candara"/>
                <a:cs typeface="Candara"/>
              </a:rPr>
              <a:t>muxes</a:t>
            </a:r>
          </a:p>
          <a:p>
            <a:pPr>
              <a:spcBef>
                <a:spcPct val="30000"/>
              </a:spcBef>
            </a:pPr>
            <a:r>
              <a:rPr lang="en-US" sz="2800" dirty="0" smtClean="0">
                <a:latin typeface="Candara"/>
                <a:cs typeface="Candara"/>
              </a:rPr>
              <a:t>34 % less area as compared to cache of same size [Banakar02]</a:t>
            </a:r>
          </a:p>
          <a:p>
            <a:pPr lvl="1">
              <a:spcBef>
                <a:spcPct val="30000"/>
              </a:spcBef>
            </a:pPr>
            <a:r>
              <a:rPr lang="en-US" sz="2600" dirty="0" smtClean="0">
                <a:solidFill>
                  <a:srgbClr val="0000CC"/>
                </a:solidFill>
                <a:latin typeface="Candara"/>
                <a:cs typeface="Candara"/>
              </a:rPr>
              <a:t>Simple hardware design (only memory array &amp; address decoding) </a:t>
            </a:r>
          </a:p>
          <a:p>
            <a:r>
              <a:rPr lang="en-US" sz="2900" dirty="0" smtClean="0">
                <a:latin typeface="Candara"/>
                <a:cs typeface="Candara"/>
              </a:rPr>
              <a:t>Simpler and cheaper to build and verify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490997"/>
              </p:ext>
            </p:extLst>
          </p:nvPr>
        </p:nvGraphicFramePr>
        <p:xfrm>
          <a:off x="4038600" y="1143000"/>
          <a:ext cx="4876800" cy="2750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Worksheet" r:id="rId3" imgW="6530760" imgH="3682440" progId="Excel.Sheet.8">
                  <p:embed/>
                </p:oleObj>
              </mc:Choice>
              <mc:Fallback>
                <p:oleObj name="Worksheet" r:id="rId3" imgW="6530760" imgH="368244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143000"/>
                        <a:ext cx="4876800" cy="27506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1143000" y="1219200"/>
            <a:ext cx="2209800" cy="1752600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219200"/>
            <a:ext cx="762000" cy="1752600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Tag Array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3048000"/>
            <a:ext cx="1905000" cy="609600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Tag Comparators, </a:t>
            </a:r>
            <a:r>
              <a:rPr lang="en-US" sz="1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Muxes</a:t>
            </a:r>
            <a:endParaRPr lang="en-US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0" y="3048000"/>
            <a:ext cx="1066800" cy="609600"/>
          </a:xfrm>
          <a:prstGeom prst="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Address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733800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Cache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815485" y="3733800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SPM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657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81749E-6 L -0.06667 -2.81749E-6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/>
      <p:bldP spid="10" grpId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Inhaltsplatzhalter 1"/>
          <p:cNvSpPr>
            <a:spLocks noGrp="1"/>
          </p:cNvSpPr>
          <p:nvPr>
            <p:ph idx="1"/>
          </p:nvPr>
        </p:nvSpPr>
        <p:spPr>
          <a:xfrm>
            <a:off x="152400" y="1143000"/>
            <a:ext cx="8742362" cy="106680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 smtClean="0"/>
              <a:t>In hardware: </a:t>
            </a:r>
          </a:p>
          <a:p>
            <a:pPr>
              <a:lnSpc>
                <a:spcPct val="90000"/>
              </a:lnSpc>
            </a:pPr>
            <a:r>
              <a:rPr lang="en-US" sz="2400" b="0" dirty="0" smtClean="0"/>
              <a:t>An SMM architecture is more power-efficient than coherent cache based architecture</a:t>
            </a:r>
            <a:endParaRPr lang="en-US" altLang="en-US" sz="2400" b="0" dirty="0"/>
          </a:p>
        </p:txBody>
      </p:sp>
      <p:sp>
        <p:nvSpPr>
          <p:cNvPr id="10242" name="Titel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4800" b="1" dirty="0" smtClean="0">
                <a:solidFill>
                  <a:srgbClr val="000066"/>
                </a:solidFill>
                <a:latin typeface="Candara" pitchFamily="34" charset="0"/>
              </a:rPr>
              <a:t>The Promise</a:t>
            </a:r>
            <a:r>
              <a:rPr lang="en-US" altLang="zh-CN" sz="3600" dirty="0" smtClean="0">
                <a:ea typeface="SimSun" panose="02010600030101010101" pitchFamily="2" charset="-122"/>
              </a:rPr>
              <a:t> </a:t>
            </a:r>
            <a:r>
              <a:rPr lang="en-US" altLang="zh-CN" sz="4800" b="1" dirty="0">
                <a:solidFill>
                  <a:srgbClr val="000066"/>
                </a:solidFill>
                <a:latin typeface="Candara" pitchFamily="34" charset="0"/>
              </a:rPr>
              <a:t>of SMM Architecture</a:t>
            </a:r>
            <a:endParaRPr lang="de-DE" altLang="en-US" sz="4800" b="1" dirty="0">
              <a:solidFill>
                <a:srgbClr val="000066"/>
              </a:solidFill>
              <a:latin typeface="Candara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F761E-86C1-4762-A2CA-64B90AB69946}" type="slidenum">
              <a:rPr lang="de-DE" altLang="en-US" smtClean="0"/>
              <a:pPr/>
              <a:t>6</a:t>
            </a:fld>
            <a:endParaRPr lang="de-DE" altLang="en-US" dirty="0"/>
          </a:p>
        </p:txBody>
      </p:sp>
      <p:graphicFrame>
        <p:nvGraphicFramePr>
          <p:cNvPr id="12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5698392"/>
              </p:ext>
            </p:extLst>
          </p:nvPr>
        </p:nvGraphicFramePr>
        <p:xfrm>
          <a:off x="533399" y="2362200"/>
          <a:ext cx="8001001" cy="1431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/>
                <a:gridCol w="771525"/>
                <a:gridCol w="914400"/>
                <a:gridCol w="1295400"/>
                <a:gridCol w="1219200"/>
                <a:gridCol w="866775"/>
                <a:gridCol w="1266826"/>
              </a:tblGrid>
              <a:tr h="33496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Processor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Style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Fab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Frequency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Potential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GFlops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Power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Power Efficiency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963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Cell/B.E.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SMM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90nm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3.2 GHz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230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50 W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4.6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963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Intel i7 4-core Bloomfield 965 XE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CCM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45nm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3.2 GHz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130 W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Arial" pitchFamily="34" charset="0"/>
                          <a:cs typeface="Arial" pitchFamily="34" charset="0"/>
                        </a:rPr>
                        <a:t>0.5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573" marB="4557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Inhaltsplatzhalter 1"/>
          <p:cNvSpPr txBox="1">
            <a:spLocks/>
          </p:cNvSpPr>
          <p:nvPr/>
        </p:nvSpPr>
        <p:spPr>
          <a:xfrm>
            <a:off x="228600" y="3962400"/>
            <a:ext cx="8763000" cy="21336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800" b="1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800" b="1" u="none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800" b="1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800" b="1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800" b="1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 smtClean="0"/>
              <a:t>In Software: </a:t>
            </a:r>
          </a:p>
          <a:p>
            <a:pPr>
              <a:lnSpc>
                <a:spcPct val="90000"/>
              </a:lnSpc>
            </a:pPr>
            <a:r>
              <a:rPr lang="en-US" altLang="en-US" sz="2000" b="0" dirty="0" smtClean="0"/>
              <a:t>[DAC 2013] Code can be managed more efficiently than in a cache-based architecture</a:t>
            </a:r>
          </a:p>
          <a:p>
            <a:pPr>
              <a:lnSpc>
                <a:spcPct val="90000"/>
              </a:lnSpc>
            </a:pPr>
            <a:r>
              <a:rPr lang="en-US" altLang="en-US" sz="2000" b="0" dirty="0" smtClean="0"/>
              <a:t>[CODES+ISSS 2013] Stack data can be managed more efficiently than in a cache-based architecture</a:t>
            </a:r>
          </a:p>
          <a:p>
            <a:pPr>
              <a:lnSpc>
                <a:spcPct val="90000"/>
              </a:lnSpc>
            </a:pPr>
            <a:r>
              <a:rPr lang="en-US" altLang="en-US" sz="2000" b="0" dirty="0" smtClean="0"/>
              <a:t>Supports arbitrary pointers and recursion</a:t>
            </a:r>
          </a:p>
        </p:txBody>
      </p:sp>
    </p:spTree>
    <p:extLst>
      <p:ext uri="{BB962C8B-B14F-4D97-AF65-F5344CB8AC3E}">
        <p14:creationId xmlns:p14="http://schemas.microsoft.com/office/powerpoint/2010/main" val="7260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400" b="1" dirty="0" smtClean="0">
                <a:solidFill>
                  <a:srgbClr val="000066"/>
                </a:solidFill>
                <a:latin typeface="Candara" pitchFamily="34" charset="0"/>
              </a:rPr>
              <a:t>Manage </a:t>
            </a:r>
            <a:r>
              <a:rPr lang="en-US" sz="4400" b="1" dirty="0">
                <a:solidFill>
                  <a:srgbClr val="000066"/>
                </a:solidFill>
                <a:latin typeface="Candara" pitchFamily="34" charset="0"/>
              </a:rPr>
              <a:t>code and </a:t>
            </a:r>
            <a:r>
              <a:rPr lang="en-US" sz="4400" b="1" dirty="0" smtClean="0">
                <a:solidFill>
                  <a:srgbClr val="000066"/>
                </a:solidFill>
                <a:latin typeface="Candara" pitchFamily="34" charset="0"/>
              </a:rPr>
              <a:t>data in Software</a:t>
            </a:r>
            <a:endParaRPr lang="en-US" sz="4400" b="1" dirty="0">
              <a:solidFill>
                <a:srgbClr val="000066"/>
              </a:solidFill>
              <a:latin typeface="Candara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07C8-73AF-4C93-9657-3F05B2743F4C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6" name="Text Placeholder 8"/>
          <p:cNvSpPr txBox="1">
            <a:spLocks/>
          </p:cNvSpPr>
          <p:nvPr/>
        </p:nvSpPr>
        <p:spPr>
          <a:xfrm>
            <a:off x="914400" y="4648200"/>
            <a:ext cx="2209800" cy="448260"/>
          </a:xfrm>
          <a:prstGeom prst="rect">
            <a:avLst/>
          </a:prstGeom>
        </p:spPr>
        <p:txBody>
          <a:bodyPr/>
          <a:lstStyle/>
          <a:p>
            <a:pPr marL="320040" indent="-320040" algn="ctr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defRPr/>
            </a:pPr>
            <a:r>
              <a:rPr lang="en-US" sz="2400" dirty="0"/>
              <a:t>Original Code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38300" y="1483056"/>
            <a:ext cx="2943100" cy="293654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22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altLang="zh-CN" sz="2200" i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global;</a:t>
            </a:r>
          </a:p>
          <a:p>
            <a:endParaRPr lang="en-US" altLang="zh-CN" sz="2200" i="1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f1() {</a:t>
            </a:r>
            <a:endParaRPr lang="en-US" altLang="zh-CN" sz="2200" i="1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 int </a:t>
            </a:r>
            <a:r>
              <a:rPr lang="en-US" altLang="zh-CN" sz="2200" i="1" dirty="0" err="1">
                <a:latin typeface="Arial" pitchFamily="34" charset="0"/>
                <a:cs typeface="Arial" pitchFamily="34" charset="0"/>
              </a:rPr>
              <a:t>a,b</a:t>
            </a:r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 </a:t>
            </a:r>
            <a:r>
              <a:rPr lang="en-US" altLang="zh-CN" sz="2200" i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global</a:t>
            </a:r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= a + b</a:t>
            </a:r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endParaRPr lang="en-US" altLang="zh-CN" sz="2200" i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  f2();  </a:t>
            </a:r>
            <a:endParaRPr lang="en-US" altLang="zh-CN" sz="2200" i="1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}</a:t>
            </a:r>
            <a:endParaRPr lang="en-US" altLang="zh-CN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44705" y="1420058"/>
            <a:ext cx="3684895" cy="385094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sz="22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en-US" altLang="zh-CN" sz="2200" i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global;</a:t>
            </a:r>
          </a:p>
          <a:p>
            <a:endParaRPr lang="en-US" altLang="zh-CN" sz="2200" i="1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f1</a:t>
            </a:r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() {</a:t>
            </a:r>
            <a:endParaRPr lang="en-US" altLang="zh-CN" sz="2200" i="1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 int </a:t>
            </a:r>
            <a:r>
              <a:rPr lang="en-US" altLang="zh-CN" sz="2200" i="1" dirty="0" err="1">
                <a:latin typeface="Arial" pitchFamily="34" charset="0"/>
                <a:cs typeface="Arial" pitchFamily="34" charset="0"/>
              </a:rPr>
              <a:t>a,b</a:t>
            </a:r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 </a:t>
            </a:r>
            <a:r>
              <a:rPr lang="en-US" altLang="zh-CN" sz="2200" i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DMA.fetch</a:t>
            </a:r>
            <a:r>
              <a:rPr lang="en-US" altLang="zh-CN" sz="22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(global</a:t>
            </a:r>
            <a:r>
              <a:rPr lang="en-US" altLang="zh-CN" sz="22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altLang="zh-CN" sz="2200" i="1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 </a:t>
            </a:r>
            <a:r>
              <a:rPr lang="en-US" altLang="zh-CN" sz="2200" i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global</a:t>
            </a:r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= a + b;</a:t>
            </a:r>
          </a:p>
          <a:p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 </a:t>
            </a:r>
            <a:r>
              <a:rPr lang="en-US" altLang="zh-CN" sz="2200" i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DMA.writeback</a:t>
            </a:r>
            <a:r>
              <a:rPr lang="en-US" altLang="zh-CN" sz="22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(global</a:t>
            </a:r>
            <a:r>
              <a:rPr lang="en-US" altLang="zh-CN" sz="22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altLang="zh-CN" sz="2200" i="1" dirty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en-US" altLang="zh-CN" sz="22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z="2200" i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DMA.fetch</a:t>
            </a:r>
            <a:r>
              <a:rPr lang="en-US" altLang="zh-CN" sz="22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(f2</a:t>
            </a:r>
            <a:r>
              <a:rPr lang="en-US" altLang="zh-CN" sz="2200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altLang="zh-CN" sz="2200" i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  f2();</a:t>
            </a:r>
          </a:p>
          <a:p>
            <a:r>
              <a:rPr lang="en-US" altLang="zh-CN" sz="2200" i="1" dirty="0" smtClean="0">
                <a:latin typeface="Arial" pitchFamily="34" charset="0"/>
                <a:cs typeface="Arial" pitchFamily="34" charset="0"/>
              </a:rPr>
              <a:t>}</a:t>
            </a:r>
          </a:p>
          <a:p>
            <a:endParaRPr lang="en-US" altLang="zh-CN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 Placeholder 10"/>
          <p:cNvSpPr txBox="1">
            <a:spLocks/>
          </p:cNvSpPr>
          <p:nvPr/>
        </p:nvSpPr>
        <p:spPr>
          <a:xfrm>
            <a:off x="4876800" y="5271002"/>
            <a:ext cx="2819400" cy="439737"/>
          </a:xfrm>
          <a:prstGeom prst="rect">
            <a:avLst/>
          </a:prstGeom>
        </p:spPr>
        <p:txBody>
          <a:bodyPr/>
          <a:lstStyle/>
          <a:p>
            <a:pPr marL="320040" indent="-320040" algn="ctr" fontAlgn="auto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defRPr/>
            </a:pPr>
            <a:r>
              <a:rPr lang="en-US" sz="2400" dirty="0" smtClean="0"/>
              <a:t>SPM-aware </a:t>
            </a:r>
            <a:r>
              <a:rPr lang="en-US" sz="2400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01692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185672"/>
            <a:ext cx="8229600" cy="4834128"/>
          </a:xfrm>
        </p:spPr>
        <p:txBody>
          <a:bodyPr>
            <a:normAutofit fontScale="92500" lnSpcReduction="10000"/>
          </a:bodyPr>
          <a:lstStyle/>
          <a:p>
            <a:r>
              <a:rPr lang="en-US" sz="2600" b="0" dirty="0"/>
              <a:t>W</a:t>
            </a:r>
            <a:r>
              <a:rPr lang="en-US" sz="2600" b="0" dirty="0" smtClean="0"/>
              <a:t>hat granularity of management?</a:t>
            </a:r>
          </a:p>
          <a:p>
            <a:pPr lvl="1"/>
            <a:r>
              <a:rPr lang="en-US" sz="2400" b="0" dirty="0" smtClean="0"/>
              <a:t>As coarse-grain as possible</a:t>
            </a:r>
            <a:endParaRPr lang="en-US" sz="2400" b="0" dirty="0"/>
          </a:p>
          <a:p>
            <a:endParaRPr lang="en-US" sz="2400" b="0" dirty="0" smtClean="0"/>
          </a:p>
          <a:p>
            <a:r>
              <a:rPr lang="en-US" sz="2600" b="0" dirty="0" smtClean="0"/>
              <a:t>How do I optimize?</a:t>
            </a:r>
          </a:p>
          <a:p>
            <a:pPr lvl="1"/>
            <a:r>
              <a:rPr lang="en-US" sz="2400" b="0" dirty="0"/>
              <a:t>Insert management calls only when needed</a:t>
            </a:r>
          </a:p>
          <a:p>
            <a:pPr lvl="1"/>
            <a:r>
              <a:rPr lang="en-US" sz="2400" b="0" dirty="0" smtClean="0"/>
              <a:t>Perform data management in advance</a:t>
            </a:r>
          </a:p>
          <a:p>
            <a:pPr lvl="1"/>
            <a:r>
              <a:rPr lang="en-US" sz="2400" b="0" dirty="0" smtClean="0"/>
              <a:t>Perform data management in parallel with computation</a:t>
            </a:r>
          </a:p>
          <a:p>
            <a:pPr marL="274320" lvl="1" indent="0">
              <a:buNone/>
            </a:pPr>
            <a:endParaRPr lang="en-US" sz="2400" b="0" dirty="0" smtClean="0"/>
          </a:p>
          <a:p>
            <a:r>
              <a:rPr lang="en-US" sz="2600" b="0" dirty="0" smtClean="0"/>
              <a:t>Manage data at function-level granularity</a:t>
            </a:r>
          </a:p>
          <a:p>
            <a:r>
              <a:rPr lang="en-US" sz="2600" b="0" dirty="0" smtClean="0"/>
              <a:t>Need to understand the execution flow of the application</a:t>
            </a:r>
          </a:p>
          <a:p>
            <a:endParaRPr lang="en-US" sz="2600" b="0" dirty="0" smtClean="0"/>
          </a:p>
          <a:p>
            <a:r>
              <a:rPr lang="en-US" sz="2600" b="0" dirty="0" smtClean="0">
                <a:solidFill>
                  <a:srgbClr val="FF0000"/>
                </a:solidFill>
              </a:rPr>
              <a:t>Need inter-procedural analysis</a:t>
            </a:r>
            <a:endParaRPr lang="en-US" sz="2600" b="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</a:t>
            </a:r>
            <a:r>
              <a:rPr lang="en-US" dirty="0" smtClean="0"/>
              <a:t>efficiently manage </a:t>
            </a:r>
            <a:r>
              <a:rPr lang="en-US" dirty="0"/>
              <a:t>code and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F761E-86C1-4762-A2CA-64B90AB69946}" type="slidenum">
              <a:rPr lang="de-DE" altLang="en-US" smtClean="0"/>
              <a:pPr/>
              <a:t>8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2546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The problem of Code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1449" y="914400"/>
            <a:ext cx="8753475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Static Compilation</a:t>
            </a:r>
          </a:p>
          <a:p>
            <a:pPr lvl="1"/>
            <a:r>
              <a:rPr lang="en-US" dirty="0" smtClean="0"/>
              <a:t>Functions need to be linked before execution</a:t>
            </a:r>
          </a:p>
          <a:p>
            <a:r>
              <a:rPr lang="en-US" dirty="0" smtClean="0"/>
              <a:t>Divide code part of SPM in regions</a:t>
            </a:r>
          </a:p>
          <a:p>
            <a:r>
              <a:rPr lang="en-US" dirty="0" smtClean="0"/>
              <a:t>Map functions to these SPM regions</a:t>
            </a:r>
          </a:p>
          <a:p>
            <a:r>
              <a:rPr lang="en-US" dirty="0" smtClean="0"/>
              <a:t>Functions in the same region replace each other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1676400" y="3352800"/>
            <a:ext cx="2362200" cy="9144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zh-CN" altLang="zh-CN" sz="2400">
              <a:ea typeface="ヒラギノ角ゴ Pro W3"/>
              <a:cs typeface="ヒラギノ角ゴ Pro W3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 rot="7898012">
            <a:off x="1927225" y="5138738"/>
            <a:ext cx="2362200" cy="9144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zh-CN" altLang="zh-CN" sz="2400">
              <a:ea typeface="ヒラギノ角ゴ Pro W3"/>
              <a:cs typeface="ヒラギノ角ゴ Pro W3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228600" y="4114800"/>
            <a:ext cx="2362200" cy="16764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zh-CN" altLang="zh-CN" sz="2400">
              <a:ea typeface="ヒラギノ角ゴ Pro W3"/>
              <a:cs typeface="ヒラギノ角ゴ Pro W3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1905000" y="3505200"/>
            <a:ext cx="762000" cy="533400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>
              <a:defRPr/>
            </a:pPr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ヒラギノ角ゴ Pro W3" pitchFamily="1" charset="-128"/>
              </a:rPr>
              <a:t>F1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1752600" y="4572000"/>
            <a:ext cx="762000" cy="533400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ヒラギノ角ゴ Pro W3" pitchFamily="1" charset="-128"/>
              </a:rPr>
              <a:t>F3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838200" y="5181600"/>
            <a:ext cx="762000" cy="533400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ヒラギノ角ゴ Pro W3" pitchFamily="1" charset="-128"/>
              </a:rPr>
              <a:t>F6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3048000" y="3505200"/>
            <a:ext cx="762000" cy="533400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ヒラギノ角ゴ Pro W3" pitchFamily="1" charset="-128"/>
              </a:rPr>
              <a:t>F5</a:t>
            </a:r>
          </a:p>
        </p:txBody>
      </p:sp>
      <p:sp>
        <p:nvSpPr>
          <p:cNvPr id="11" name="Oval 10"/>
          <p:cNvSpPr/>
          <p:nvPr/>
        </p:nvSpPr>
        <p:spPr bwMode="auto">
          <a:xfrm>
            <a:off x="2971799" y="4942175"/>
            <a:ext cx="762000" cy="533400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ヒラギノ角ゴ Pro W3" pitchFamily="1" charset="-128"/>
              </a:rPr>
              <a:t>F7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2590799" y="5627975"/>
            <a:ext cx="762000" cy="533400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ヒラギノ角ゴ Pro W3" pitchFamily="1" charset="-128"/>
              </a:rPr>
              <a:t>F4</a:t>
            </a:r>
          </a:p>
        </p:txBody>
      </p:sp>
      <p:sp>
        <p:nvSpPr>
          <p:cNvPr id="13" name="Oval 12"/>
          <p:cNvSpPr/>
          <p:nvPr/>
        </p:nvSpPr>
        <p:spPr bwMode="auto">
          <a:xfrm>
            <a:off x="685800" y="4267200"/>
            <a:ext cx="762000" cy="533400"/>
          </a:xfrm>
          <a:prstGeom prst="ellipse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0" hangingPunct="0"/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charset="0"/>
                <a:ea typeface="ヒラギノ角ゴ Pro W3" pitchFamily="1" charset="-128"/>
              </a:rPr>
              <a:t>F2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638800" y="3505200"/>
            <a:ext cx="2057400" cy="2438400"/>
          </a:xfrm>
          <a:prstGeom prst="rect">
            <a:avLst/>
          </a:prstGeom>
          <a:solidFill>
            <a:srgbClr val="FFC000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eaLnBrk="0" hangingPunct="0">
              <a:defRPr/>
            </a:pPr>
            <a:endParaRPr lang="zh-CN" altLang="zh-CN" sz="2400">
              <a:solidFill>
                <a:schemeClr val="tx1"/>
              </a:solidFill>
              <a:latin typeface="Arial" pitchFamily="34" charset="0"/>
              <a:ea typeface="ヒラギノ角ゴ Pro W3"/>
              <a:cs typeface="ヒラギノ角ゴ Pro W3"/>
            </a:endParaRPr>
          </a:p>
        </p:txBody>
      </p:sp>
      <p:cxnSp>
        <p:nvCxnSpPr>
          <p:cNvPr id="15" name="Straight Connector 14"/>
          <p:cNvCxnSpPr>
            <a:cxnSpLocks noChangeShapeType="1"/>
          </p:cNvCxnSpPr>
          <p:nvPr/>
        </p:nvCxnSpPr>
        <p:spPr bwMode="auto">
          <a:xfrm>
            <a:off x="5638800" y="4114800"/>
            <a:ext cx="2057400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15"/>
          <p:cNvCxnSpPr>
            <a:cxnSpLocks noChangeShapeType="1"/>
          </p:cNvCxnSpPr>
          <p:nvPr/>
        </p:nvCxnSpPr>
        <p:spPr bwMode="auto">
          <a:xfrm>
            <a:off x="5638800" y="4724400"/>
            <a:ext cx="2057400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16"/>
          <p:cNvCxnSpPr>
            <a:cxnSpLocks noChangeShapeType="1"/>
          </p:cNvCxnSpPr>
          <p:nvPr/>
        </p:nvCxnSpPr>
        <p:spPr bwMode="auto">
          <a:xfrm>
            <a:off x="5638800" y="5334000"/>
            <a:ext cx="2057400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8" name="Right Arrow 17"/>
          <p:cNvSpPr>
            <a:spLocks noChangeArrowheads="1"/>
          </p:cNvSpPr>
          <p:nvPr/>
        </p:nvSpPr>
        <p:spPr bwMode="auto">
          <a:xfrm>
            <a:off x="2286000" y="4343400"/>
            <a:ext cx="3276600" cy="228600"/>
          </a:xfrm>
          <a:prstGeom prst="rightArrow">
            <a:avLst>
              <a:gd name="adj1" fmla="val 50000"/>
              <a:gd name="adj2" fmla="val 49968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zh-CN" altLang="zh-CN" sz="2400">
              <a:ea typeface="ヒラギノ角ゴ Pro W3"/>
              <a:cs typeface="ヒラギノ角ゴ Pro W3"/>
            </a:endParaRPr>
          </a:p>
        </p:txBody>
      </p:sp>
      <p:sp>
        <p:nvSpPr>
          <p:cNvPr id="19" name="Right Arrow 18"/>
          <p:cNvSpPr>
            <a:spLocks noChangeArrowheads="1"/>
          </p:cNvSpPr>
          <p:nvPr/>
        </p:nvSpPr>
        <p:spPr bwMode="auto">
          <a:xfrm>
            <a:off x="3962400" y="3733800"/>
            <a:ext cx="1600200" cy="228600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zh-CN" altLang="zh-CN" sz="2400">
              <a:ea typeface="ヒラギノ角ゴ Pro W3"/>
              <a:cs typeface="ヒラギノ角ゴ Pro W3"/>
            </a:endParaRPr>
          </a:p>
        </p:txBody>
      </p:sp>
      <p:sp>
        <p:nvSpPr>
          <p:cNvPr id="20" name="Right Arrow 19"/>
          <p:cNvSpPr>
            <a:spLocks noChangeArrowheads="1"/>
          </p:cNvSpPr>
          <p:nvPr/>
        </p:nvSpPr>
        <p:spPr bwMode="auto">
          <a:xfrm>
            <a:off x="3886200" y="4953000"/>
            <a:ext cx="1676400" cy="228600"/>
          </a:xfrm>
          <a:prstGeom prst="rightArrow">
            <a:avLst>
              <a:gd name="adj1" fmla="val 50000"/>
              <a:gd name="adj2" fmla="val 50009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/>
          <a:p>
            <a:pPr eaLnBrk="0" hangingPunct="0"/>
            <a:endParaRPr lang="zh-CN" altLang="zh-CN" sz="2400">
              <a:ea typeface="ヒラギノ角ゴ Pro W3"/>
              <a:cs typeface="ヒラギノ角ゴ Pro W3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791200" y="3657600"/>
            <a:ext cx="1752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zh-CN">
                <a:ea typeface="宋体" pitchFamily="2" charset="-122"/>
              </a:rPr>
              <a:t>REGION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791200" y="4202113"/>
            <a:ext cx="1752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zh-CN">
                <a:ea typeface="宋体" pitchFamily="2" charset="-122"/>
              </a:rPr>
              <a:t>REGION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5791200" y="4887913"/>
            <a:ext cx="1752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zh-CN">
                <a:ea typeface="宋体" pitchFamily="2" charset="-122"/>
              </a:rPr>
              <a:t>REGION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791200" y="5392738"/>
            <a:ext cx="17526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lnSpc>
                <a:spcPts val="1000"/>
              </a:lnSpc>
            </a:pPr>
            <a:r>
              <a:rPr lang="en-US" altLang="zh-CN">
                <a:ea typeface="宋体" pitchFamily="2" charset="-122"/>
              </a:rPr>
              <a:t>•</a:t>
            </a:r>
          </a:p>
          <a:p>
            <a:pPr algn="ctr" eaLnBrk="1" hangingPunct="1">
              <a:lnSpc>
                <a:spcPts val="1000"/>
              </a:lnSpc>
            </a:pPr>
            <a:r>
              <a:rPr lang="en-US" altLang="zh-CN">
                <a:ea typeface="宋体" pitchFamily="2" charset="-122"/>
              </a:rPr>
              <a:t>•</a:t>
            </a:r>
          </a:p>
          <a:p>
            <a:pPr algn="ctr" eaLnBrk="1" hangingPunct="1">
              <a:lnSpc>
                <a:spcPts val="1000"/>
              </a:lnSpc>
            </a:pPr>
            <a:r>
              <a:rPr lang="en-US" altLang="zh-CN">
                <a:ea typeface="宋体" pitchFamily="2" charset="-122"/>
              </a:rPr>
              <a:t>•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5105400" y="6019800"/>
            <a:ext cx="327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Comic Sans MS" pitchFamily="66" charset="0"/>
                <a:ea typeface="宋体" pitchFamily="2" charset="-122"/>
              </a:rPr>
              <a:t>Local Memory Code Section</a:t>
            </a:r>
          </a:p>
        </p:txBody>
      </p:sp>
    </p:spTree>
    <p:extLst>
      <p:ext uri="{BB962C8B-B14F-4D97-AF65-F5344CB8AC3E}">
        <p14:creationId xmlns:p14="http://schemas.microsoft.com/office/powerpoint/2010/main" val="324086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276600" y="33528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Comic Sans MS" pitchFamily="66" charset="0"/>
                <a:ea typeface="宋体" pitchFamily="2" charset="-122"/>
              </a:rPr>
              <a:t>(c) Local Memory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6477000" y="1905000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F2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6477000" y="2362200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F3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6477000" y="1447800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3581400" y="2362200"/>
            <a:ext cx="1447800" cy="9144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rPr>
              <a:t>Code</a:t>
            </a:r>
          </a:p>
          <a:p>
            <a:pPr algn="ctr" eaLnBrk="0" hangingPunct="0"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rPr>
              <a:t>region</a:t>
            </a:r>
            <a:endParaRPr lang="zh-CN" altLang="zh-CN" dirty="0">
              <a:solidFill>
                <a:schemeClr val="tx1"/>
              </a:solidFill>
              <a:latin typeface="Arial" pitchFamily="34" charset="0"/>
              <a:ea typeface="ヒラギノ角ゴ Pro W3"/>
              <a:cs typeface="ヒラギノ角ゴ Pro W3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CN" dirty="0"/>
              <a:t>Code </a:t>
            </a:r>
            <a:r>
              <a:rPr lang="en-US" altLang="zh-CN" dirty="0" smtClean="0"/>
              <a:t>Management: Setting</a:t>
            </a:r>
            <a:endParaRPr lang="zh-CN" altLang="en-US" dirty="0"/>
          </a:p>
        </p:txBody>
      </p:sp>
      <p:sp>
        <p:nvSpPr>
          <p:cNvPr id="1741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FBA78B21-6624-4C8E-9F2C-CFB48B310701}" type="slidenum">
              <a:rPr lang="en-US" altLang="zh-CN">
                <a:cs typeface="ヒラギノ角ゴ Pro W3"/>
              </a:rPr>
              <a:pPr/>
              <a:t>10</a:t>
            </a:fld>
            <a:endParaRPr lang="en-US" altLang="zh-CN">
              <a:cs typeface="ヒラギノ角ゴ Pro W3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096000" y="3352800"/>
            <a:ext cx="2209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Comic Sans MS" pitchFamily="66" charset="0"/>
                <a:ea typeface="宋体" pitchFamily="2" charset="-122"/>
              </a:rPr>
              <a:t>(d) </a:t>
            </a:r>
            <a:r>
              <a:rPr lang="en-US" altLang="zh-CN" dirty="0" smtClean="0">
                <a:latin typeface="Comic Sans MS" pitchFamily="66" charset="0"/>
                <a:ea typeface="宋体" pitchFamily="2" charset="-122"/>
              </a:rPr>
              <a:t>Global Memory</a:t>
            </a:r>
            <a:endParaRPr lang="en-US" altLang="zh-CN" dirty="0">
              <a:latin typeface="Comic Sans MS" pitchFamily="66" charset="0"/>
              <a:ea typeface="宋体" pitchFamily="2" charset="-122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477000" y="914400"/>
            <a:ext cx="1447800" cy="23622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zh-CN" sz="2400">
              <a:ea typeface="ヒラギノ角ゴ Pro W3"/>
              <a:cs typeface="ヒラギノ角ゴ Pro W3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581400" y="1438275"/>
            <a:ext cx="1447800" cy="457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latin typeface="Arial" charset="0"/>
                <a:ea typeface="ヒラギノ角ゴ Pro W3" pitchFamily="1" charset="-128"/>
              </a:rPr>
              <a:t>h</a:t>
            </a: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eap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3581400" y="1905000"/>
            <a:ext cx="1447800" cy="457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global</a:t>
            </a:r>
            <a:endParaRPr lang="en-US" sz="1400" dirty="0">
              <a:solidFill>
                <a:schemeClr val="tx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581400" y="981075"/>
            <a:ext cx="1447800" cy="457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stack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3581400" y="2819400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F2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3581400" y="2362200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F1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3581400" y="2362200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F3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6477000" y="1447800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F1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6477000" y="1895475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F2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6477000" y="2362200"/>
            <a:ext cx="1447800" cy="457200"/>
          </a:xfrm>
          <a:prstGeom prst="rect">
            <a:avLst/>
          </a:prstGeom>
          <a:solidFill>
            <a:srgbClr val="92D05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Arial" charset="0"/>
                <a:ea typeface="ヒラギノ角ゴ Pro W3" pitchFamily="1" charset="-128"/>
              </a:rPr>
              <a:t>F3</a:t>
            </a:r>
          </a:p>
        </p:txBody>
      </p:sp>
      <p:sp>
        <p:nvSpPr>
          <p:cNvPr id="31" name="Oval 30"/>
          <p:cNvSpPr/>
          <p:nvPr/>
        </p:nvSpPr>
        <p:spPr>
          <a:xfrm>
            <a:off x="838200" y="1143000"/>
            <a:ext cx="1185413" cy="483629"/>
          </a:xfrm>
          <a:prstGeom prst="ellipse">
            <a:avLst/>
          </a:prstGeom>
          <a:solidFill>
            <a:schemeClr val="bg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anchor="ctr" anchorCtr="1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F1</a:t>
            </a:r>
          </a:p>
        </p:txBody>
      </p:sp>
      <p:sp>
        <p:nvSpPr>
          <p:cNvPr id="35" name="Oval 34"/>
          <p:cNvSpPr/>
          <p:nvPr/>
        </p:nvSpPr>
        <p:spPr>
          <a:xfrm>
            <a:off x="838200" y="1802371"/>
            <a:ext cx="1185413" cy="483629"/>
          </a:xfrm>
          <a:prstGeom prst="ellipse">
            <a:avLst/>
          </a:prstGeom>
          <a:solidFill>
            <a:schemeClr val="bg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anchor="ctr" anchorCtr="1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F2</a:t>
            </a:r>
          </a:p>
        </p:txBody>
      </p:sp>
      <p:sp>
        <p:nvSpPr>
          <p:cNvPr id="36" name="Oval 35"/>
          <p:cNvSpPr/>
          <p:nvPr/>
        </p:nvSpPr>
        <p:spPr>
          <a:xfrm>
            <a:off x="838200" y="2514600"/>
            <a:ext cx="1185413" cy="483629"/>
          </a:xfrm>
          <a:prstGeom prst="ellipse">
            <a:avLst/>
          </a:prstGeom>
          <a:solidFill>
            <a:schemeClr val="bg2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anchor="ctr" anchorCtr="1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F3</a:t>
            </a:r>
          </a:p>
        </p:txBody>
      </p:sp>
      <p:cxnSp>
        <p:nvCxnSpPr>
          <p:cNvPr id="38" name="Straight Connector 37"/>
          <p:cNvCxnSpPr>
            <a:cxnSpLocks noChangeShapeType="1"/>
          </p:cNvCxnSpPr>
          <p:nvPr/>
        </p:nvCxnSpPr>
        <p:spPr bwMode="auto">
          <a:xfrm rot="5400000">
            <a:off x="1343025" y="1714501"/>
            <a:ext cx="1746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38"/>
          <p:cNvCxnSpPr>
            <a:cxnSpLocks noChangeShapeType="1"/>
          </p:cNvCxnSpPr>
          <p:nvPr/>
        </p:nvCxnSpPr>
        <p:spPr bwMode="auto">
          <a:xfrm rot="5400000">
            <a:off x="1316038" y="2400300"/>
            <a:ext cx="228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0" y="2971800"/>
            <a:ext cx="297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zh-CN" dirty="0">
                <a:latin typeface="Comic Sans MS" pitchFamily="66" charset="0"/>
                <a:ea typeface="宋体" pitchFamily="2" charset="-122"/>
              </a:rPr>
              <a:t>(a) Application </a:t>
            </a:r>
            <a:r>
              <a:rPr lang="en-US" altLang="zh-CN" dirty="0" smtClean="0">
                <a:latin typeface="Comic Sans MS" pitchFamily="66" charset="0"/>
                <a:ea typeface="宋体" pitchFamily="2" charset="-122"/>
              </a:rPr>
              <a:t>call </a:t>
            </a:r>
            <a:r>
              <a:rPr lang="en-US" altLang="zh-CN" dirty="0">
                <a:latin typeface="Comic Sans MS" pitchFamily="66" charset="0"/>
                <a:ea typeface="宋体" pitchFamily="2" charset="-122"/>
              </a:rPr>
              <a:t>g</a:t>
            </a:r>
            <a:r>
              <a:rPr lang="en-US" altLang="zh-CN" dirty="0" smtClean="0">
                <a:latin typeface="Comic Sans MS" pitchFamily="66" charset="0"/>
                <a:ea typeface="宋体" pitchFamily="2" charset="-122"/>
              </a:rPr>
              <a:t>raph</a:t>
            </a:r>
            <a:endParaRPr lang="en-US" altLang="zh-CN" dirty="0">
              <a:latin typeface="Comic Sans MS" pitchFamily="66" charset="0"/>
              <a:ea typeface="宋体" pitchFamily="2" charset="-122"/>
            </a:endParaRP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63537" y="3413862"/>
            <a:ext cx="2133600" cy="2903652"/>
            <a:chOff x="762000" y="914400"/>
            <a:chExt cx="2057400" cy="2968363"/>
          </a:xfrm>
        </p:grpSpPr>
        <p:sp>
          <p:nvSpPr>
            <p:cNvPr id="17443" name="TextBox 6"/>
            <p:cNvSpPr txBox="1">
              <a:spLocks noChangeArrowheads="1"/>
            </p:cNvSpPr>
            <p:nvPr/>
          </p:nvSpPr>
          <p:spPr bwMode="auto">
            <a:xfrm>
              <a:off x="838200" y="914400"/>
              <a:ext cx="1905000" cy="2585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SECTIONS {</a:t>
              </a:r>
            </a:p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OVERLAY {</a:t>
              </a:r>
            </a:p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     F1.o</a:t>
              </a:r>
            </a:p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     F3.o</a:t>
              </a:r>
            </a:p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}</a:t>
              </a:r>
            </a:p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OVERLAY {</a:t>
              </a:r>
            </a:p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     F2.o</a:t>
              </a:r>
            </a:p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     }</a:t>
              </a:r>
            </a:p>
            <a:p>
              <a:pPr eaLnBrk="1" hangingPunct="1"/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}</a:t>
              </a:r>
            </a:p>
          </p:txBody>
        </p:sp>
        <p:sp>
          <p:nvSpPr>
            <p:cNvPr id="17444" name="TextBox 7"/>
            <p:cNvSpPr txBox="1">
              <a:spLocks noChangeArrowheads="1"/>
            </p:cNvSpPr>
            <p:nvPr/>
          </p:nvSpPr>
          <p:spPr bwMode="auto">
            <a:xfrm>
              <a:off x="762000" y="3505200"/>
              <a:ext cx="2057400" cy="377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altLang="zh-CN" dirty="0">
                  <a:latin typeface="Comic Sans MS" pitchFamily="66" charset="0"/>
                  <a:ea typeface="宋体" pitchFamily="2" charset="-122"/>
                  <a:cs typeface="Times New Roman" pitchFamily="18" charset="0"/>
                </a:rPr>
                <a:t>(b) </a:t>
              </a:r>
              <a:r>
                <a:rPr lang="en-US" altLang="zh-CN" dirty="0" smtClean="0">
                  <a:latin typeface="Comic Sans MS" pitchFamily="66" charset="0"/>
                  <a:ea typeface="宋体" pitchFamily="2" charset="-122"/>
                  <a:cs typeface="Times New Roman" pitchFamily="18" charset="0"/>
                </a:rPr>
                <a:t>Linker script</a:t>
              </a:r>
              <a:endParaRPr lang="en-US" altLang="zh-CN" dirty="0">
                <a:latin typeface="Comic Sans MS" pitchFamily="66" charset="0"/>
                <a:ea typeface="宋体" pitchFamily="2" charset="-122"/>
                <a:cs typeface="Times New Roman" pitchFamily="18" charset="0"/>
              </a:endParaRPr>
            </a:p>
          </p:txBody>
        </p:sp>
      </p:grpSp>
      <p:sp>
        <p:nvSpPr>
          <p:cNvPr id="29" name="Content Placeholder 2"/>
          <p:cNvSpPr>
            <a:spLocks noGrp="1"/>
          </p:cNvSpPr>
          <p:nvPr>
            <p:ph sz="quarter" idx="1"/>
          </p:nvPr>
        </p:nvSpPr>
        <p:spPr>
          <a:xfrm>
            <a:off x="2590800" y="4267200"/>
            <a:ext cx="6553200" cy="18288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/>
              <a:t># of Regions and Function-To-Region </a:t>
            </a:r>
            <a:r>
              <a:rPr lang="en-US" sz="2400" dirty="0" smtClean="0"/>
              <a:t>Mapping</a:t>
            </a:r>
          </a:p>
          <a:p>
            <a:pPr lvl="1">
              <a:lnSpc>
                <a:spcPct val="120000"/>
              </a:lnSpc>
              <a:defRPr/>
            </a:pPr>
            <a:r>
              <a:rPr lang="en-US" sz="2100" dirty="0" smtClean="0"/>
              <a:t>If each function in a region</a:t>
            </a:r>
          </a:p>
          <a:p>
            <a:pPr lvl="1">
              <a:lnSpc>
                <a:spcPct val="120000"/>
              </a:lnSpc>
              <a:defRPr/>
            </a:pPr>
            <a:r>
              <a:rPr lang="en-US" sz="2100" dirty="0" smtClean="0"/>
              <a:t>If all functions in a region, and only 1 region</a:t>
            </a:r>
            <a:endParaRPr lang="en-US" sz="21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79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3" presetClass="exit" presetSubtype="10" fill="hold" nodeType="after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-0.3125 0.13333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25" y="6667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3" presetID="3" presetClass="exit" presetSubtype="10" fill="hold" nodeType="after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-0.3125 0.13333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25" y="6667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2" presetID="3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6" presetID="3" presetClass="exit" presetSubtype="10" fill="hold" grpId="2" nodeType="after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-0.3125 -4.44444E-6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25" y="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  <p:bldP spid="16" grpId="1" animBg="1"/>
      <p:bldP spid="24" grpId="0" animBg="1"/>
      <p:bldP spid="24" grpId="1" animBg="1"/>
      <p:bldP spid="24" grpId="2" animBg="1"/>
      <p:bldP spid="23" grpId="0" animBg="1"/>
      <p:bldP spid="23" grpId="1" animBg="1"/>
      <p:bldP spid="20" grpId="0" animBg="1"/>
      <p:bldP spid="13" grpId="0"/>
      <p:bldP spid="14" grpId="0" animBg="1"/>
      <p:bldP spid="17" grpId="0" animBg="1"/>
      <p:bldP spid="18" grpId="0" animBg="1"/>
      <p:bldP spid="19" grpId="0" animBg="1"/>
      <p:bldP spid="27" grpId="0" animBg="1"/>
      <p:bldP spid="32" grpId="0" animBg="1"/>
      <p:bldP spid="33" grpId="0" animBg="1"/>
      <p:bldP spid="34" grpId="0" animBg="1"/>
      <p:bldP spid="43" grpId="0"/>
      <p:bldP spid="2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dirty="0" smtClean="0"/>
              <a:t>Code Management Optimization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990600"/>
            <a:ext cx="8229600" cy="28194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Problem formulation:</a:t>
            </a:r>
          </a:p>
          <a:p>
            <a:pPr lvl="1"/>
            <a:r>
              <a:rPr lang="en-US" dirty="0" smtClean="0"/>
              <a:t>Input: A ‘C’ program</a:t>
            </a:r>
          </a:p>
          <a:p>
            <a:pPr lvl="1"/>
            <a:r>
              <a:rPr lang="en-US" dirty="0" err="1" smtClean="0"/>
              <a:t>Ouput</a:t>
            </a:r>
            <a:r>
              <a:rPr lang="en-US" dirty="0" smtClean="0"/>
              <a:t>: Divide SPM in regions, and map functions to regions</a:t>
            </a:r>
          </a:p>
          <a:p>
            <a:pPr lvl="1"/>
            <a:r>
              <a:rPr lang="en-US" dirty="0" smtClean="0"/>
              <a:t>Minimize: The amount of code transfer</a:t>
            </a:r>
          </a:p>
          <a:p>
            <a:pPr lvl="1"/>
            <a:endParaRPr lang="en-US" dirty="0"/>
          </a:p>
          <a:p>
            <a:r>
              <a:rPr lang="en-US" dirty="0" smtClean="0"/>
              <a:t>Given a mapping, how do we find out the amount of code transfer</a:t>
            </a:r>
          </a:p>
          <a:p>
            <a:pPr lvl="1"/>
            <a:r>
              <a:rPr lang="en-US" dirty="0" smtClean="0"/>
              <a:t>Find the sequence of function calls</a:t>
            </a:r>
          </a:p>
          <a:p>
            <a:pPr lvl="1"/>
            <a:r>
              <a:rPr lang="en-US" dirty="0" smtClean="0"/>
              <a:t>Then for each region, note down the number of function swaps</a:t>
            </a:r>
          </a:p>
          <a:p>
            <a:pPr lvl="1"/>
            <a:endParaRPr lang="en-US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04800" y="4038600"/>
            <a:ext cx="12192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dirty="0" smtClean="0">
                <a:cs typeface="Arial" charset="0"/>
              </a:rPr>
              <a:t>F1()</a:t>
            </a:r>
            <a:endParaRPr lang="en-US" altLang="zh-CN" sz="1600" dirty="0">
              <a:cs typeface="Arial" charset="0"/>
            </a:endParaRP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 F2()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F3()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END F1(</a:t>
            </a:r>
            <a:r>
              <a:rPr lang="en-US" altLang="zh-CN" sz="1600" dirty="0" smtClean="0">
                <a:cs typeface="Arial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2600" y="48768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1, f2, f1, f3, f1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191000" y="4114800"/>
            <a:ext cx="914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F1, F2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91000" y="4495800"/>
            <a:ext cx="914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F3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467600" y="4114800"/>
            <a:ext cx="914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467600" y="4495800"/>
            <a:ext cx="914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F2, F3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886200" y="5334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1, f2, f1, f3, f1</a:t>
            </a:r>
            <a:endParaRPr lang="en-US" dirty="0"/>
          </a:p>
        </p:txBody>
      </p:sp>
      <p:sp>
        <p:nvSpPr>
          <p:cNvPr id="17" name="Curved Down Arrow 16"/>
          <p:cNvSpPr/>
          <p:nvPr/>
        </p:nvSpPr>
        <p:spPr>
          <a:xfrm>
            <a:off x="4038600" y="5105400"/>
            <a:ext cx="228600" cy="228600"/>
          </a:xfrm>
          <a:prstGeom prst="curved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>
            <a:off x="4343400" y="5105400"/>
            <a:ext cx="228600" cy="228600"/>
          </a:xfrm>
          <a:prstGeom prst="curved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39000" y="534566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1, f2, f1, f3, f1</a:t>
            </a:r>
            <a:endParaRPr lang="en-US" dirty="0"/>
          </a:p>
        </p:txBody>
      </p:sp>
      <p:sp>
        <p:nvSpPr>
          <p:cNvPr id="23" name="Curved Down Arrow 22"/>
          <p:cNvSpPr/>
          <p:nvPr/>
        </p:nvSpPr>
        <p:spPr>
          <a:xfrm>
            <a:off x="7696200" y="5117068"/>
            <a:ext cx="381000" cy="228600"/>
          </a:xfrm>
          <a:prstGeom prst="curved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67400" y="4114800"/>
            <a:ext cx="914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F1, F3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867400" y="4495800"/>
            <a:ext cx="914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F2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562600" y="5334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1, f2, f1, f3, f1</a:t>
            </a:r>
            <a:endParaRPr lang="en-US" dirty="0"/>
          </a:p>
        </p:txBody>
      </p:sp>
      <p:sp>
        <p:nvSpPr>
          <p:cNvPr id="29" name="Curved Down Arrow 28"/>
          <p:cNvSpPr/>
          <p:nvPr/>
        </p:nvSpPr>
        <p:spPr>
          <a:xfrm>
            <a:off x="6248400" y="5105400"/>
            <a:ext cx="228600" cy="228600"/>
          </a:xfrm>
          <a:prstGeom prst="curved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Curved Down Arrow 29"/>
          <p:cNvSpPr/>
          <p:nvPr/>
        </p:nvSpPr>
        <p:spPr>
          <a:xfrm>
            <a:off x="6553200" y="5105400"/>
            <a:ext cx="228600" cy="228600"/>
          </a:xfrm>
          <a:prstGeom prst="curved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Striped Right Arrow 31"/>
          <p:cNvSpPr/>
          <p:nvPr/>
        </p:nvSpPr>
        <p:spPr>
          <a:xfrm>
            <a:off x="1219200" y="4953000"/>
            <a:ext cx="457200" cy="304800"/>
          </a:xfrm>
          <a:prstGeom prst="striped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triped Right Arrow 32"/>
          <p:cNvSpPr/>
          <p:nvPr/>
        </p:nvSpPr>
        <p:spPr>
          <a:xfrm>
            <a:off x="3200400" y="4953000"/>
            <a:ext cx="457200" cy="304800"/>
          </a:xfrm>
          <a:prstGeom prst="striped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5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/>
      <p:bldP spid="17" grpId="0" animBg="1"/>
      <p:bldP spid="18" grpId="0" animBg="1"/>
      <p:bldP spid="20" grpId="0"/>
      <p:bldP spid="23" grpId="0" animBg="1"/>
      <p:bldP spid="24" grpId="0" animBg="1"/>
      <p:bldP spid="25" grpId="0" animBg="1"/>
      <p:bldP spid="26" grpId="0"/>
      <p:bldP spid="29" grpId="0" animBg="1"/>
      <p:bldP spid="30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do we capture the whole program?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990600"/>
            <a:ext cx="8229600" cy="2209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Call Graph</a:t>
            </a:r>
          </a:p>
          <a:p>
            <a:r>
              <a:rPr lang="en-US" dirty="0"/>
              <a:t>Can call graph be used to estimate the function execution pattern</a:t>
            </a:r>
          </a:p>
          <a:p>
            <a:pPr lvl="1"/>
            <a:r>
              <a:rPr lang="en-US" dirty="0"/>
              <a:t>Children are not ordered</a:t>
            </a:r>
          </a:p>
          <a:p>
            <a:pPr lvl="1"/>
            <a:r>
              <a:rPr lang="en-US" dirty="0"/>
              <a:t>How many times are the children called</a:t>
            </a:r>
          </a:p>
          <a:p>
            <a:pPr lvl="2"/>
            <a:r>
              <a:rPr lang="en-US" dirty="0"/>
              <a:t>Can be annotated</a:t>
            </a:r>
          </a:p>
          <a:p>
            <a:pPr lvl="3"/>
            <a:r>
              <a:rPr lang="en-US" dirty="0"/>
              <a:t>But what is the pattern of the call?</a:t>
            </a:r>
          </a:p>
          <a:p>
            <a:endParaRPr lang="en-US" dirty="0"/>
          </a:p>
        </p:txBody>
      </p:sp>
      <p:sp>
        <p:nvSpPr>
          <p:cNvPr id="19" name="Content Placeholder 3"/>
          <p:cNvSpPr txBox="1">
            <a:spLocks/>
          </p:cNvSpPr>
          <p:nvPr/>
        </p:nvSpPr>
        <p:spPr>
          <a:xfrm>
            <a:off x="-304800" y="3601292"/>
            <a:ext cx="8229600" cy="2362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Cloud Callout 19"/>
          <p:cNvSpPr/>
          <p:nvPr/>
        </p:nvSpPr>
        <p:spPr>
          <a:xfrm>
            <a:off x="5334000" y="1752600"/>
            <a:ext cx="3581400" cy="1524000"/>
          </a:xfrm>
          <a:prstGeom prst="cloudCallout">
            <a:avLst>
              <a:gd name="adj1" fmla="val -76507"/>
              <a:gd name="adj2" fmla="val 1195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Must capture control flow information also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2" name="椭圆 49"/>
          <p:cNvSpPr/>
          <p:nvPr/>
        </p:nvSpPr>
        <p:spPr>
          <a:xfrm>
            <a:off x="483078" y="3482842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" name="椭圆 64"/>
          <p:cNvSpPr/>
          <p:nvPr/>
        </p:nvSpPr>
        <p:spPr>
          <a:xfrm>
            <a:off x="990600" y="4710668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F3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4" name="直接箭头连接符 95"/>
          <p:cNvCxnSpPr>
            <a:stCxn id="22" idx="4"/>
            <a:endCxn id="23" idx="0"/>
          </p:cNvCxnSpPr>
          <p:nvPr/>
        </p:nvCxnSpPr>
        <p:spPr>
          <a:xfrm>
            <a:off x="825978" y="4168642"/>
            <a:ext cx="507522" cy="542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64"/>
          <p:cNvSpPr/>
          <p:nvPr/>
        </p:nvSpPr>
        <p:spPr>
          <a:xfrm>
            <a:off x="0" y="4710668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6" name="直接箭头连接符 95"/>
          <p:cNvCxnSpPr>
            <a:stCxn id="22" idx="4"/>
            <a:endCxn id="25" idx="0"/>
          </p:cNvCxnSpPr>
          <p:nvPr/>
        </p:nvCxnSpPr>
        <p:spPr>
          <a:xfrm flipH="1">
            <a:off x="342900" y="4168642"/>
            <a:ext cx="483078" cy="542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49"/>
          <p:cNvSpPr/>
          <p:nvPr/>
        </p:nvSpPr>
        <p:spPr>
          <a:xfrm>
            <a:off x="2529313" y="3276600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椭圆 64"/>
          <p:cNvSpPr/>
          <p:nvPr/>
        </p:nvSpPr>
        <p:spPr>
          <a:xfrm>
            <a:off x="3048000" y="5197418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F3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1" name="直接箭头连接符 95"/>
          <p:cNvCxnSpPr>
            <a:stCxn id="32" idx="2"/>
            <a:endCxn id="30" idx="0"/>
          </p:cNvCxnSpPr>
          <p:nvPr/>
        </p:nvCxnSpPr>
        <p:spPr>
          <a:xfrm>
            <a:off x="2875057" y="4808572"/>
            <a:ext cx="515843" cy="388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71"/>
          <p:cNvSpPr/>
          <p:nvPr/>
        </p:nvSpPr>
        <p:spPr>
          <a:xfrm>
            <a:off x="2570257" y="4283018"/>
            <a:ext cx="609600" cy="525554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L1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3" name="椭圆 64"/>
          <p:cNvSpPr/>
          <p:nvPr/>
        </p:nvSpPr>
        <p:spPr>
          <a:xfrm>
            <a:off x="2057400" y="5197418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4" name="直接箭头连接符 95"/>
          <p:cNvCxnSpPr>
            <a:stCxn id="32" idx="2"/>
            <a:endCxn id="33" idx="0"/>
          </p:cNvCxnSpPr>
          <p:nvPr/>
        </p:nvCxnSpPr>
        <p:spPr>
          <a:xfrm flipH="1">
            <a:off x="2400300" y="4808572"/>
            <a:ext cx="474757" cy="388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95"/>
          <p:cNvCxnSpPr>
            <a:stCxn id="29" idx="4"/>
            <a:endCxn id="32" idx="0"/>
          </p:cNvCxnSpPr>
          <p:nvPr/>
        </p:nvCxnSpPr>
        <p:spPr>
          <a:xfrm>
            <a:off x="2872213" y="3962400"/>
            <a:ext cx="2844" cy="320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179857" y="4359218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37" name="椭圆 49"/>
          <p:cNvSpPr/>
          <p:nvPr/>
        </p:nvSpPr>
        <p:spPr>
          <a:xfrm>
            <a:off x="5385205" y="3200400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8" name="矩形 71"/>
          <p:cNvSpPr/>
          <p:nvPr/>
        </p:nvSpPr>
        <p:spPr>
          <a:xfrm>
            <a:off x="5903975" y="4267200"/>
            <a:ext cx="609600" cy="525554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L2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39" name="直接箭头连接符 94"/>
          <p:cNvCxnSpPr>
            <a:stCxn id="37" idx="4"/>
            <a:endCxn id="43" idx="0"/>
          </p:cNvCxnSpPr>
          <p:nvPr/>
        </p:nvCxnSpPr>
        <p:spPr>
          <a:xfrm flipH="1">
            <a:off x="5250485" y="3886200"/>
            <a:ext cx="477620" cy="38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95"/>
          <p:cNvCxnSpPr>
            <a:stCxn id="37" idx="4"/>
            <a:endCxn id="38" idx="0"/>
          </p:cNvCxnSpPr>
          <p:nvPr/>
        </p:nvCxnSpPr>
        <p:spPr>
          <a:xfrm>
            <a:off x="5728105" y="3886200"/>
            <a:ext cx="480670" cy="38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64"/>
          <p:cNvSpPr/>
          <p:nvPr/>
        </p:nvSpPr>
        <p:spPr>
          <a:xfrm>
            <a:off x="5867400" y="5159655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F3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2" name="直接箭头连接符 95"/>
          <p:cNvCxnSpPr>
            <a:stCxn id="38" idx="2"/>
            <a:endCxn id="41" idx="0"/>
          </p:cNvCxnSpPr>
          <p:nvPr/>
        </p:nvCxnSpPr>
        <p:spPr>
          <a:xfrm>
            <a:off x="6208775" y="4792754"/>
            <a:ext cx="1525" cy="366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71"/>
          <p:cNvSpPr/>
          <p:nvPr/>
        </p:nvSpPr>
        <p:spPr>
          <a:xfrm>
            <a:off x="4945685" y="4267200"/>
            <a:ext cx="609600" cy="525554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L1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4" name="椭圆 64"/>
          <p:cNvSpPr/>
          <p:nvPr/>
        </p:nvSpPr>
        <p:spPr>
          <a:xfrm>
            <a:off x="4905294" y="5141845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5" name="直接箭头连接符 95"/>
          <p:cNvCxnSpPr>
            <a:stCxn id="43" idx="2"/>
            <a:endCxn id="44" idx="0"/>
          </p:cNvCxnSpPr>
          <p:nvPr/>
        </p:nvCxnSpPr>
        <p:spPr>
          <a:xfrm flipH="1">
            <a:off x="5248194" y="4792754"/>
            <a:ext cx="2291" cy="3490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19600" y="4343400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86903" y="5650468"/>
            <a:ext cx="162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1, f2, f1, f3, f1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2057400" y="5939526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1, (f2, f1, f3, f1)</a:t>
            </a:r>
            <a:r>
              <a:rPr lang="en-US" baseline="30000" dirty="0" smtClean="0"/>
              <a:t>10</a:t>
            </a:r>
            <a:endParaRPr lang="en-US" baseline="30000" dirty="0"/>
          </a:p>
        </p:txBody>
      </p:sp>
      <p:sp>
        <p:nvSpPr>
          <p:cNvPr id="49" name="椭圆 49"/>
          <p:cNvSpPr/>
          <p:nvPr/>
        </p:nvSpPr>
        <p:spPr>
          <a:xfrm>
            <a:off x="7823605" y="3276600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2" name="直接箭头连接符 95"/>
          <p:cNvCxnSpPr>
            <a:stCxn id="49" idx="4"/>
            <a:endCxn id="59" idx="0"/>
          </p:cNvCxnSpPr>
          <p:nvPr/>
        </p:nvCxnSpPr>
        <p:spPr>
          <a:xfrm>
            <a:off x="8166505" y="3962400"/>
            <a:ext cx="24995" cy="304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64"/>
          <p:cNvSpPr/>
          <p:nvPr/>
        </p:nvSpPr>
        <p:spPr>
          <a:xfrm>
            <a:off x="8305800" y="5235855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F3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4" name="直接箭头连接符 95"/>
          <p:cNvCxnSpPr>
            <a:stCxn id="59" idx="3"/>
            <a:endCxn id="53" idx="0"/>
          </p:cNvCxnSpPr>
          <p:nvPr/>
        </p:nvCxnSpPr>
        <p:spPr>
          <a:xfrm>
            <a:off x="8610600" y="4572000"/>
            <a:ext cx="38100" cy="6638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椭圆 64"/>
          <p:cNvSpPr/>
          <p:nvPr/>
        </p:nvSpPr>
        <p:spPr>
          <a:xfrm>
            <a:off x="7343694" y="5218045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57" name="直接箭头连接符 95"/>
          <p:cNvCxnSpPr>
            <a:stCxn id="59" idx="1"/>
            <a:endCxn id="56" idx="0"/>
          </p:cNvCxnSpPr>
          <p:nvPr/>
        </p:nvCxnSpPr>
        <p:spPr>
          <a:xfrm flipH="1">
            <a:off x="7686594" y="4572000"/>
            <a:ext cx="85806" cy="646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629400" y="4321455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9" name="Diamond 58"/>
          <p:cNvSpPr/>
          <p:nvPr/>
        </p:nvSpPr>
        <p:spPr>
          <a:xfrm>
            <a:off x="7772400" y="4267200"/>
            <a:ext cx="838200" cy="609600"/>
          </a:xfrm>
          <a:prstGeom prst="diamond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4800600" y="5997855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1, (f2, f1</a:t>
            </a:r>
            <a:r>
              <a:rPr lang="en-US" dirty="0"/>
              <a:t>)</a:t>
            </a:r>
            <a:r>
              <a:rPr lang="en-US" baseline="30000" dirty="0"/>
              <a:t>10</a:t>
            </a:r>
            <a:r>
              <a:rPr lang="en-US" dirty="0" smtClean="0"/>
              <a:t>, (f3, f1)</a:t>
            </a:r>
            <a:r>
              <a:rPr lang="en-US" baseline="30000" dirty="0" smtClean="0"/>
              <a:t>10</a:t>
            </a:r>
            <a:endParaRPr lang="en-US" baseline="30000" dirty="0"/>
          </a:p>
        </p:txBody>
      </p:sp>
      <p:sp>
        <p:nvSpPr>
          <p:cNvPr id="64" name="TextBox 63"/>
          <p:cNvSpPr txBox="1"/>
          <p:nvPr/>
        </p:nvSpPr>
        <p:spPr>
          <a:xfrm>
            <a:off x="7010400" y="6019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1, [f2, f3], f1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58780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2" grpId="0" animBg="1"/>
      <p:bldP spid="33" grpId="0" animBg="1"/>
      <p:bldP spid="36" grpId="0"/>
      <p:bldP spid="37" grpId="0" animBg="1"/>
      <p:bldP spid="38" grpId="0" animBg="1"/>
      <p:bldP spid="41" grpId="0" animBg="1"/>
      <p:bldP spid="43" grpId="0" animBg="1"/>
      <p:bldP spid="44" grpId="0" animBg="1"/>
      <p:bldP spid="46" grpId="0"/>
      <p:bldP spid="49" grpId="0" animBg="1"/>
      <p:bldP spid="53" grpId="0" animBg="1"/>
      <p:bldP spid="56" grpId="0" animBg="1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do we capture the whole program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990600"/>
            <a:ext cx="82296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Control Flow Graph (CFG) – only for a function</a:t>
            </a:r>
          </a:p>
          <a:p>
            <a:r>
              <a:rPr lang="en-US" dirty="0" smtClean="0"/>
              <a:t>Global CFG</a:t>
            </a:r>
          </a:p>
          <a:p>
            <a:pPr lvl="1"/>
            <a:r>
              <a:rPr lang="en-US" dirty="0" smtClean="0"/>
              <a:t>Combine all the CFGs in a program</a:t>
            </a:r>
          </a:p>
          <a:p>
            <a:pPr lvl="1"/>
            <a:r>
              <a:rPr lang="en-US" dirty="0" smtClean="0"/>
              <a:t>Wherever there is a function call, attach the CFG of the function</a:t>
            </a:r>
          </a:p>
          <a:p>
            <a:endParaRPr lang="en-US" dirty="0" smtClean="0"/>
          </a:p>
          <a:p>
            <a:r>
              <a:rPr lang="en-US" dirty="0" smtClean="0"/>
              <a:t>Can </a:t>
            </a:r>
            <a:r>
              <a:rPr lang="en-US" dirty="0" smtClean="0"/>
              <a:t>Global CFG be </a:t>
            </a:r>
            <a:r>
              <a:rPr lang="en-US" dirty="0"/>
              <a:t>used to estimate the function execution </a:t>
            </a:r>
            <a:r>
              <a:rPr lang="en-US" dirty="0" smtClean="0"/>
              <a:t>pattern?</a:t>
            </a:r>
            <a:endParaRPr lang="en-US" dirty="0" smtClean="0"/>
          </a:p>
          <a:p>
            <a:pPr lvl="1"/>
            <a:r>
              <a:rPr lang="en-US" dirty="0" smtClean="0"/>
              <a:t>Yes – it has all the information</a:t>
            </a:r>
          </a:p>
          <a:p>
            <a:pPr lvl="1"/>
            <a:r>
              <a:rPr lang="en-US" dirty="0" smtClean="0"/>
              <a:t>But</a:t>
            </a:r>
          </a:p>
          <a:p>
            <a:pPr lvl="2"/>
            <a:r>
              <a:rPr lang="en-US" dirty="0" smtClean="0"/>
              <a:t>Grows too large</a:t>
            </a:r>
          </a:p>
          <a:p>
            <a:pPr lvl="2"/>
            <a:r>
              <a:rPr lang="en-US" dirty="0" smtClean="0"/>
              <a:t>Recursion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Autofit/>
          </a:bodyPr>
          <a:lstStyle/>
          <a:p>
            <a:r>
              <a:rPr lang="en-US" sz="4000" dirty="0" smtClean="0"/>
              <a:t>GCCFG: Global Call Control Flow Graph</a:t>
            </a:r>
            <a:endParaRPr lang="en-US" sz="4000" dirty="0"/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114800" cy="493776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Functions </a:t>
            </a:r>
            <a:r>
              <a:rPr lang="en-US" dirty="0"/>
              <a:t>(circle</a:t>
            </a:r>
            <a:r>
              <a:rPr lang="en-US" dirty="0" smtClean="0"/>
              <a:t>)</a:t>
            </a:r>
          </a:p>
          <a:p>
            <a:r>
              <a:rPr lang="en-US" dirty="0"/>
              <a:t>L</a:t>
            </a:r>
            <a:r>
              <a:rPr lang="en-US" dirty="0" smtClean="0"/>
              <a:t>oops </a:t>
            </a:r>
            <a:r>
              <a:rPr lang="en-US" dirty="0"/>
              <a:t>(</a:t>
            </a:r>
            <a:r>
              <a:rPr lang="en-US" dirty="0" smtClean="0"/>
              <a:t>square)</a:t>
            </a:r>
          </a:p>
          <a:p>
            <a:r>
              <a:rPr lang="en-US" dirty="0"/>
              <a:t>C</a:t>
            </a:r>
            <a:r>
              <a:rPr lang="en-US" dirty="0" smtClean="0"/>
              <a:t>onditions </a:t>
            </a:r>
            <a:r>
              <a:rPr lang="en-US" dirty="0"/>
              <a:t>(diamond</a:t>
            </a:r>
            <a:r>
              <a:rPr lang="en-US" dirty="0" smtClean="0"/>
              <a:t>)</a:t>
            </a:r>
          </a:p>
          <a:p>
            <a:r>
              <a:rPr lang="en-US" dirty="0" smtClean="0"/>
              <a:t>Abstracts away straight line code</a:t>
            </a:r>
          </a:p>
          <a:p>
            <a:r>
              <a:rPr lang="en-US" dirty="0" smtClean="0"/>
              <a:t>Captures control flow </a:t>
            </a:r>
          </a:p>
          <a:p>
            <a:r>
              <a:rPr lang="en-US" dirty="0" smtClean="0"/>
              <a:t>Captures function call information</a:t>
            </a:r>
          </a:p>
          <a:p>
            <a:r>
              <a:rPr lang="en-US" dirty="0" smtClean="0"/>
              <a:t>Captures the order of execution</a:t>
            </a:r>
          </a:p>
          <a:p>
            <a:pPr lvl="1"/>
            <a:r>
              <a:rPr lang="en-US" dirty="0" smtClean="0"/>
              <a:t>Left child is executed before right child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98423" y="1219200"/>
            <a:ext cx="13716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dirty="0" smtClean="0">
                <a:cs typeface="Arial" charset="0"/>
              </a:rPr>
              <a:t>F1()</a:t>
            </a:r>
            <a:endParaRPr lang="en-US" altLang="zh-CN" sz="1600" dirty="0">
              <a:cs typeface="Arial" charset="0"/>
            </a:endParaRP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 F2()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F3()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END F1(</a:t>
            </a:r>
            <a:r>
              <a:rPr lang="en-US" altLang="zh-CN" sz="1600" dirty="0" smtClean="0">
                <a:cs typeface="Arial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0300" y="1219201"/>
            <a:ext cx="18288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 smtClean="0">
                <a:cs typeface="Arial" charset="0"/>
              </a:rPr>
              <a:t>F2()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….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IF(condition)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    F4()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ELSE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   F5()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….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END F2()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6200" y="1219200"/>
            <a:ext cx="1905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 smtClean="0">
                <a:cs typeface="Arial" charset="0"/>
              </a:rPr>
              <a:t>F3()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….</a:t>
            </a:r>
            <a:endParaRPr lang="en-US" altLang="zh-CN" sz="1600" dirty="0">
              <a:cs typeface="Arial" charset="0"/>
            </a:endParaRP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FOR </a:t>
            </a:r>
            <a:r>
              <a:rPr lang="en-US" altLang="zh-CN" sz="1600" dirty="0">
                <a:cs typeface="Arial" charset="0"/>
              </a:rPr>
              <a:t>(1…n)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   </a:t>
            </a:r>
            <a:r>
              <a:rPr lang="en-US" altLang="zh-CN" sz="1600" dirty="0" smtClean="0">
                <a:cs typeface="Arial" charset="0"/>
              </a:rPr>
              <a:t>    F6(</a:t>
            </a:r>
            <a:r>
              <a:rPr lang="en-US" altLang="zh-CN" sz="1600" dirty="0">
                <a:cs typeface="Arial" charset="0"/>
              </a:rPr>
              <a:t>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   </a:t>
            </a:r>
            <a:r>
              <a:rPr lang="en-US" altLang="zh-CN" sz="1600" dirty="0" smtClean="0">
                <a:cs typeface="Arial" charset="0"/>
              </a:rPr>
              <a:t>END FOR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….</a:t>
            </a:r>
            <a:endParaRPr lang="en-US" altLang="zh-CN" sz="1600" dirty="0">
              <a:cs typeface="Arial" charset="0"/>
            </a:endParaRP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END </a:t>
            </a:r>
            <a:r>
              <a:rPr lang="en-US" altLang="zh-CN" sz="1600" dirty="0">
                <a:cs typeface="Arial" charset="0"/>
              </a:rPr>
              <a:t>F1()	</a:t>
            </a:r>
          </a:p>
        </p:txBody>
      </p:sp>
      <p:sp>
        <p:nvSpPr>
          <p:cNvPr id="7" name="椭圆 49"/>
          <p:cNvSpPr/>
          <p:nvPr/>
        </p:nvSpPr>
        <p:spPr>
          <a:xfrm>
            <a:off x="6257925" y="3289935"/>
            <a:ext cx="685800" cy="685800"/>
          </a:xfrm>
          <a:prstGeom prst="ellipse">
            <a:avLst/>
          </a:prstGeom>
          <a:noFill/>
          <a:ln w="2540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椭圆 62"/>
          <p:cNvSpPr/>
          <p:nvPr/>
        </p:nvSpPr>
        <p:spPr>
          <a:xfrm>
            <a:off x="5362575" y="4166235"/>
            <a:ext cx="685800" cy="685800"/>
          </a:xfrm>
          <a:prstGeom prst="ellipse">
            <a:avLst/>
          </a:prstGeom>
          <a:noFill/>
          <a:ln w="2540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9" name="椭圆 64"/>
          <p:cNvSpPr/>
          <p:nvPr/>
        </p:nvSpPr>
        <p:spPr>
          <a:xfrm>
            <a:off x="7124700" y="4208084"/>
            <a:ext cx="685800" cy="685800"/>
          </a:xfrm>
          <a:prstGeom prst="ellipse">
            <a:avLst/>
          </a:prstGeom>
          <a:noFill/>
          <a:ln w="2540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F3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" name="矩形 71"/>
          <p:cNvSpPr/>
          <p:nvPr/>
        </p:nvSpPr>
        <p:spPr>
          <a:xfrm>
            <a:off x="7162800" y="5118735"/>
            <a:ext cx="609600" cy="52555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L2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1" name="直接箭头连接符 79"/>
          <p:cNvCxnSpPr>
            <a:stCxn id="8" idx="4"/>
            <a:endCxn id="15" idx="0"/>
          </p:cNvCxnSpPr>
          <p:nvPr/>
        </p:nvCxnSpPr>
        <p:spPr>
          <a:xfrm flipH="1">
            <a:off x="5704682" y="4852035"/>
            <a:ext cx="793" cy="342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94"/>
          <p:cNvCxnSpPr>
            <a:stCxn id="7" idx="4"/>
            <a:endCxn id="8" idx="0"/>
          </p:cNvCxnSpPr>
          <p:nvPr/>
        </p:nvCxnSpPr>
        <p:spPr>
          <a:xfrm flipH="1">
            <a:off x="5705475" y="3975735"/>
            <a:ext cx="895350" cy="1905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95"/>
          <p:cNvCxnSpPr>
            <a:stCxn id="9" idx="4"/>
          </p:cNvCxnSpPr>
          <p:nvPr/>
        </p:nvCxnSpPr>
        <p:spPr>
          <a:xfrm>
            <a:off x="7467600" y="4893884"/>
            <a:ext cx="0" cy="262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4914900" y="5194935"/>
            <a:ext cx="1579563" cy="420688"/>
            <a:chOff x="4267200" y="2209800"/>
            <a:chExt cx="1579563" cy="420688"/>
          </a:xfrm>
        </p:grpSpPr>
        <p:sp>
          <p:nvSpPr>
            <p:cNvPr id="15" name="菱形 4"/>
            <p:cNvSpPr/>
            <p:nvPr/>
          </p:nvSpPr>
          <p:spPr>
            <a:xfrm>
              <a:off x="4267200" y="2209800"/>
              <a:ext cx="1579563" cy="420688"/>
            </a:xfrm>
            <a:prstGeom prst="diamond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75163" y="2209800"/>
              <a:ext cx="109378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dirty="0">
                  <a:latin typeface="+mn-lt"/>
                </a:rPr>
                <a:t>condition</a:t>
              </a:r>
              <a:endParaRPr lang="en-US" dirty="0">
                <a:latin typeface="+mn-lt"/>
              </a:endParaRPr>
            </a:p>
          </p:txBody>
        </p:sp>
      </p:grpSp>
      <p:cxnSp>
        <p:nvCxnSpPr>
          <p:cNvPr id="17" name="直接箭头连接符 95"/>
          <p:cNvCxnSpPr>
            <a:stCxn id="7" idx="4"/>
            <a:endCxn id="9" idx="0"/>
          </p:cNvCxnSpPr>
          <p:nvPr/>
        </p:nvCxnSpPr>
        <p:spPr>
          <a:xfrm>
            <a:off x="6600825" y="3975735"/>
            <a:ext cx="866775" cy="2323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64"/>
          <p:cNvSpPr/>
          <p:nvPr/>
        </p:nvSpPr>
        <p:spPr>
          <a:xfrm>
            <a:off x="7124700" y="5890260"/>
            <a:ext cx="685800" cy="685800"/>
          </a:xfrm>
          <a:prstGeom prst="ellipse">
            <a:avLst/>
          </a:prstGeom>
          <a:noFill/>
          <a:ln w="2540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F6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9" name="直接箭头连接符 95"/>
          <p:cNvCxnSpPr>
            <a:stCxn id="10" idx="2"/>
            <a:endCxn id="18" idx="0"/>
          </p:cNvCxnSpPr>
          <p:nvPr/>
        </p:nvCxnSpPr>
        <p:spPr>
          <a:xfrm>
            <a:off x="7467600" y="5644289"/>
            <a:ext cx="0" cy="2459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64"/>
          <p:cNvSpPr/>
          <p:nvPr/>
        </p:nvSpPr>
        <p:spPr>
          <a:xfrm>
            <a:off x="4572000" y="5890260"/>
            <a:ext cx="685800" cy="685800"/>
          </a:xfrm>
          <a:prstGeom prst="ellipse">
            <a:avLst/>
          </a:prstGeom>
          <a:noFill/>
          <a:ln w="2540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F4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1" name="椭圆 64"/>
          <p:cNvSpPr/>
          <p:nvPr/>
        </p:nvSpPr>
        <p:spPr>
          <a:xfrm>
            <a:off x="6153150" y="5890260"/>
            <a:ext cx="685800" cy="685800"/>
          </a:xfrm>
          <a:prstGeom prst="ellipse">
            <a:avLst/>
          </a:prstGeom>
          <a:noFill/>
          <a:ln w="2540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000" dirty="0" smtClean="0">
                <a:solidFill>
                  <a:schemeClr val="tx1"/>
                </a:solidFill>
                <a:cs typeface="Arial" pitchFamily="34" charset="0"/>
              </a:rPr>
              <a:t>F5</a:t>
            </a:r>
            <a:endParaRPr lang="zh-CN" altLang="en-US" sz="20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2" name="直接箭头连接符 95"/>
          <p:cNvCxnSpPr>
            <a:stCxn id="15" idx="1"/>
            <a:endCxn id="20" idx="0"/>
          </p:cNvCxnSpPr>
          <p:nvPr/>
        </p:nvCxnSpPr>
        <p:spPr>
          <a:xfrm>
            <a:off x="4914900" y="5405279"/>
            <a:ext cx="0" cy="484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95"/>
          <p:cNvCxnSpPr>
            <a:stCxn id="15" idx="3"/>
            <a:endCxn id="21" idx="0"/>
          </p:cNvCxnSpPr>
          <p:nvPr/>
        </p:nvCxnSpPr>
        <p:spPr>
          <a:xfrm>
            <a:off x="6494463" y="5405279"/>
            <a:ext cx="1587" cy="484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798423" y="1219200"/>
            <a:ext cx="564152" cy="381000"/>
          </a:xfrm>
          <a:prstGeom prst="roundRect">
            <a:avLst/>
          </a:prstGeom>
          <a:noFill/>
          <a:ln w="3175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170023" y="1191045"/>
            <a:ext cx="564152" cy="381000"/>
          </a:xfrm>
          <a:prstGeom prst="roundRect">
            <a:avLst/>
          </a:prstGeom>
          <a:noFill/>
          <a:ln w="3175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655923" y="1210569"/>
            <a:ext cx="564152" cy="381000"/>
          </a:xfrm>
          <a:prstGeom prst="roundRect">
            <a:avLst/>
          </a:prstGeom>
          <a:noFill/>
          <a:ln w="3175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6643206" y="1938359"/>
            <a:ext cx="564152" cy="381000"/>
          </a:xfrm>
          <a:prstGeom prst="roundRect">
            <a:avLst/>
          </a:prstGeom>
          <a:noFill/>
          <a:ln w="3175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668997" y="2395369"/>
            <a:ext cx="564152" cy="381000"/>
          </a:xfrm>
          <a:prstGeom prst="roundRect">
            <a:avLst/>
          </a:prstGeom>
          <a:noFill/>
          <a:ln w="3175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8122203" y="1932325"/>
            <a:ext cx="564152" cy="381000"/>
          </a:xfrm>
          <a:prstGeom prst="roundRect">
            <a:avLst/>
          </a:prstGeom>
          <a:noFill/>
          <a:ln w="31750">
            <a:solidFill>
              <a:srgbClr val="0076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7878812" y="1665624"/>
            <a:ext cx="1265188" cy="1001375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6389461" y="1777457"/>
            <a:ext cx="1265188" cy="1001375"/>
          </a:xfrm>
          <a:prstGeom prst="roundRect">
            <a:avLst/>
          </a:prstGeom>
          <a:noFill/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5030496" y="1622572"/>
            <a:ext cx="564152" cy="381000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5037585" y="2579388"/>
            <a:ext cx="564152" cy="381000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6398927" y="1523918"/>
            <a:ext cx="564152" cy="253539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6361130" y="2758772"/>
            <a:ext cx="564152" cy="225472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7876224" y="1553085"/>
            <a:ext cx="564152" cy="224372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5060842" y="1985516"/>
            <a:ext cx="564152" cy="543072"/>
          </a:xfrm>
          <a:prstGeom prst="round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2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  <p:bldP spid="10" grpId="0" animBg="1"/>
      <p:bldP spid="18" grpId="0" animBg="1"/>
      <p:bldP spid="20" grpId="0" animBg="1"/>
      <p:bldP spid="21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Graph: </a:t>
            </a:r>
            <a:r>
              <a:rPr lang="en-US" dirty="0" err="1" smtClean="0"/>
              <a:t>Dijkstra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6865"/>
            <a:ext cx="4519187" cy="4752459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357" y="-13732"/>
            <a:ext cx="1317643" cy="68717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291" y="5999324"/>
            <a:ext cx="317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GCCFG (with library functions)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10200" y="5638800"/>
            <a:ext cx="2647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Global CFG </a:t>
            </a:r>
          </a:p>
          <a:p>
            <a:r>
              <a:rPr lang="en-US" dirty="0" smtClean="0"/>
              <a:t>(without library functions)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1219200"/>
            <a:ext cx="289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GCCFG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Whole program data structure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Hierarchical representation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Contains control flow information as well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Much smaller than Global CFG</a:t>
            </a:r>
          </a:p>
        </p:txBody>
      </p:sp>
    </p:spTree>
    <p:extLst>
      <p:ext uri="{BB962C8B-B14F-4D97-AF65-F5344CB8AC3E}">
        <p14:creationId xmlns:p14="http://schemas.microsoft.com/office/powerpoint/2010/main" val="370899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dirty="0" smtClean="0"/>
              <a:t>How to construct GCCFG?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Step 1: Extract all loops</a:t>
            </a:r>
          </a:p>
          <a:p>
            <a:pPr lvl="1"/>
            <a:r>
              <a:rPr lang="en-US" dirty="0" smtClean="0"/>
              <a:t>Set of nodes in a loop</a:t>
            </a:r>
          </a:p>
          <a:p>
            <a:r>
              <a:rPr lang="en-US" dirty="0" smtClean="0"/>
              <a:t>Step 2: Build a Hierarchical Flow Graph</a:t>
            </a:r>
          </a:p>
          <a:p>
            <a:pPr lvl="1"/>
            <a:r>
              <a:rPr lang="en-US" dirty="0" smtClean="0"/>
              <a:t>One level of hierarchy</a:t>
            </a:r>
          </a:p>
          <a:p>
            <a:r>
              <a:rPr lang="en-US" dirty="0" smtClean="0"/>
              <a:t>Step 3: Build Call Control Flow Graph (CCFG)</a:t>
            </a:r>
          </a:p>
          <a:p>
            <a:pPr lvl="1"/>
            <a:r>
              <a:rPr lang="en-US" dirty="0" smtClean="0"/>
              <a:t>Hierarchical graph for one function</a:t>
            </a:r>
          </a:p>
          <a:p>
            <a:r>
              <a:rPr lang="en-US" dirty="0" smtClean="0"/>
              <a:t>Step 4: Join the CCFGs to create GCCFG</a:t>
            </a:r>
          </a:p>
          <a:p>
            <a:pPr lvl="1"/>
            <a:r>
              <a:rPr lang="en-US" dirty="0" smtClean="0"/>
              <a:t>Hierarchical graph for all the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0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89498" y="3355544"/>
                <a:ext cx="685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498" y="3355544"/>
                <a:ext cx="685800" cy="3385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Step 1: Extract Loop Information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810000" cy="4937760"/>
          </a:xfrm>
        </p:spPr>
        <p:txBody>
          <a:bodyPr>
            <a:normAutofit/>
          </a:bodyPr>
          <a:lstStyle/>
          <a:p>
            <a:r>
              <a:rPr lang="en-US" dirty="0" smtClean="0"/>
              <a:t>Input: Set of Basic Blocks and Edges</a:t>
            </a:r>
            <a:endParaRPr lang="en-US" dirty="0"/>
          </a:p>
          <a:p>
            <a:r>
              <a:rPr lang="en-US" dirty="0" smtClean="0"/>
              <a:t>Find: Strongly connected components</a:t>
            </a:r>
          </a:p>
          <a:p>
            <a:r>
              <a:rPr lang="en-US" dirty="0" smtClean="0"/>
              <a:t>Unique entry and exit block</a:t>
            </a:r>
          </a:p>
          <a:p>
            <a:r>
              <a:rPr lang="en-US" dirty="0"/>
              <a:t>May contain </a:t>
            </a:r>
            <a:r>
              <a:rPr lang="en-US" dirty="0" smtClean="0"/>
              <a:t>sub-loops</a:t>
            </a:r>
          </a:p>
          <a:p>
            <a:r>
              <a:rPr lang="en-US" dirty="0" smtClean="0"/>
              <a:t>Has a Depth</a:t>
            </a:r>
          </a:p>
          <a:p>
            <a:r>
              <a:rPr lang="en-US" dirty="0" smtClean="0"/>
              <a:t>Highest Level Loop</a:t>
            </a:r>
          </a:p>
          <a:p>
            <a:pPr lvl="1"/>
            <a:r>
              <a:rPr lang="en-US" dirty="0" smtClean="0"/>
              <a:t>Contains all blocks and edges in CFG</a:t>
            </a:r>
          </a:p>
        </p:txBody>
      </p:sp>
      <p:sp>
        <p:nvSpPr>
          <p:cNvPr id="4" name="Rectangle 7"/>
          <p:cNvSpPr/>
          <p:nvPr/>
        </p:nvSpPr>
        <p:spPr bwMode="auto">
          <a:xfrm>
            <a:off x="4878388" y="1701863"/>
            <a:ext cx="561975" cy="396875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>
                <a:solidFill>
                  <a:schemeClr val="tx1"/>
                </a:solidFill>
              </a:rPr>
              <a:t>B1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7"/>
          <p:cNvSpPr/>
          <p:nvPr/>
        </p:nvSpPr>
        <p:spPr bwMode="auto">
          <a:xfrm>
            <a:off x="4878388" y="2347975"/>
            <a:ext cx="561975" cy="396875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>
                <a:solidFill>
                  <a:schemeClr val="tx1"/>
                </a:solidFill>
              </a:rPr>
              <a:t>B2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3"/>
          <p:cNvCxnSpPr>
            <a:stCxn id="4" idx="2"/>
            <a:endCxn id="5" idx="0"/>
          </p:cNvCxnSpPr>
          <p:nvPr/>
        </p:nvCxnSpPr>
        <p:spPr bwMode="auto">
          <a:xfrm>
            <a:off x="5159376" y="2098738"/>
            <a:ext cx="0" cy="249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7"/>
          <p:cNvSpPr/>
          <p:nvPr/>
        </p:nvSpPr>
        <p:spPr bwMode="auto">
          <a:xfrm>
            <a:off x="4879975" y="3668775"/>
            <a:ext cx="561975" cy="396875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>
                <a:solidFill>
                  <a:schemeClr val="tx1"/>
                </a:solidFill>
              </a:rPr>
              <a:t>B4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879975" y="4314888"/>
            <a:ext cx="563563" cy="396875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B5</a:t>
            </a:r>
          </a:p>
        </p:txBody>
      </p:sp>
      <p:cxnSp>
        <p:nvCxnSpPr>
          <p:cNvPr id="9" name="Straight Arrow Connector 53"/>
          <p:cNvCxnSpPr>
            <a:stCxn id="7" idx="2"/>
            <a:endCxn id="8" idx="0"/>
          </p:cNvCxnSpPr>
          <p:nvPr/>
        </p:nvCxnSpPr>
        <p:spPr bwMode="auto">
          <a:xfrm>
            <a:off x="5160963" y="4065650"/>
            <a:ext cx="0" cy="2492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 bwMode="auto">
          <a:xfrm>
            <a:off x="4881563" y="4957825"/>
            <a:ext cx="561975" cy="396875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>
                <a:solidFill>
                  <a:schemeClr val="tx1"/>
                </a:solidFill>
              </a:rPr>
              <a:t>B6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53"/>
          <p:cNvCxnSpPr>
            <a:stCxn id="8" idx="2"/>
            <a:endCxn id="10" idx="0"/>
          </p:cNvCxnSpPr>
          <p:nvPr/>
        </p:nvCxnSpPr>
        <p:spPr bwMode="auto">
          <a:xfrm>
            <a:off x="5160963" y="4711763"/>
            <a:ext cx="1587" cy="2460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53"/>
          <p:cNvCxnSpPr>
            <a:stCxn id="5" idx="2"/>
            <a:endCxn id="13" idx="0"/>
          </p:cNvCxnSpPr>
          <p:nvPr/>
        </p:nvCxnSpPr>
        <p:spPr bwMode="auto">
          <a:xfrm flipH="1">
            <a:off x="5158582" y="2744850"/>
            <a:ext cx="794" cy="268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7"/>
          <p:cNvSpPr/>
          <p:nvPr/>
        </p:nvSpPr>
        <p:spPr bwMode="auto">
          <a:xfrm>
            <a:off x="4876800" y="3013138"/>
            <a:ext cx="563563" cy="396875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>
                <a:solidFill>
                  <a:schemeClr val="tx1"/>
                </a:solidFill>
              </a:rPr>
              <a:t>B3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53"/>
          <p:cNvCxnSpPr>
            <a:stCxn id="13" idx="2"/>
            <a:endCxn id="7" idx="0"/>
          </p:cNvCxnSpPr>
          <p:nvPr/>
        </p:nvCxnSpPr>
        <p:spPr bwMode="auto">
          <a:xfrm>
            <a:off x="5157788" y="3410013"/>
            <a:ext cx="3175" cy="258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05400" y="2023166"/>
                <a:ext cx="685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023166"/>
                <a:ext cx="685800" cy="33855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098110" y="2689459"/>
                <a:ext cx="685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110" y="2689459"/>
                <a:ext cx="685800" cy="33855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81547" y="3988664"/>
                <a:ext cx="685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45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547" y="3988664"/>
                <a:ext cx="685800" cy="33855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76906" y="4630676"/>
                <a:ext cx="685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56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906" y="4630676"/>
                <a:ext cx="685800" cy="3385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8" idx="2"/>
            <a:endCxn id="5" idx="1"/>
          </p:cNvCxnSpPr>
          <p:nvPr/>
        </p:nvCxnSpPr>
        <p:spPr>
          <a:xfrm rot="5400000" flipH="1">
            <a:off x="3937398" y="3487404"/>
            <a:ext cx="2165350" cy="283369"/>
          </a:xfrm>
          <a:prstGeom prst="curvedConnector4">
            <a:avLst>
              <a:gd name="adj1" fmla="val -5621"/>
              <a:gd name="adj2" fmla="val 26867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7" idx="2"/>
            <a:endCxn id="13" idx="1"/>
          </p:cNvCxnSpPr>
          <p:nvPr/>
        </p:nvCxnSpPr>
        <p:spPr>
          <a:xfrm rot="5400000" flipH="1">
            <a:off x="4591845" y="3496532"/>
            <a:ext cx="854074" cy="284163"/>
          </a:xfrm>
          <a:prstGeom prst="curvedConnector4">
            <a:avLst>
              <a:gd name="adj1" fmla="val -15643"/>
              <a:gd name="adj2" fmla="val 19716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969690" y="3056530"/>
                <a:ext cx="685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52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690" y="3056530"/>
                <a:ext cx="685800" cy="33855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431475" y="3361625"/>
                <a:ext cx="685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43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475" y="3361625"/>
                <a:ext cx="685800" cy="33855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019800" y="2434213"/>
                <a:ext cx="34362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a:rPr lang="en-US" sz="1600" i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 smtClean="0"/>
                  <a:t> := {{B1, B2, B3, B4, B5, B6}, </a:t>
                </a:r>
              </a:p>
              <a:p>
                <a:r>
                  <a:rPr lang="en-US" sz="1600" dirty="0" smtClean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34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45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56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43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}}</a:t>
                </a:r>
                <a:endParaRPr lang="en-US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2434213"/>
                <a:ext cx="3436290" cy="615553"/>
              </a:xfrm>
              <a:prstGeom prst="rect">
                <a:avLst/>
              </a:prstGeom>
              <a:blipFill rotWithShape="0">
                <a:blip r:embed="rId10"/>
                <a:stretch>
                  <a:fillRect l="-1066" t="-2970" b="-14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019800" y="3276600"/>
                <a:ext cx="312420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a:rPr lang="en-US" sz="1600" b="0" i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 smtClean="0"/>
                  <a:t> := {{B2, B3, B4, B5}, </a:t>
                </a:r>
              </a:p>
              <a:p>
                <a:r>
                  <a:rPr lang="en-US" sz="1600" dirty="0" smtClean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34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45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43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 smtClean="0"/>
                  <a:t>}}</a:t>
                </a:r>
                <a:endParaRPr lang="en-US" sz="1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3276600"/>
                <a:ext cx="3124200" cy="615553"/>
              </a:xfrm>
              <a:prstGeom prst="rect">
                <a:avLst/>
              </a:prstGeom>
              <a:blipFill rotWithShape="0">
                <a:blip r:embed="rId11"/>
                <a:stretch>
                  <a:fillRect l="-1172" t="-3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019800" y="4114800"/>
                <a:ext cx="297180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a:rPr lang="en-US" sz="1600" b="0" i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 smtClean="0"/>
                  <a:t> := {{B3, B4}, </a:t>
                </a:r>
              </a:p>
              <a:p>
                <a:r>
                  <a:rPr lang="en-US" sz="1600" dirty="0" smtClean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34</m:t>
                        </m:r>
                      </m:sub>
                    </m:sSub>
                  </m:oMath>
                </a14:m>
                <a:r>
                  <a:rPr lang="en-US" dirty="0" smtClean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43</m:t>
                        </m:r>
                      </m:sub>
                    </m:sSub>
                  </m:oMath>
                </a14:m>
                <a:r>
                  <a:rPr lang="en-US" dirty="0" smtClean="0"/>
                  <a:t>}}</a:t>
                </a:r>
                <a:endParaRPr lang="en-US" sz="16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114800"/>
                <a:ext cx="2971800" cy="615553"/>
              </a:xfrm>
              <a:prstGeom prst="rect">
                <a:avLst/>
              </a:prstGeom>
              <a:blipFill rotWithShape="0">
                <a:blip r:embed="rId12"/>
                <a:stretch>
                  <a:fillRect l="-1232" t="-2970" b="-14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14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n-US" dirty="0" smtClean="0"/>
              <a:t>tep </a:t>
            </a:r>
            <a:r>
              <a:rPr lang="en-US" dirty="0"/>
              <a:t>2: Build an HFG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12648" y="6339840"/>
            <a:ext cx="1292352" cy="365760"/>
          </a:xfrm>
        </p:spPr>
        <p:txBody>
          <a:bodyPr/>
          <a:lstStyle/>
          <a:p>
            <a:fld id="{DEF44CF0-85CE-42A4-AA82-F85AEEBDEB77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78" name="Group 77"/>
          <p:cNvGrpSpPr/>
          <p:nvPr/>
        </p:nvGrpSpPr>
        <p:grpSpPr>
          <a:xfrm>
            <a:off x="2599039" y="2462172"/>
            <a:ext cx="2849563" cy="2231363"/>
            <a:chOff x="2754487" y="3956080"/>
            <a:chExt cx="2849563" cy="2231363"/>
          </a:xfrm>
        </p:grpSpPr>
        <p:sp>
          <p:nvSpPr>
            <p:cNvPr id="9" name="Rectangle 7"/>
            <p:cNvSpPr/>
            <p:nvPr/>
          </p:nvSpPr>
          <p:spPr bwMode="auto">
            <a:xfrm>
              <a:off x="2862438" y="4496756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B1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7"/>
            <p:cNvSpPr/>
            <p:nvPr/>
          </p:nvSpPr>
          <p:spPr bwMode="auto">
            <a:xfrm>
              <a:off x="2862438" y="5142868"/>
              <a:ext cx="563562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53"/>
            <p:cNvCxnSpPr>
              <a:stCxn id="9" idx="2"/>
              <a:endCxn id="10" idx="0"/>
            </p:cNvCxnSpPr>
            <p:nvPr/>
          </p:nvCxnSpPr>
          <p:spPr bwMode="auto">
            <a:xfrm>
              <a:off x="3143425" y="4893631"/>
              <a:ext cx="1588" cy="2492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 bwMode="auto">
            <a:xfrm>
              <a:off x="2864025" y="5784218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B6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53"/>
            <p:cNvCxnSpPr>
              <a:stCxn id="10" idx="2"/>
              <a:endCxn id="12" idx="0"/>
            </p:cNvCxnSpPr>
            <p:nvPr/>
          </p:nvCxnSpPr>
          <p:spPr bwMode="auto">
            <a:xfrm>
              <a:off x="3143425" y="5539743"/>
              <a:ext cx="1588" cy="2444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7"/>
            <p:cNvSpPr/>
            <p:nvPr/>
          </p:nvSpPr>
          <p:spPr bwMode="auto">
            <a:xfrm>
              <a:off x="3897487" y="4496756"/>
              <a:ext cx="563563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B2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7"/>
            <p:cNvSpPr/>
            <p:nvPr/>
          </p:nvSpPr>
          <p:spPr bwMode="auto">
            <a:xfrm>
              <a:off x="3895900" y="5149218"/>
              <a:ext cx="563562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53"/>
            <p:cNvCxnSpPr>
              <a:stCxn id="14" idx="2"/>
              <a:endCxn id="15" idx="0"/>
            </p:cNvCxnSpPr>
            <p:nvPr/>
          </p:nvCxnSpPr>
          <p:spPr bwMode="auto">
            <a:xfrm flipH="1">
              <a:off x="4176887" y="4893631"/>
              <a:ext cx="3175" cy="2555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7"/>
            <p:cNvSpPr/>
            <p:nvPr/>
          </p:nvSpPr>
          <p:spPr bwMode="auto">
            <a:xfrm>
              <a:off x="3897487" y="5790568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Straight Arrow Connector 53"/>
            <p:cNvCxnSpPr>
              <a:stCxn id="15" idx="2"/>
              <a:endCxn id="17" idx="0"/>
            </p:cNvCxnSpPr>
            <p:nvPr/>
          </p:nvCxnSpPr>
          <p:spPr bwMode="auto">
            <a:xfrm>
              <a:off x="4176887" y="5546093"/>
              <a:ext cx="1588" cy="2444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7"/>
            <p:cNvSpPr/>
            <p:nvPr/>
          </p:nvSpPr>
          <p:spPr bwMode="auto">
            <a:xfrm>
              <a:off x="4915383" y="4496756"/>
              <a:ext cx="563563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B3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7"/>
            <p:cNvSpPr/>
            <p:nvPr/>
          </p:nvSpPr>
          <p:spPr bwMode="auto">
            <a:xfrm>
              <a:off x="4915383" y="5148270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B4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53"/>
            <p:cNvCxnSpPr>
              <a:stCxn id="19" idx="2"/>
              <a:endCxn id="20" idx="0"/>
            </p:cNvCxnSpPr>
            <p:nvPr/>
          </p:nvCxnSpPr>
          <p:spPr bwMode="auto">
            <a:xfrm flipH="1">
              <a:off x="5196371" y="4893631"/>
              <a:ext cx="794" cy="2546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7"/>
            <p:cNvSpPr/>
            <p:nvPr/>
          </p:nvSpPr>
          <p:spPr bwMode="auto">
            <a:xfrm>
              <a:off x="2754487" y="3961768"/>
              <a:ext cx="792163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Loop1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7"/>
            <p:cNvSpPr/>
            <p:nvPr/>
          </p:nvSpPr>
          <p:spPr bwMode="auto">
            <a:xfrm>
              <a:off x="3793991" y="3956080"/>
              <a:ext cx="792163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Loop2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7"/>
            <p:cNvSpPr/>
            <p:nvPr/>
          </p:nvSpPr>
          <p:spPr bwMode="auto">
            <a:xfrm>
              <a:off x="4811887" y="3961768"/>
              <a:ext cx="792163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Loop3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Curved Connector 24"/>
            <p:cNvCxnSpPr>
              <a:stCxn id="17" idx="2"/>
              <a:endCxn id="14" idx="1"/>
            </p:cNvCxnSpPr>
            <p:nvPr/>
          </p:nvCxnSpPr>
          <p:spPr>
            <a:xfrm rot="5400000" flipH="1">
              <a:off x="3291856" y="5300825"/>
              <a:ext cx="1492249" cy="280988"/>
            </a:xfrm>
            <a:prstGeom prst="curvedConnector4">
              <a:avLst>
                <a:gd name="adj1" fmla="val -15319"/>
                <a:gd name="adj2" fmla="val 181356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3318050" y="4600891"/>
                  <a:ext cx="6858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/>
                              </a:rPr>
                              <m:t>52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8050" y="4600891"/>
                  <a:ext cx="685800" cy="307777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Curved Connector 26"/>
            <p:cNvCxnSpPr>
              <a:stCxn id="20" idx="2"/>
              <a:endCxn id="19" idx="1"/>
            </p:cNvCxnSpPr>
            <p:nvPr/>
          </p:nvCxnSpPr>
          <p:spPr>
            <a:xfrm rot="5400000" flipH="1">
              <a:off x="4630901" y="4979676"/>
              <a:ext cx="849951" cy="280988"/>
            </a:xfrm>
            <a:prstGeom prst="curvedConnector4">
              <a:avLst>
                <a:gd name="adj1" fmla="val -26896"/>
                <a:gd name="adj2" fmla="val 181356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4507087" y="4823803"/>
                  <a:ext cx="6858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/>
                              </a:rPr>
                              <m:t>43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7087" y="4823803"/>
                  <a:ext cx="685800" cy="307777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 50"/>
            <p:cNvSpPr/>
            <p:nvPr/>
          </p:nvSpPr>
          <p:spPr>
            <a:xfrm>
              <a:off x="2789743" y="5085101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Loop2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30" name="矩形 50"/>
            <p:cNvSpPr/>
            <p:nvPr/>
          </p:nvSpPr>
          <p:spPr>
            <a:xfrm>
              <a:off x="3824947" y="5092067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Loop3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6096000" y="1896992"/>
            <a:ext cx="2861338" cy="2731448"/>
            <a:chOff x="6251448" y="3390900"/>
            <a:chExt cx="2861338" cy="2731448"/>
          </a:xfrm>
        </p:grpSpPr>
        <p:sp>
          <p:nvSpPr>
            <p:cNvPr id="31" name="Rectangle 7"/>
            <p:cNvSpPr/>
            <p:nvPr/>
          </p:nvSpPr>
          <p:spPr bwMode="auto">
            <a:xfrm>
              <a:off x="6251448" y="3806186"/>
              <a:ext cx="762000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F1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7"/>
            <p:cNvSpPr/>
            <p:nvPr/>
          </p:nvSpPr>
          <p:spPr bwMode="auto">
            <a:xfrm>
              <a:off x="6371174" y="4431661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B1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7"/>
            <p:cNvSpPr/>
            <p:nvPr/>
          </p:nvSpPr>
          <p:spPr bwMode="auto">
            <a:xfrm>
              <a:off x="6371174" y="5077773"/>
              <a:ext cx="563562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Straight Arrow Connector 53"/>
            <p:cNvCxnSpPr>
              <a:stCxn id="32" idx="2"/>
              <a:endCxn id="33" idx="0"/>
            </p:cNvCxnSpPr>
            <p:nvPr/>
          </p:nvCxnSpPr>
          <p:spPr bwMode="auto">
            <a:xfrm>
              <a:off x="6652161" y="4828536"/>
              <a:ext cx="1588" cy="2492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 bwMode="auto">
            <a:xfrm>
              <a:off x="6372761" y="5719123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B6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Straight Arrow Connector 53"/>
            <p:cNvCxnSpPr>
              <a:stCxn id="33" idx="2"/>
              <a:endCxn id="35" idx="0"/>
            </p:cNvCxnSpPr>
            <p:nvPr/>
          </p:nvCxnSpPr>
          <p:spPr bwMode="auto">
            <a:xfrm>
              <a:off x="6652161" y="5474648"/>
              <a:ext cx="1588" cy="2444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53"/>
            <p:cNvCxnSpPr>
              <a:stCxn id="31" idx="2"/>
              <a:endCxn id="32" idx="0"/>
            </p:cNvCxnSpPr>
            <p:nvPr/>
          </p:nvCxnSpPr>
          <p:spPr bwMode="auto">
            <a:xfrm>
              <a:off x="6632448" y="4203061"/>
              <a:ext cx="19714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7"/>
            <p:cNvSpPr/>
            <p:nvPr/>
          </p:nvSpPr>
          <p:spPr bwMode="auto">
            <a:xfrm>
              <a:off x="7406223" y="4431661"/>
              <a:ext cx="563563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B2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Arrow Connector 53"/>
            <p:cNvCxnSpPr>
              <a:stCxn id="40" idx="2"/>
              <a:endCxn id="38" idx="0"/>
            </p:cNvCxnSpPr>
            <p:nvPr/>
          </p:nvCxnSpPr>
          <p:spPr bwMode="auto">
            <a:xfrm>
              <a:off x="7687211" y="4198298"/>
              <a:ext cx="1587" cy="233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7"/>
            <p:cNvSpPr/>
            <p:nvPr/>
          </p:nvSpPr>
          <p:spPr bwMode="auto">
            <a:xfrm>
              <a:off x="7406223" y="3801423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7"/>
            <p:cNvSpPr/>
            <p:nvPr/>
          </p:nvSpPr>
          <p:spPr bwMode="auto">
            <a:xfrm>
              <a:off x="7404636" y="5084123"/>
              <a:ext cx="563562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Straight Arrow Connector 53"/>
            <p:cNvCxnSpPr>
              <a:stCxn id="38" idx="2"/>
              <a:endCxn id="41" idx="0"/>
            </p:cNvCxnSpPr>
            <p:nvPr/>
          </p:nvCxnSpPr>
          <p:spPr bwMode="auto">
            <a:xfrm flipH="1">
              <a:off x="7685623" y="4828536"/>
              <a:ext cx="3175" cy="2555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7"/>
            <p:cNvSpPr/>
            <p:nvPr/>
          </p:nvSpPr>
          <p:spPr bwMode="auto">
            <a:xfrm>
              <a:off x="7406223" y="5725473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Straight Arrow Connector 53"/>
            <p:cNvCxnSpPr>
              <a:stCxn id="41" idx="2"/>
              <a:endCxn id="43" idx="0"/>
            </p:cNvCxnSpPr>
            <p:nvPr/>
          </p:nvCxnSpPr>
          <p:spPr bwMode="auto">
            <a:xfrm>
              <a:off x="7685623" y="5480998"/>
              <a:ext cx="1588" cy="2444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7"/>
            <p:cNvSpPr/>
            <p:nvPr/>
          </p:nvSpPr>
          <p:spPr bwMode="auto">
            <a:xfrm>
              <a:off x="8424119" y="4431661"/>
              <a:ext cx="563563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B3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Straight Arrow Connector 53"/>
            <p:cNvCxnSpPr>
              <a:stCxn id="47" idx="2"/>
              <a:endCxn id="45" idx="0"/>
            </p:cNvCxnSpPr>
            <p:nvPr/>
          </p:nvCxnSpPr>
          <p:spPr bwMode="auto">
            <a:xfrm>
              <a:off x="8705107" y="4198298"/>
              <a:ext cx="1587" cy="2333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7"/>
            <p:cNvSpPr/>
            <p:nvPr/>
          </p:nvSpPr>
          <p:spPr bwMode="auto">
            <a:xfrm>
              <a:off x="8424119" y="3801423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7"/>
            <p:cNvSpPr/>
            <p:nvPr/>
          </p:nvSpPr>
          <p:spPr bwMode="auto">
            <a:xfrm>
              <a:off x="8424119" y="5083175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B4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Arrow Connector 53"/>
            <p:cNvCxnSpPr>
              <a:stCxn id="45" idx="2"/>
              <a:endCxn id="48" idx="0"/>
            </p:cNvCxnSpPr>
            <p:nvPr/>
          </p:nvCxnSpPr>
          <p:spPr bwMode="auto">
            <a:xfrm flipH="1">
              <a:off x="8705107" y="4828536"/>
              <a:ext cx="794" cy="2546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7"/>
            <p:cNvSpPr/>
            <p:nvPr/>
          </p:nvSpPr>
          <p:spPr bwMode="auto">
            <a:xfrm>
              <a:off x="6263223" y="3396588"/>
              <a:ext cx="792163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Loop1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7"/>
            <p:cNvSpPr/>
            <p:nvPr/>
          </p:nvSpPr>
          <p:spPr bwMode="auto">
            <a:xfrm>
              <a:off x="7302727" y="3390900"/>
              <a:ext cx="792163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Loop2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7"/>
            <p:cNvSpPr/>
            <p:nvPr/>
          </p:nvSpPr>
          <p:spPr bwMode="auto">
            <a:xfrm>
              <a:off x="8320623" y="3396588"/>
              <a:ext cx="792163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 smtClean="0">
                  <a:solidFill>
                    <a:schemeClr val="tx1"/>
                  </a:solidFill>
                </a:rPr>
                <a:t>Loop3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0"/>
            <p:cNvSpPr/>
            <p:nvPr/>
          </p:nvSpPr>
          <p:spPr>
            <a:xfrm>
              <a:off x="6299273" y="5032707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Loop2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54" name="矩形 50"/>
            <p:cNvSpPr/>
            <p:nvPr/>
          </p:nvSpPr>
          <p:spPr>
            <a:xfrm>
              <a:off x="7334477" y="5039673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Loop3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55" name="矩形 50"/>
            <p:cNvSpPr/>
            <p:nvPr/>
          </p:nvSpPr>
          <p:spPr>
            <a:xfrm>
              <a:off x="7344465" y="3750955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Loop2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56" name="矩形 50"/>
            <p:cNvSpPr/>
            <p:nvPr/>
          </p:nvSpPr>
          <p:spPr>
            <a:xfrm>
              <a:off x="8352373" y="3771569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Loop3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88244" y="1524000"/>
            <a:ext cx="1359725" cy="3652837"/>
            <a:chOff x="643692" y="3017908"/>
            <a:chExt cx="1359725" cy="36528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1301715" y="4671589"/>
                  <a:ext cx="685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1715" y="4671589"/>
                  <a:ext cx="685800" cy="338554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1317617" y="3339211"/>
                  <a:ext cx="685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7617" y="3339211"/>
                  <a:ext cx="685800" cy="338554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1310327" y="4005504"/>
                  <a:ext cx="685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0327" y="4005504"/>
                  <a:ext cx="685800" cy="338554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1293764" y="5304709"/>
                  <a:ext cx="685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45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764" y="5304709"/>
                  <a:ext cx="685800" cy="338554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1289123" y="5946721"/>
                  <a:ext cx="685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56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123" y="5946721"/>
                  <a:ext cx="685800" cy="338554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0" name="Group 79"/>
            <p:cNvGrpSpPr/>
            <p:nvPr/>
          </p:nvGrpSpPr>
          <p:grpSpPr>
            <a:xfrm>
              <a:off x="643692" y="3017908"/>
              <a:ext cx="1012063" cy="3652837"/>
              <a:chOff x="643692" y="3017908"/>
              <a:chExt cx="1012063" cy="3652837"/>
            </a:xfrm>
          </p:grpSpPr>
          <p:sp>
            <p:nvSpPr>
              <p:cNvPr id="58" name="Rectangle 7"/>
              <p:cNvSpPr/>
              <p:nvPr/>
            </p:nvSpPr>
            <p:spPr bwMode="auto">
              <a:xfrm>
                <a:off x="1090605" y="3017908"/>
                <a:ext cx="561975" cy="396875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 smtClean="0">
                    <a:solidFill>
                      <a:schemeClr val="tx1"/>
                    </a:solidFill>
                  </a:rPr>
                  <a:t>B1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7"/>
              <p:cNvSpPr/>
              <p:nvPr/>
            </p:nvSpPr>
            <p:spPr bwMode="auto">
              <a:xfrm>
                <a:off x="1090605" y="3664020"/>
                <a:ext cx="561975" cy="396875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 smtClean="0">
                    <a:solidFill>
                      <a:schemeClr val="tx1"/>
                    </a:solidFill>
                  </a:rPr>
                  <a:t>B2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0" name="Straight Arrow Connector 53"/>
              <p:cNvCxnSpPr>
                <a:stCxn id="58" idx="2"/>
                <a:endCxn id="59" idx="0"/>
              </p:cNvCxnSpPr>
              <p:nvPr/>
            </p:nvCxnSpPr>
            <p:spPr bwMode="auto">
              <a:xfrm>
                <a:off x="1371593" y="3414783"/>
                <a:ext cx="0" cy="2492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tangle 7"/>
              <p:cNvSpPr/>
              <p:nvPr/>
            </p:nvSpPr>
            <p:spPr bwMode="auto">
              <a:xfrm>
                <a:off x="1092192" y="4984820"/>
                <a:ext cx="561975" cy="396875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 smtClean="0">
                    <a:solidFill>
                      <a:schemeClr val="tx1"/>
                    </a:solidFill>
                  </a:rPr>
                  <a:t>B4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 bwMode="auto">
              <a:xfrm>
                <a:off x="1092192" y="5630933"/>
                <a:ext cx="563563" cy="396875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>
                    <a:solidFill>
                      <a:schemeClr val="tx1"/>
                    </a:solidFill>
                  </a:rPr>
                  <a:t>B5</a:t>
                </a:r>
              </a:p>
            </p:txBody>
          </p:sp>
          <p:cxnSp>
            <p:nvCxnSpPr>
              <p:cNvPr id="63" name="Straight Arrow Connector 53"/>
              <p:cNvCxnSpPr>
                <a:stCxn id="61" idx="2"/>
                <a:endCxn id="62" idx="0"/>
              </p:cNvCxnSpPr>
              <p:nvPr/>
            </p:nvCxnSpPr>
            <p:spPr bwMode="auto">
              <a:xfrm>
                <a:off x="1373180" y="5381695"/>
                <a:ext cx="0" cy="24923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/>
              <p:cNvSpPr/>
              <p:nvPr/>
            </p:nvSpPr>
            <p:spPr bwMode="auto">
              <a:xfrm>
                <a:off x="1093780" y="6273870"/>
                <a:ext cx="561975" cy="396875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 smtClean="0">
                    <a:solidFill>
                      <a:schemeClr val="tx1"/>
                    </a:solidFill>
                  </a:rPr>
                  <a:t>B6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5" name="Straight Arrow Connector 53"/>
              <p:cNvCxnSpPr>
                <a:stCxn id="62" idx="2"/>
                <a:endCxn id="64" idx="0"/>
              </p:cNvCxnSpPr>
              <p:nvPr/>
            </p:nvCxnSpPr>
            <p:spPr bwMode="auto">
              <a:xfrm>
                <a:off x="1373180" y="6027808"/>
                <a:ext cx="1587" cy="24606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53"/>
              <p:cNvCxnSpPr>
                <a:stCxn id="59" idx="2"/>
                <a:endCxn id="67" idx="0"/>
              </p:cNvCxnSpPr>
              <p:nvPr/>
            </p:nvCxnSpPr>
            <p:spPr bwMode="auto">
              <a:xfrm flipH="1">
                <a:off x="1370799" y="4060895"/>
                <a:ext cx="794" cy="2682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ectangle 7"/>
              <p:cNvSpPr/>
              <p:nvPr/>
            </p:nvSpPr>
            <p:spPr bwMode="auto">
              <a:xfrm>
                <a:off x="1089017" y="4329183"/>
                <a:ext cx="563563" cy="396875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 smtClean="0">
                    <a:solidFill>
                      <a:schemeClr val="tx1"/>
                    </a:solidFill>
                  </a:rPr>
                  <a:t>B3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8" name="Straight Arrow Connector 53"/>
              <p:cNvCxnSpPr>
                <a:stCxn id="67" idx="2"/>
                <a:endCxn id="61" idx="0"/>
              </p:cNvCxnSpPr>
              <p:nvPr/>
            </p:nvCxnSpPr>
            <p:spPr bwMode="auto">
              <a:xfrm>
                <a:off x="1370005" y="4726058"/>
                <a:ext cx="3175" cy="25876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urved Connector 72"/>
              <p:cNvCxnSpPr>
                <a:stCxn id="62" idx="2"/>
                <a:endCxn id="59" idx="1"/>
              </p:cNvCxnSpPr>
              <p:nvPr/>
            </p:nvCxnSpPr>
            <p:spPr>
              <a:xfrm rot="5400000" flipH="1">
                <a:off x="149615" y="4803449"/>
                <a:ext cx="2165350" cy="283369"/>
              </a:xfrm>
              <a:prstGeom prst="curvedConnector4">
                <a:avLst>
                  <a:gd name="adj1" fmla="val -5621"/>
                  <a:gd name="adj2" fmla="val 268677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urved Connector 73"/>
              <p:cNvCxnSpPr>
                <a:stCxn id="61" idx="2"/>
                <a:endCxn id="67" idx="1"/>
              </p:cNvCxnSpPr>
              <p:nvPr/>
            </p:nvCxnSpPr>
            <p:spPr>
              <a:xfrm rot="5400000" flipH="1">
                <a:off x="804062" y="4812577"/>
                <a:ext cx="854074" cy="284163"/>
              </a:xfrm>
              <a:prstGeom prst="curvedConnector4">
                <a:avLst>
                  <a:gd name="adj1" fmla="val -15643"/>
                  <a:gd name="adj2" fmla="val 197163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643692" y="4677670"/>
                    <a:ext cx="68580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43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75" name="TextBox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692" y="4677670"/>
                    <a:ext cx="685800" cy="338554"/>
                  </a:xfrm>
                  <a:prstGeom prst="rect">
                    <a:avLst/>
                  </a:prstGeom>
                  <a:blipFill rotWithShape="0"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6" name="Down Arrow 75"/>
          <p:cNvSpPr/>
          <p:nvPr/>
        </p:nvSpPr>
        <p:spPr>
          <a:xfrm rot="16200000">
            <a:off x="1819123" y="3224212"/>
            <a:ext cx="762000" cy="381000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Down Arrow 76"/>
          <p:cNvSpPr/>
          <p:nvPr/>
        </p:nvSpPr>
        <p:spPr>
          <a:xfrm rot="16200000">
            <a:off x="5521508" y="3171031"/>
            <a:ext cx="762000" cy="38100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8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</a:t>
            </a:r>
            <a:r>
              <a:rPr lang="en-US" dirty="0"/>
              <a:t>3a: </a:t>
            </a:r>
            <a:r>
              <a:rPr lang="en-US" dirty="0" smtClean="0"/>
              <a:t>Create nodes of CCFG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2209800" y="1752600"/>
            <a:ext cx="2292922" cy="3762375"/>
            <a:chOff x="4309088" y="1897154"/>
            <a:chExt cx="2292922" cy="3762375"/>
          </a:xfrm>
        </p:grpSpPr>
        <p:sp>
          <p:nvSpPr>
            <p:cNvPr id="6" name="Rectangle 7"/>
            <p:cNvSpPr/>
            <p:nvPr/>
          </p:nvSpPr>
          <p:spPr bwMode="auto">
            <a:xfrm>
              <a:off x="5499713" y="1947954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7"/>
            <p:cNvSpPr/>
            <p:nvPr/>
          </p:nvSpPr>
          <p:spPr bwMode="auto">
            <a:xfrm>
              <a:off x="5163163" y="5211854"/>
              <a:ext cx="561975" cy="39687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10" idx="2"/>
              <a:endCxn id="12" idx="0"/>
            </p:cNvCxnSpPr>
            <p:nvPr/>
          </p:nvCxnSpPr>
          <p:spPr bwMode="auto">
            <a:xfrm flipH="1">
              <a:off x="5296006" y="2913154"/>
              <a:ext cx="484695" cy="398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2"/>
              <a:endCxn id="11" idx="0"/>
            </p:cNvCxnSpPr>
            <p:nvPr/>
          </p:nvCxnSpPr>
          <p:spPr bwMode="auto">
            <a:xfrm>
              <a:off x="5780701" y="2913154"/>
              <a:ext cx="445824" cy="387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 bwMode="auto">
            <a:xfrm>
              <a:off x="5499713" y="2516279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B1</a:t>
              </a:r>
            </a:p>
          </p:txBody>
        </p:sp>
        <p:sp>
          <p:nvSpPr>
            <p:cNvPr id="11" name="Rectangle 7"/>
            <p:cNvSpPr/>
            <p:nvPr/>
          </p:nvSpPr>
          <p:spPr bwMode="auto">
            <a:xfrm>
              <a:off x="5945537" y="3300504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B3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5014224" y="3311617"/>
              <a:ext cx="563563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B2</a:t>
              </a:r>
            </a:p>
          </p:txBody>
        </p:sp>
        <p:sp>
          <p:nvSpPr>
            <p:cNvPr id="13" name="Rectangle 7"/>
            <p:cNvSpPr/>
            <p:nvPr/>
          </p:nvSpPr>
          <p:spPr bwMode="auto">
            <a:xfrm>
              <a:off x="5952504" y="4624479"/>
              <a:ext cx="563562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7"/>
            <p:cNvSpPr/>
            <p:nvPr/>
          </p:nvSpPr>
          <p:spPr bwMode="auto">
            <a:xfrm>
              <a:off x="5945537" y="3913279"/>
              <a:ext cx="561975" cy="39687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53"/>
            <p:cNvCxnSpPr>
              <a:stCxn id="12" idx="2"/>
              <a:endCxn id="7" idx="0"/>
            </p:cNvCxnSpPr>
            <p:nvPr/>
          </p:nvCxnSpPr>
          <p:spPr bwMode="auto">
            <a:xfrm>
              <a:off x="5296006" y="3708492"/>
              <a:ext cx="148145" cy="15033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53"/>
            <p:cNvCxnSpPr>
              <a:stCxn id="11" idx="2"/>
              <a:endCxn id="14" idx="0"/>
            </p:cNvCxnSpPr>
            <p:nvPr/>
          </p:nvCxnSpPr>
          <p:spPr bwMode="auto">
            <a:xfrm>
              <a:off x="6226525" y="3697379"/>
              <a:ext cx="0" cy="2159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2"/>
              <a:endCxn id="10" idx="0"/>
            </p:cNvCxnSpPr>
            <p:nvPr/>
          </p:nvCxnSpPr>
          <p:spPr bwMode="auto">
            <a:xfrm>
              <a:off x="5780701" y="2344829"/>
              <a:ext cx="0" cy="171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53"/>
            <p:cNvCxnSpPr>
              <a:stCxn id="14" idx="2"/>
              <a:endCxn id="13" idx="0"/>
            </p:cNvCxnSpPr>
            <p:nvPr/>
          </p:nvCxnSpPr>
          <p:spPr bwMode="auto">
            <a:xfrm>
              <a:off x="6226525" y="4310154"/>
              <a:ext cx="7760" cy="3143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50"/>
            <p:cNvSpPr/>
            <p:nvPr/>
          </p:nvSpPr>
          <p:spPr>
            <a:xfrm>
              <a:off x="5415576" y="1897154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F1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0" name="矩形 50"/>
            <p:cNvSpPr/>
            <p:nvPr/>
          </p:nvSpPr>
          <p:spPr>
            <a:xfrm>
              <a:off x="5079026" y="5161054"/>
              <a:ext cx="730250" cy="498475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B5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21" name="Straight Arrow Connector 53"/>
            <p:cNvCxnSpPr>
              <a:stCxn id="13" idx="2"/>
              <a:endCxn id="7" idx="0"/>
            </p:cNvCxnSpPr>
            <p:nvPr/>
          </p:nvCxnSpPr>
          <p:spPr bwMode="auto">
            <a:xfrm flipH="1">
              <a:off x="5444151" y="5021354"/>
              <a:ext cx="790134" cy="190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1" idx="1"/>
            </p:cNvCxnSpPr>
            <p:nvPr/>
          </p:nvCxnSpPr>
          <p:spPr bwMode="auto">
            <a:xfrm flipH="1" flipV="1">
              <a:off x="5296005" y="2913154"/>
              <a:ext cx="649532" cy="585788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7"/>
            <p:cNvSpPr/>
            <p:nvPr/>
          </p:nvSpPr>
          <p:spPr bwMode="auto">
            <a:xfrm>
              <a:off x="4309088" y="2602335"/>
              <a:ext cx="1143000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Call to F2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50"/>
            <p:cNvSpPr/>
            <p:nvPr/>
          </p:nvSpPr>
          <p:spPr>
            <a:xfrm>
              <a:off x="5871760" y="3862478"/>
              <a:ext cx="730250" cy="498475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Loop2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26" name="椭圆 49"/>
          <p:cNvSpPr/>
          <p:nvPr/>
        </p:nvSpPr>
        <p:spPr>
          <a:xfrm>
            <a:off x="5867400" y="16002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菱形 4"/>
          <p:cNvSpPr/>
          <p:nvPr/>
        </p:nvSpPr>
        <p:spPr>
          <a:xfrm>
            <a:off x="5404556" y="2701523"/>
            <a:ext cx="1579563" cy="420688"/>
          </a:xfrm>
          <a:prstGeom prst="diamond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8" name="椭圆 62"/>
          <p:cNvSpPr/>
          <p:nvPr/>
        </p:nvSpPr>
        <p:spPr>
          <a:xfrm>
            <a:off x="6629400" y="35052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矩形 71"/>
          <p:cNvSpPr/>
          <p:nvPr/>
        </p:nvSpPr>
        <p:spPr>
          <a:xfrm>
            <a:off x="6705600" y="4495800"/>
            <a:ext cx="580741" cy="525554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 smtClean="0">
                <a:solidFill>
                  <a:schemeClr val="tx1"/>
                </a:solidFill>
                <a:cs typeface="Arial" pitchFamily="34" charset="0"/>
              </a:rPr>
              <a:t>L2</a:t>
            </a:r>
            <a:endParaRPr lang="zh-CN" altLang="en-US" sz="16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71896" y="2715171"/>
            <a:ext cx="10937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dirty="0">
                <a:latin typeface="+mn-lt"/>
              </a:rPr>
              <a:t>condition</a:t>
            </a:r>
            <a:endParaRPr lang="en-US" dirty="0">
              <a:latin typeface="+mn-lt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70790" y="1752600"/>
            <a:ext cx="856446" cy="533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3736877" y="3084514"/>
            <a:ext cx="856446" cy="533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3736877" y="3689350"/>
            <a:ext cx="856446" cy="533400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3281765" y="2311308"/>
            <a:ext cx="856446" cy="5334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3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3b: Add edges in CCFG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2209800" y="1752600"/>
            <a:ext cx="2292922" cy="3762375"/>
            <a:chOff x="4309088" y="1897154"/>
            <a:chExt cx="2292922" cy="3762375"/>
          </a:xfrm>
        </p:grpSpPr>
        <p:sp>
          <p:nvSpPr>
            <p:cNvPr id="6" name="Rectangle 7"/>
            <p:cNvSpPr/>
            <p:nvPr/>
          </p:nvSpPr>
          <p:spPr bwMode="auto">
            <a:xfrm>
              <a:off x="5499713" y="1947954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7"/>
            <p:cNvSpPr/>
            <p:nvPr/>
          </p:nvSpPr>
          <p:spPr bwMode="auto">
            <a:xfrm>
              <a:off x="5163163" y="5211854"/>
              <a:ext cx="561975" cy="39687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10" idx="2"/>
              <a:endCxn id="12" idx="0"/>
            </p:cNvCxnSpPr>
            <p:nvPr/>
          </p:nvCxnSpPr>
          <p:spPr bwMode="auto">
            <a:xfrm flipH="1">
              <a:off x="5296006" y="2913154"/>
              <a:ext cx="484695" cy="398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2"/>
              <a:endCxn id="11" idx="0"/>
            </p:cNvCxnSpPr>
            <p:nvPr/>
          </p:nvCxnSpPr>
          <p:spPr bwMode="auto">
            <a:xfrm>
              <a:off x="5780701" y="2913154"/>
              <a:ext cx="445824" cy="387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 bwMode="auto">
            <a:xfrm>
              <a:off x="5499713" y="2516279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B1</a:t>
              </a:r>
            </a:p>
          </p:txBody>
        </p:sp>
        <p:sp>
          <p:nvSpPr>
            <p:cNvPr id="11" name="Rectangle 7"/>
            <p:cNvSpPr/>
            <p:nvPr/>
          </p:nvSpPr>
          <p:spPr bwMode="auto">
            <a:xfrm>
              <a:off x="5945537" y="3300504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B3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5014224" y="3311617"/>
              <a:ext cx="563563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B2</a:t>
              </a:r>
            </a:p>
          </p:txBody>
        </p:sp>
        <p:sp>
          <p:nvSpPr>
            <p:cNvPr id="13" name="Rectangle 7"/>
            <p:cNvSpPr/>
            <p:nvPr/>
          </p:nvSpPr>
          <p:spPr bwMode="auto">
            <a:xfrm>
              <a:off x="5952504" y="4624479"/>
              <a:ext cx="563562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7"/>
            <p:cNvSpPr/>
            <p:nvPr/>
          </p:nvSpPr>
          <p:spPr bwMode="auto">
            <a:xfrm>
              <a:off x="5945537" y="3913279"/>
              <a:ext cx="561975" cy="39687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53"/>
            <p:cNvCxnSpPr>
              <a:stCxn id="12" idx="2"/>
              <a:endCxn id="7" idx="0"/>
            </p:cNvCxnSpPr>
            <p:nvPr/>
          </p:nvCxnSpPr>
          <p:spPr bwMode="auto">
            <a:xfrm>
              <a:off x="5296006" y="3708492"/>
              <a:ext cx="148145" cy="15033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53"/>
            <p:cNvCxnSpPr>
              <a:stCxn id="11" idx="2"/>
              <a:endCxn id="14" idx="0"/>
            </p:cNvCxnSpPr>
            <p:nvPr/>
          </p:nvCxnSpPr>
          <p:spPr bwMode="auto">
            <a:xfrm>
              <a:off x="6226525" y="3697379"/>
              <a:ext cx="0" cy="2159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2"/>
              <a:endCxn id="10" idx="0"/>
            </p:cNvCxnSpPr>
            <p:nvPr/>
          </p:nvCxnSpPr>
          <p:spPr bwMode="auto">
            <a:xfrm>
              <a:off x="5780701" y="2344829"/>
              <a:ext cx="0" cy="171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53"/>
            <p:cNvCxnSpPr>
              <a:stCxn id="14" idx="2"/>
              <a:endCxn id="13" idx="0"/>
            </p:cNvCxnSpPr>
            <p:nvPr/>
          </p:nvCxnSpPr>
          <p:spPr bwMode="auto">
            <a:xfrm>
              <a:off x="6226525" y="4310154"/>
              <a:ext cx="7760" cy="3143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50"/>
            <p:cNvSpPr/>
            <p:nvPr/>
          </p:nvSpPr>
          <p:spPr>
            <a:xfrm>
              <a:off x="5415576" y="1897154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F1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0" name="矩形 50"/>
            <p:cNvSpPr/>
            <p:nvPr/>
          </p:nvSpPr>
          <p:spPr>
            <a:xfrm>
              <a:off x="5079026" y="5161054"/>
              <a:ext cx="730250" cy="498475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B5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21" name="Straight Arrow Connector 53"/>
            <p:cNvCxnSpPr>
              <a:stCxn id="13" idx="2"/>
              <a:endCxn id="7" idx="0"/>
            </p:cNvCxnSpPr>
            <p:nvPr/>
          </p:nvCxnSpPr>
          <p:spPr bwMode="auto">
            <a:xfrm flipH="1">
              <a:off x="5444151" y="5021354"/>
              <a:ext cx="790134" cy="190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1" idx="1"/>
            </p:cNvCxnSpPr>
            <p:nvPr/>
          </p:nvCxnSpPr>
          <p:spPr bwMode="auto">
            <a:xfrm flipH="1" flipV="1">
              <a:off x="5296005" y="2913154"/>
              <a:ext cx="649532" cy="585788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7"/>
            <p:cNvSpPr/>
            <p:nvPr/>
          </p:nvSpPr>
          <p:spPr bwMode="auto">
            <a:xfrm>
              <a:off x="4309088" y="2602335"/>
              <a:ext cx="1143000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Call to F2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50"/>
            <p:cNvSpPr/>
            <p:nvPr/>
          </p:nvSpPr>
          <p:spPr>
            <a:xfrm>
              <a:off x="5871760" y="3862478"/>
              <a:ext cx="730250" cy="498475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Loop2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26" name="椭圆 49"/>
          <p:cNvSpPr/>
          <p:nvPr/>
        </p:nvSpPr>
        <p:spPr>
          <a:xfrm>
            <a:off x="5867400" y="16764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菱形 4"/>
          <p:cNvSpPr/>
          <p:nvPr/>
        </p:nvSpPr>
        <p:spPr>
          <a:xfrm>
            <a:off x="5404556" y="2701523"/>
            <a:ext cx="1579563" cy="420688"/>
          </a:xfrm>
          <a:prstGeom prst="diamond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8" name="椭圆 62"/>
          <p:cNvSpPr/>
          <p:nvPr/>
        </p:nvSpPr>
        <p:spPr>
          <a:xfrm>
            <a:off x="6629400" y="35052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矩形 71"/>
          <p:cNvSpPr/>
          <p:nvPr/>
        </p:nvSpPr>
        <p:spPr>
          <a:xfrm>
            <a:off x="7467600" y="3585323"/>
            <a:ext cx="580741" cy="525554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 smtClean="0">
                <a:solidFill>
                  <a:schemeClr val="tx1"/>
                </a:solidFill>
                <a:cs typeface="Arial" pitchFamily="34" charset="0"/>
              </a:rPr>
              <a:t>L2</a:t>
            </a:r>
            <a:endParaRPr lang="zh-CN" altLang="en-US" sz="16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71896" y="2715171"/>
            <a:ext cx="10937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dirty="0">
                <a:latin typeface="+mn-lt"/>
              </a:rPr>
              <a:t>condition</a:t>
            </a:r>
            <a:endParaRPr lang="en-US" dirty="0">
              <a:latin typeface="+mn-lt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70790" y="1752600"/>
            <a:ext cx="856446" cy="533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3736877" y="3084514"/>
            <a:ext cx="856446" cy="533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3736877" y="3689350"/>
            <a:ext cx="856446" cy="533400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3281765" y="2311308"/>
            <a:ext cx="856446" cy="5334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26" idx="4"/>
            <a:endCxn id="27" idx="0"/>
          </p:cNvCxnSpPr>
          <p:nvPr/>
        </p:nvCxnSpPr>
        <p:spPr>
          <a:xfrm flipH="1">
            <a:off x="6194338" y="2362200"/>
            <a:ext cx="15962" cy="33932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7" idx="3"/>
            <a:endCxn id="28" idx="0"/>
          </p:cNvCxnSpPr>
          <p:nvPr/>
        </p:nvCxnSpPr>
        <p:spPr>
          <a:xfrm flipH="1">
            <a:off x="6972300" y="2911867"/>
            <a:ext cx="11819" cy="5933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7" idx="3"/>
            <a:endCxn id="29" idx="0"/>
          </p:cNvCxnSpPr>
          <p:nvPr/>
        </p:nvCxnSpPr>
        <p:spPr>
          <a:xfrm>
            <a:off x="6984119" y="2911867"/>
            <a:ext cx="773852" cy="67345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45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3b: Add edges in CCFG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2209800" y="1752600"/>
            <a:ext cx="2292922" cy="3762375"/>
            <a:chOff x="4309088" y="1897154"/>
            <a:chExt cx="2292922" cy="3762375"/>
          </a:xfrm>
        </p:grpSpPr>
        <p:sp>
          <p:nvSpPr>
            <p:cNvPr id="6" name="Rectangle 7"/>
            <p:cNvSpPr/>
            <p:nvPr/>
          </p:nvSpPr>
          <p:spPr bwMode="auto">
            <a:xfrm>
              <a:off x="5499713" y="1947954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7"/>
            <p:cNvSpPr/>
            <p:nvPr/>
          </p:nvSpPr>
          <p:spPr bwMode="auto">
            <a:xfrm>
              <a:off x="5163163" y="5211854"/>
              <a:ext cx="561975" cy="39687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10" idx="2"/>
              <a:endCxn id="12" idx="0"/>
            </p:cNvCxnSpPr>
            <p:nvPr/>
          </p:nvCxnSpPr>
          <p:spPr bwMode="auto">
            <a:xfrm flipH="1">
              <a:off x="5296006" y="2913154"/>
              <a:ext cx="484695" cy="398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2"/>
              <a:endCxn id="11" idx="0"/>
            </p:cNvCxnSpPr>
            <p:nvPr/>
          </p:nvCxnSpPr>
          <p:spPr bwMode="auto">
            <a:xfrm>
              <a:off x="5780701" y="2913154"/>
              <a:ext cx="445824" cy="387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 bwMode="auto">
            <a:xfrm>
              <a:off x="5499713" y="2516279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B1</a:t>
              </a:r>
            </a:p>
          </p:txBody>
        </p:sp>
        <p:sp>
          <p:nvSpPr>
            <p:cNvPr id="11" name="Rectangle 7"/>
            <p:cNvSpPr/>
            <p:nvPr/>
          </p:nvSpPr>
          <p:spPr bwMode="auto">
            <a:xfrm>
              <a:off x="5945537" y="3300504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B3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5014224" y="3311617"/>
              <a:ext cx="563563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B2</a:t>
              </a:r>
            </a:p>
          </p:txBody>
        </p:sp>
        <p:sp>
          <p:nvSpPr>
            <p:cNvPr id="13" name="Rectangle 7"/>
            <p:cNvSpPr/>
            <p:nvPr/>
          </p:nvSpPr>
          <p:spPr bwMode="auto">
            <a:xfrm>
              <a:off x="5952504" y="4624479"/>
              <a:ext cx="563562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7"/>
            <p:cNvSpPr/>
            <p:nvPr/>
          </p:nvSpPr>
          <p:spPr bwMode="auto">
            <a:xfrm>
              <a:off x="5945537" y="3913279"/>
              <a:ext cx="561975" cy="39687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53"/>
            <p:cNvCxnSpPr>
              <a:stCxn id="12" idx="2"/>
              <a:endCxn id="7" idx="0"/>
            </p:cNvCxnSpPr>
            <p:nvPr/>
          </p:nvCxnSpPr>
          <p:spPr bwMode="auto">
            <a:xfrm>
              <a:off x="5296006" y="3708492"/>
              <a:ext cx="148145" cy="15033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53"/>
            <p:cNvCxnSpPr>
              <a:stCxn id="11" idx="2"/>
              <a:endCxn id="14" idx="0"/>
            </p:cNvCxnSpPr>
            <p:nvPr/>
          </p:nvCxnSpPr>
          <p:spPr bwMode="auto">
            <a:xfrm>
              <a:off x="6226525" y="3697379"/>
              <a:ext cx="0" cy="2159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2"/>
              <a:endCxn id="10" idx="0"/>
            </p:cNvCxnSpPr>
            <p:nvPr/>
          </p:nvCxnSpPr>
          <p:spPr bwMode="auto">
            <a:xfrm>
              <a:off x="5780701" y="2344829"/>
              <a:ext cx="0" cy="171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53"/>
            <p:cNvCxnSpPr>
              <a:stCxn id="14" idx="2"/>
              <a:endCxn id="13" idx="0"/>
            </p:cNvCxnSpPr>
            <p:nvPr/>
          </p:nvCxnSpPr>
          <p:spPr bwMode="auto">
            <a:xfrm>
              <a:off x="6226525" y="4310154"/>
              <a:ext cx="7760" cy="3143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50"/>
            <p:cNvSpPr/>
            <p:nvPr/>
          </p:nvSpPr>
          <p:spPr>
            <a:xfrm>
              <a:off x="5415576" y="1897154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F1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0" name="矩形 50"/>
            <p:cNvSpPr/>
            <p:nvPr/>
          </p:nvSpPr>
          <p:spPr>
            <a:xfrm>
              <a:off x="5079026" y="5161054"/>
              <a:ext cx="730250" cy="498475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B5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21" name="Straight Arrow Connector 53"/>
            <p:cNvCxnSpPr>
              <a:stCxn id="13" idx="2"/>
              <a:endCxn id="7" idx="0"/>
            </p:cNvCxnSpPr>
            <p:nvPr/>
          </p:nvCxnSpPr>
          <p:spPr bwMode="auto">
            <a:xfrm flipH="1">
              <a:off x="5444151" y="5021354"/>
              <a:ext cx="790134" cy="190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1" idx="1"/>
            </p:cNvCxnSpPr>
            <p:nvPr/>
          </p:nvCxnSpPr>
          <p:spPr bwMode="auto">
            <a:xfrm flipH="1" flipV="1">
              <a:off x="5296005" y="2913154"/>
              <a:ext cx="649532" cy="585788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7"/>
            <p:cNvSpPr/>
            <p:nvPr/>
          </p:nvSpPr>
          <p:spPr bwMode="auto">
            <a:xfrm>
              <a:off x="4309088" y="2602335"/>
              <a:ext cx="1143000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Call to F2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50"/>
            <p:cNvSpPr/>
            <p:nvPr/>
          </p:nvSpPr>
          <p:spPr>
            <a:xfrm>
              <a:off x="5871760" y="3862478"/>
              <a:ext cx="730250" cy="498475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Loop2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26" name="椭圆 49"/>
          <p:cNvSpPr/>
          <p:nvPr/>
        </p:nvSpPr>
        <p:spPr>
          <a:xfrm>
            <a:off x="5867400" y="16764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菱形 4"/>
          <p:cNvSpPr/>
          <p:nvPr/>
        </p:nvSpPr>
        <p:spPr>
          <a:xfrm>
            <a:off x="5404556" y="2701523"/>
            <a:ext cx="1579563" cy="420688"/>
          </a:xfrm>
          <a:prstGeom prst="diamond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8" name="椭圆 62"/>
          <p:cNvSpPr/>
          <p:nvPr/>
        </p:nvSpPr>
        <p:spPr>
          <a:xfrm>
            <a:off x="6629400" y="35052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矩形 71"/>
          <p:cNvSpPr/>
          <p:nvPr/>
        </p:nvSpPr>
        <p:spPr>
          <a:xfrm>
            <a:off x="7467600" y="3563938"/>
            <a:ext cx="580741" cy="525554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 smtClean="0">
                <a:solidFill>
                  <a:schemeClr val="tx1"/>
                </a:solidFill>
                <a:cs typeface="Arial" pitchFamily="34" charset="0"/>
              </a:rPr>
              <a:t>L2</a:t>
            </a:r>
            <a:endParaRPr lang="zh-CN" altLang="en-US" sz="16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71896" y="2715171"/>
            <a:ext cx="10937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dirty="0">
                <a:latin typeface="+mn-lt"/>
              </a:rPr>
              <a:t>condition</a:t>
            </a:r>
            <a:endParaRPr lang="en-US" dirty="0">
              <a:latin typeface="+mn-lt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70790" y="1752600"/>
            <a:ext cx="856446" cy="533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3736877" y="3084514"/>
            <a:ext cx="856446" cy="533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3736877" y="3689350"/>
            <a:ext cx="856446" cy="533400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3281765" y="2311308"/>
            <a:ext cx="856446" cy="5334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26" idx="4"/>
            <a:endCxn id="27" idx="0"/>
          </p:cNvCxnSpPr>
          <p:nvPr/>
        </p:nvCxnSpPr>
        <p:spPr>
          <a:xfrm flipH="1">
            <a:off x="6194338" y="2362200"/>
            <a:ext cx="15962" cy="33932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7" idx="3"/>
            <a:endCxn id="28" idx="0"/>
          </p:cNvCxnSpPr>
          <p:nvPr/>
        </p:nvCxnSpPr>
        <p:spPr>
          <a:xfrm flipH="1">
            <a:off x="6972300" y="2911867"/>
            <a:ext cx="11819" cy="5933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7" idx="3"/>
            <a:endCxn id="29" idx="0"/>
          </p:cNvCxnSpPr>
          <p:nvPr/>
        </p:nvCxnSpPr>
        <p:spPr>
          <a:xfrm>
            <a:off x="6984119" y="2911867"/>
            <a:ext cx="773852" cy="65207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椭圆 49"/>
          <p:cNvSpPr/>
          <p:nvPr/>
        </p:nvSpPr>
        <p:spPr>
          <a:xfrm>
            <a:off x="5059537" y="35052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F3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1" name="Straight Arrow Connector 40"/>
          <p:cNvCxnSpPr>
            <a:stCxn id="27" idx="1"/>
            <a:endCxn id="39" idx="0"/>
          </p:cNvCxnSpPr>
          <p:nvPr/>
        </p:nvCxnSpPr>
        <p:spPr>
          <a:xfrm flipH="1">
            <a:off x="5402437" y="2911867"/>
            <a:ext cx="2119" cy="5933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 bwMode="auto">
          <a:xfrm flipH="1" flipV="1">
            <a:off x="2209800" y="3124200"/>
            <a:ext cx="722049" cy="363207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7"/>
          <p:cNvSpPr/>
          <p:nvPr/>
        </p:nvSpPr>
        <p:spPr bwMode="auto">
          <a:xfrm>
            <a:off x="1066800" y="2819400"/>
            <a:ext cx="1143000" cy="39687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>
                <a:solidFill>
                  <a:schemeClr val="tx1"/>
                </a:solidFill>
              </a:rPr>
              <a:t>Call to F3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65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3b: Add edges in CCFG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2209800" y="1752600"/>
            <a:ext cx="2292922" cy="3762375"/>
            <a:chOff x="4309088" y="1897154"/>
            <a:chExt cx="2292922" cy="3762375"/>
          </a:xfrm>
        </p:grpSpPr>
        <p:sp>
          <p:nvSpPr>
            <p:cNvPr id="6" name="Rectangle 7"/>
            <p:cNvSpPr/>
            <p:nvPr/>
          </p:nvSpPr>
          <p:spPr bwMode="auto">
            <a:xfrm>
              <a:off x="5499713" y="1947954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7"/>
            <p:cNvSpPr/>
            <p:nvPr/>
          </p:nvSpPr>
          <p:spPr bwMode="auto">
            <a:xfrm>
              <a:off x="5163163" y="5211854"/>
              <a:ext cx="561975" cy="39687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10" idx="2"/>
              <a:endCxn id="12" idx="0"/>
            </p:cNvCxnSpPr>
            <p:nvPr/>
          </p:nvCxnSpPr>
          <p:spPr bwMode="auto">
            <a:xfrm flipH="1">
              <a:off x="5296006" y="2913154"/>
              <a:ext cx="484695" cy="398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2"/>
              <a:endCxn id="11" idx="0"/>
            </p:cNvCxnSpPr>
            <p:nvPr/>
          </p:nvCxnSpPr>
          <p:spPr bwMode="auto">
            <a:xfrm>
              <a:off x="5780701" y="2913154"/>
              <a:ext cx="445824" cy="387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 bwMode="auto">
            <a:xfrm>
              <a:off x="5499713" y="2516279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B1</a:t>
              </a:r>
            </a:p>
          </p:txBody>
        </p:sp>
        <p:sp>
          <p:nvSpPr>
            <p:cNvPr id="11" name="Rectangle 7"/>
            <p:cNvSpPr/>
            <p:nvPr/>
          </p:nvSpPr>
          <p:spPr bwMode="auto">
            <a:xfrm>
              <a:off x="5945537" y="3300504"/>
              <a:ext cx="561975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B3</a:t>
              </a: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5014224" y="3311617"/>
              <a:ext cx="563563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B2</a:t>
              </a:r>
            </a:p>
          </p:txBody>
        </p:sp>
        <p:sp>
          <p:nvSpPr>
            <p:cNvPr id="13" name="Rectangle 7"/>
            <p:cNvSpPr/>
            <p:nvPr/>
          </p:nvSpPr>
          <p:spPr bwMode="auto">
            <a:xfrm>
              <a:off x="5952504" y="4624479"/>
              <a:ext cx="563562" cy="396875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7"/>
            <p:cNvSpPr/>
            <p:nvPr/>
          </p:nvSpPr>
          <p:spPr bwMode="auto">
            <a:xfrm>
              <a:off x="5945537" y="3913279"/>
              <a:ext cx="561975" cy="39687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53"/>
            <p:cNvCxnSpPr>
              <a:stCxn id="12" idx="2"/>
              <a:endCxn id="7" idx="0"/>
            </p:cNvCxnSpPr>
            <p:nvPr/>
          </p:nvCxnSpPr>
          <p:spPr bwMode="auto">
            <a:xfrm>
              <a:off x="5296006" y="3708492"/>
              <a:ext cx="148145" cy="15033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53"/>
            <p:cNvCxnSpPr>
              <a:stCxn id="11" idx="2"/>
              <a:endCxn id="14" idx="0"/>
            </p:cNvCxnSpPr>
            <p:nvPr/>
          </p:nvCxnSpPr>
          <p:spPr bwMode="auto">
            <a:xfrm>
              <a:off x="6226525" y="3697379"/>
              <a:ext cx="0" cy="2159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2"/>
              <a:endCxn id="10" idx="0"/>
            </p:cNvCxnSpPr>
            <p:nvPr/>
          </p:nvCxnSpPr>
          <p:spPr bwMode="auto">
            <a:xfrm>
              <a:off x="5780701" y="2344829"/>
              <a:ext cx="0" cy="171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53"/>
            <p:cNvCxnSpPr>
              <a:stCxn id="14" idx="2"/>
              <a:endCxn id="13" idx="0"/>
            </p:cNvCxnSpPr>
            <p:nvPr/>
          </p:nvCxnSpPr>
          <p:spPr bwMode="auto">
            <a:xfrm>
              <a:off x="6226525" y="4310154"/>
              <a:ext cx="7760" cy="3143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50"/>
            <p:cNvSpPr/>
            <p:nvPr/>
          </p:nvSpPr>
          <p:spPr>
            <a:xfrm>
              <a:off x="5415576" y="1897154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F1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20" name="矩形 50"/>
            <p:cNvSpPr/>
            <p:nvPr/>
          </p:nvSpPr>
          <p:spPr>
            <a:xfrm>
              <a:off x="5079026" y="5161054"/>
              <a:ext cx="730250" cy="498475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B5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21" name="Straight Arrow Connector 53"/>
            <p:cNvCxnSpPr>
              <a:stCxn id="13" idx="2"/>
              <a:endCxn id="7" idx="0"/>
            </p:cNvCxnSpPr>
            <p:nvPr/>
          </p:nvCxnSpPr>
          <p:spPr bwMode="auto">
            <a:xfrm flipH="1">
              <a:off x="5444151" y="5021354"/>
              <a:ext cx="790134" cy="190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1" idx="1"/>
            </p:cNvCxnSpPr>
            <p:nvPr/>
          </p:nvCxnSpPr>
          <p:spPr bwMode="auto">
            <a:xfrm flipH="1" flipV="1">
              <a:off x="5296005" y="2913154"/>
              <a:ext cx="649532" cy="585788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7"/>
            <p:cNvSpPr/>
            <p:nvPr/>
          </p:nvSpPr>
          <p:spPr bwMode="auto">
            <a:xfrm>
              <a:off x="4309088" y="2602335"/>
              <a:ext cx="1143000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Call to F2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50"/>
            <p:cNvSpPr/>
            <p:nvPr/>
          </p:nvSpPr>
          <p:spPr>
            <a:xfrm>
              <a:off x="5871760" y="3862478"/>
              <a:ext cx="730250" cy="498475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Loop2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26" name="椭圆 49"/>
          <p:cNvSpPr/>
          <p:nvPr/>
        </p:nvSpPr>
        <p:spPr>
          <a:xfrm>
            <a:off x="5867400" y="16764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7" name="菱形 4"/>
          <p:cNvSpPr/>
          <p:nvPr/>
        </p:nvSpPr>
        <p:spPr>
          <a:xfrm>
            <a:off x="5404556" y="2701523"/>
            <a:ext cx="1579563" cy="420688"/>
          </a:xfrm>
          <a:prstGeom prst="diamond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8" name="椭圆 62"/>
          <p:cNvSpPr/>
          <p:nvPr/>
        </p:nvSpPr>
        <p:spPr>
          <a:xfrm>
            <a:off x="6629400" y="3505200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9" name="矩形 71"/>
          <p:cNvSpPr/>
          <p:nvPr/>
        </p:nvSpPr>
        <p:spPr>
          <a:xfrm>
            <a:off x="7449562" y="3585323"/>
            <a:ext cx="580741" cy="525554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 smtClean="0">
                <a:solidFill>
                  <a:schemeClr val="tx1"/>
                </a:solidFill>
                <a:cs typeface="Arial" pitchFamily="34" charset="0"/>
              </a:rPr>
              <a:t>L2</a:t>
            </a:r>
            <a:endParaRPr lang="zh-CN" altLang="en-US" sz="16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71896" y="2715171"/>
            <a:ext cx="10937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dirty="0">
                <a:latin typeface="+mn-lt"/>
              </a:rPr>
              <a:t>condition</a:t>
            </a:r>
            <a:endParaRPr lang="en-US" dirty="0">
              <a:latin typeface="+mn-lt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70790" y="1752600"/>
            <a:ext cx="856446" cy="533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3736877" y="3084514"/>
            <a:ext cx="856446" cy="533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3736877" y="3689350"/>
            <a:ext cx="856446" cy="533400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3281765" y="2311308"/>
            <a:ext cx="856446" cy="5334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26" idx="4"/>
            <a:endCxn id="27" idx="0"/>
          </p:cNvCxnSpPr>
          <p:nvPr/>
        </p:nvCxnSpPr>
        <p:spPr>
          <a:xfrm flipH="1">
            <a:off x="6194338" y="2362200"/>
            <a:ext cx="15962" cy="33932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7" idx="3"/>
            <a:endCxn id="28" idx="0"/>
          </p:cNvCxnSpPr>
          <p:nvPr/>
        </p:nvCxnSpPr>
        <p:spPr>
          <a:xfrm flipH="1">
            <a:off x="6972300" y="2911867"/>
            <a:ext cx="11819" cy="5933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7" idx="3"/>
            <a:endCxn id="29" idx="0"/>
          </p:cNvCxnSpPr>
          <p:nvPr/>
        </p:nvCxnSpPr>
        <p:spPr>
          <a:xfrm>
            <a:off x="6984119" y="2911867"/>
            <a:ext cx="755814" cy="673456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 bwMode="auto">
          <a:xfrm flipH="1" flipV="1">
            <a:off x="2514600" y="4648200"/>
            <a:ext cx="649532" cy="585788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7"/>
          <p:cNvSpPr/>
          <p:nvPr/>
        </p:nvSpPr>
        <p:spPr bwMode="auto">
          <a:xfrm>
            <a:off x="1527683" y="4337381"/>
            <a:ext cx="1143000" cy="39687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>
                <a:solidFill>
                  <a:schemeClr val="tx1"/>
                </a:solidFill>
              </a:rPr>
              <a:t>Call to F3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椭圆 49"/>
          <p:cNvSpPr/>
          <p:nvPr/>
        </p:nvSpPr>
        <p:spPr>
          <a:xfrm>
            <a:off x="7431001" y="2557215"/>
            <a:ext cx="685800" cy="685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F3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41" name="Straight Arrow Connector 40"/>
          <p:cNvCxnSpPr>
            <a:stCxn id="26" idx="4"/>
            <a:endCxn id="39" idx="0"/>
          </p:cNvCxnSpPr>
          <p:nvPr/>
        </p:nvCxnSpPr>
        <p:spPr>
          <a:xfrm>
            <a:off x="6210300" y="2362200"/>
            <a:ext cx="1563601" cy="19501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97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Step 4: Building GCCFG</a:t>
            </a:r>
            <a:endParaRPr lang="en-US" dirty="0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matching nodes in two CCFG’s </a:t>
            </a:r>
          </a:p>
          <a:p>
            <a:pPr lvl="1"/>
            <a:r>
              <a:rPr lang="en-US" dirty="0"/>
              <a:t>G</a:t>
            </a:r>
            <a:r>
              <a:rPr lang="en-US" dirty="0" smtClean="0"/>
              <a:t>lue them together</a:t>
            </a:r>
            <a:endParaRPr lang="en-US" dirty="0"/>
          </a:p>
        </p:txBody>
      </p:sp>
      <p:sp>
        <p:nvSpPr>
          <p:cNvPr id="14" name="椭圆 49"/>
          <p:cNvSpPr/>
          <p:nvPr/>
        </p:nvSpPr>
        <p:spPr>
          <a:xfrm>
            <a:off x="2808772" y="2290096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F1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5" name="菱形 4"/>
          <p:cNvSpPr/>
          <p:nvPr/>
        </p:nvSpPr>
        <p:spPr>
          <a:xfrm>
            <a:off x="2362200" y="3200683"/>
            <a:ext cx="1579563" cy="420688"/>
          </a:xfrm>
          <a:prstGeom prst="diamond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2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6" name="椭圆 62"/>
          <p:cNvSpPr/>
          <p:nvPr/>
        </p:nvSpPr>
        <p:spPr>
          <a:xfrm>
            <a:off x="2688913" y="3848447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F2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7" name="矩形 71"/>
          <p:cNvSpPr/>
          <p:nvPr/>
        </p:nvSpPr>
        <p:spPr>
          <a:xfrm>
            <a:off x="3720247" y="3934017"/>
            <a:ext cx="580741" cy="525554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 smtClean="0">
                <a:solidFill>
                  <a:schemeClr val="tx1"/>
                </a:solidFill>
                <a:cs typeface="Arial" pitchFamily="34" charset="0"/>
              </a:rPr>
              <a:t>L2</a:t>
            </a:r>
            <a:endParaRPr lang="zh-CN" altLang="en-US" sz="16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8" name="直接箭头连接符 79"/>
          <p:cNvCxnSpPr>
            <a:stCxn id="14" idx="4"/>
            <a:endCxn id="15" idx="0"/>
          </p:cNvCxnSpPr>
          <p:nvPr/>
        </p:nvCxnSpPr>
        <p:spPr>
          <a:xfrm>
            <a:off x="3151672" y="2975896"/>
            <a:ext cx="310" cy="2247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94"/>
          <p:cNvCxnSpPr>
            <a:endCxn id="16" idx="0"/>
          </p:cNvCxnSpPr>
          <p:nvPr/>
        </p:nvCxnSpPr>
        <p:spPr>
          <a:xfrm flipH="1">
            <a:off x="3031813" y="3533725"/>
            <a:ext cx="450884" cy="3147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95"/>
          <p:cNvCxnSpPr>
            <a:endCxn id="17" idx="0"/>
          </p:cNvCxnSpPr>
          <p:nvPr/>
        </p:nvCxnSpPr>
        <p:spPr>
          <a:xfrm>
            <a:off x="3482697" y="3533725"/>
            <a:ext cx="527921" cy="400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93975" y="3219733"/>
            <a:ext cx="10937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dirty="0">
                <a:latin typeface="+mn-lt"/>
              </a:rPr>
              <a:t>condition</a:t>
            </a:r>
            <a:endParaRPr lang="en-US" dirty="0">
              <a:latin typeface="+mn-lt"/>
            </a:endParaRPr>
          </a:p>
        </p:txBody>
      </p:sp>
      <p:sp>
        <p:nvSpPr>
          <p:cNvPr id="22" name="椭圆 64"/>
          <p:cNvSpPr/>
          <p:nvPr/>
        </p:nvSpPr>
        <p:spPr>
          <a:xfrm>
            <a:off x="2819400" y="5547360"/>
            <a:ext cx="685800" cy="685800"/>
          </a:xfrm>
          <a:prstGeom prst="ellipse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 smtClean="0">
                <a:solidFill>
                  <a:schemeClr val="tx1"/>
                </a:solidFill>
                <a:cs typeface="Arial" pitchFamily="34" charset="0"/>
              </a:rPr>
              <a:t>F3</a:t>
            </a:r>
            <a:endParaRPr lang="zh-CN" altLang="en-US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23" name="矩形 71"/>
          <p:cNvSpPr/>
          <p:nvPr/>
        </p:nvSpPr>
        <p:spPr>
          <a:xfrm>
            <a:off x="2871951" y="4712056"/>
            <a:ext cx="580741" cy="525554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600" dirty="0" smtClean="0">
                <a:solidFill>
                  <a:schemeClr val="tx1"/>
                </a:solidFill>
                <a:cs typeface="Arial" pitchFamily="34" charset="0"/>
              </a:rPr>
              <a:t>L2</a:t>
            </a:r>
            <a:endParaRPr lang="zh-CN" altLang="en-US" sz="1600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24" name="直接箭头连接符 95"/>
          <p:cNvCxnSpPr>
            <a:stCxn id="23" idx="2"/>
            <a:endCxn id="22" idx="0"/>
          </p:cNvCxnSpPr>
          <p:nvPr/>
        </p:nvCxnSpPr>
        <p:spPr>
          <a:xfrm flipH="1">
            <a:off x="3162300" y="5237610"/>
            <a:ext cx="22" cy="309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7" idx="2"/>
          </p:cNvCxnSpPr>
          <p:nvPr/>
        </p:nvCxnSpPr>
        <p:spPr bwMode="auto">
          <a:xfrm flipH="1" flipV="1">
            <a:off x="4010618" y="4459571"/>
            <a:ext cx="561382" cy="99555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7"/>
          <p:cNvSpPr/>
          <p:nvPr/>
        </p:nvSpPr>
        <p:spPr bwMode="auto">
          <a:xfrm>
            <a:off x="4358925" y="5455121"/>
            <a:ext cx="1335351" cy="39687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>
                <a:solidFill>
                  <a:srgbClr val="C00000"/>
                </a:solidFill>
              </a:rPr>
              <a:t>Glue Point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7" name="Straight Arrow Connector 26"/>
          <p:cNvCxnSpPr>
            <a:endCxn id="23" idx="3"/>
          </p:cNvCxnSpPr>
          <p:nvPr/>
        </p:nvCxnSpPr>
        <p:spPr bwMode="auto">
          <a:xfrm flipH="1" flipV="1">
            <a:off x="3452692" y="4974833"/>
            <a:ext cx="1119308" cy="480288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Arrow 28"/>
          <p:cNvSpPr/>
          <p:nvPr/>
        </p:nvSpPr>
        <p:spPr>
          <a:xfrm>
            <a:off x="4659712" y="3851858"/>
            <a:ext cx="533400" cy="6077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7"/>
              <p:cNvSpPr/>
              <p:nvPr/>
            </p:nvSpPr>
            <p:spPr bwMode="auto">
              <a:xfrm>
                <a:off x="2236524" y="2731421"/>
                <a:ext cx="506676" cy="396875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G</m:t>
                          </m:r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e>
                        <m:sub/>
                        <m:sup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6524" y="2731421"/>
                <a:ext cx="506676" cy="396875"/>
              </a:xfrm>
              <a:prstGeom prst="rect">
                <a:avLst/>
              </a:prstGeom>
              <a:blipFill rotWithShape="0">
                <a:blip r:embed="rId2"/>
                <a:stretch>
                  <a:fillRect l="-1566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7"/>
              <p:cNvSpPr/>
              <p:nvPr/>
            </p:nvSpPr>
            <p:spPr bwMode="auto">
              <a:xfrm>
                <a:off x="2237096" y="4804696"/>
                <a:ext cx="506676" cy="396875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G</m:t>
                          </m:r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b/>
                        <m:sup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7096" y="4804696"/>
                <a:ext cx="506676" cy="396875"/>
              </a:xfrm>
              <a:prstGeom prst="rect">
                <a:avLst/>
              </a:prstGeom>
              <a:blipFill rotWithShape="0">
                <a:blip r:embed="rId3"/>
                <a:stretch>
                  <a:fillRect l="-1445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2"/>
          <p:cNvGrpSpPr/>
          <p:nvPr/>
        </p:nvGrpSpPr>
        <p:grpSpPr>
          <a:xfrm>
            <a:off x="5080662" y="2290096"/>
            <a:ext cx="2158338" cy="3165025"/>
            <a:chOff x="5080662" y="2290096"/>
            <a:chExt cx="2158338" cy="3165025"/>
          </a:xfrm>
        </p:grpSpPr>
        <p:sp>
          <p:nvSpPr>
            <p:cNvPr id="4" name="椭圆 49"/>
            <p:cNvSpPr/>
            <p:nvPr/>
          </p:nvSpPr>
          <p:spPr>
            <a:xfrm>
              <a:off x="5694276" y="2290096"/>
              <a:ext cx="685800" cy="685800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F1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5" name="菱形 4"/>
            <p:cNvSpPr/>
            <p:nvPr/>
          </p:nvSpPr>
          <p:spPr>
            <a:xfrm>
              <a:off x="5247704" y="3200683"/>
              <a:ext cx="1579563" cy="420688"/>
            </a:xfrm>
            <a:prstGeom prst="diamond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2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" name="椭圆 62"/>
            <p:cNvSpPr/>
            <p:nvPr/>
          </p:nvSpPr>
          <p:spPr>
            <a:xfrm>
              <a:off x="5574417" y="3848447"/>
              <a:ext cx="685800" cy="685800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F2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7" name="椭圆 64"/>
            <p:cNvSpPr/>
            <p:nvPr/>
          </p:nvSpPr>
          <p:spPr>
            <a:xfrm>
              <a:off x="6553200" y="4769321"/>
              <a:ext cx="685800" cy="685800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 smtClean="0">
                  <a:solidFill>
                    <a:schemeClr val="tx1"/>
                  </a:solidFill>
                  <a:cs typeface="Arial" pitchFamily="34" charset="0"/>
                </a:rPr>
                <a:t>F3</a:t>
              </a:r>
              <a:endParaRPr lang="zh-CN" altLang="en-US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8" name="矩形 71"/>
            <p:cNvSpPr/>
            <p:nvPr/>
          </p:nvSpPr>
          <p:spPr>
            <a:xfrm>
              <a:off x="6605751" y="3934017"/>
              <a:ext cx="580741" cy="525554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600" dirty="0" smtClean="0">
                  <a:solidFill>
                    <a:schemeClr val="tx1"/>
                  </a:solidFill>
                  <a:cs typeface="Arial" pitchFamily="34" charset="0"/>
                </a:rPr>
                <a:t>L2</a:t>
              </a:r>
              <a:endParaRPr lang="zh-CN" altLang="en-US" sz="16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9" name="直接箭头连接符 79"/>
            <p:cNvCxnSpPr>
              <a:stCxn id="4" idx="4"/>
              <a:endCxn id="5" idx="0"/>
            </p:cNvCxnSpPr>
            <p:nvPr/>
          </p:nvCxnSpPr>
          <p:spPr>
            <a:xfrm>
              <a:off x="6037176" y="2975896"/>
              <a:ext cx="310" cy="2247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4"/>
            <p:cNvCxnSpPr>
              <a:endCxn id="6" idx="0"/>
            </p:cNvCxnSpPr>
            <p:nvPr/>
          </p:nvCxnSpPr>
          <p:spPr>
            <a:xfrm flipH="1">
              <a:off x="5917317" y="3533725"/>
              <a:ext cx="450884" cy="3147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95"/>
            <p:cNvCxnSpPr>
              <a:endCxn id="8" idx="0"/>
            </p:cNvCxnSpPr>
            <p:nvPr/>
          </p:nvCxnSpPr>
          <p:spPr>
            <a:xfrm>
              <a:off x="6368201" y="3533725"/>
              <a:ext cx="527921" cy="4002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479479" y="3219733"/>
              <a:ext cx="109378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dirty="0">
                  <a:latin typeface="+mn-lt"/>
                </a:rPr>
                <a:t>condition</a:t>
              </a:r>
              <a:endParaRPr lang="en-US" dirty="0">
                <a:latin typeface="+mn-lt"/>
              </a:endParaRPr>
            </a:p>
          </p:txBody>
        </p:sp>
        <p:cxnSp>
          <p:nvCxnSpPr>
            <p:cNvPr id="13" name="直接箭头连接符 95"/>
            <p:cNvCxnSpPr>
              <a:stCxn id="8" idx="2"/>
              <a:endCxn id="7" idx="0"/>
            </p:cNvCxnSpPr>
            <p:nvPr/>
          </p:nvCxnSpPr>
          <p:spPr>
            <a:xfrm flipH="1">
              <a:off x="6896100" y="4459571"/>
              <a:ext cx="22" cy="3097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 flipV="1">
              <a:off x="5479479" y="4534248"/>
              <a:ext cx="1093788" cy="920873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7"/>
                <p:cNvSpPr/>
                <p:nvPr/>
              </p:nvSpPr>
              <p:spPr bwMode="auto">
                <a:xfrm>
                  <a:off x="5080662" y="2731421"/>
                  <a:ext cx="506676" cy="396875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G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80662" y="2731421"/>
                  <a:ext cx="506676" cy="3968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9259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6" grpId="0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Code mapping using GCCFG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5347705" y="3726537"/>
            <a:ext cx="628188" cy="3765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F1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364239" y="5365424"/>
            <a:ext cx="628188" cy="843037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F2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44542" y="4586269"/>
            <a:ext cx="628188" cy="34315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F3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47706" y="4979981"/>
            <a:ext cx="628188" cy="35537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F4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347706" y="4127839"/>
            <a:ext cx="628187" cy="418792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F5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389006" y="6248400"/>
            <a:ext cx="628188" cy="34881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F6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5190060" y="4111714"/>
            <a:ext cx="1412333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188970" y="4949662"/>
            <a:ext cx="1413423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214114" y="5354161"/>
            <a:ext cx="1412333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214114" y="6223951"/>
            <a:ext cx="1412333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"/>
          <p:cNvSpPr txBox="1">
            <a:spLocks noChangeArrowheads="1"/>
          </p:cNvSpPr>
          <p:nvPr/>
        </p:nvSpPr>
        <p:spPr bwMode="auto">
          <a:xfrm>
            <a:off x="4572000" y="3685998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1</a:t>
            </a:r>
          </a:p>
        </p:txBody>
      </p:sp>
      <p:sp>
        <p:nvSpPr>
          <p:cNvPr id="33" name="TextBox 3"/>
          <p:cNvSpPr txBox="1">
            <a:spLocks noChangeArrowheads="1"/>
          </p:cNvSpPr>
          <p:nvPr/>
        </p:nvSpPr>
        <p:spPr bwMode="auto">
          <a:xfrm>
            <a:off x="4583631" y="4124604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2</a:t>
            </a:r>
          </a:p>
        </p:txBody>
      </p:sp>
      <p:sp>
        <p:nvSpPr>
          <p:cNvPr id="34" name="TextBox 3"/>
          <p:cNvSpPr txBox="1">
            <a:spLocks noChangeArrowheads="1"/>
          </p:cNvSpPr>
          <p:nvPr/>
        </p:nvSpPr>
        <p:spPr bwMode="auto">
          <a:xfrm>
            <a:off x="4583820" y="4944573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4</a:t>
            </a:r>
          </a:p>
        </p:txBody>
      </p:sp>
      <p:sp>
        <p:nvSpPr>
          <p:cNvPr id="35" name="TextBox 3"/>
          <p:cNvSpPr txBox="1">
            <a:spLocks noChangeArrowheads="1"/>
          </p:cNvSpPr>
          <p:nvPr/>
        </p:nvSpPr>
        <p:spPr bwMode="auto">
          <a:xfrm>
            <a:off x="4583631" y="5556109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5</a:t>
            </a:r>
          </a:p>
        </p:txBody>
      </p:sp>
      <p:sp>
        <p:nvSpPr>
          <p:cNvPr id="36" name="TextBox 3"/>
          <p:cNvSpPr txBox="1">
            <a:spLocks noChangeArrowheads="1"/>
          </p:cNvSpPr>
          <p:nvPr/>
        </p:nvSpPr>
        <p:spPr bwMode="auto">
          <a:xfrm>
            <a:off x="4583631" y="4561751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3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206717" y="4555977"/>
            <a:ext cx="1412332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4265023" y="990601"/>
            <a:ext cx="13716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dirty="0" smtClean="0">
                <a:cs typeface="Arial" charset="0"/>
              </a:rPr>
              <a:t>F1()</a:t>
            </a:r>
            <a:endParaRPr lang="en-US" altLang="zh-CN" sz="1600" dirty="0">
              <a:cs typeface="Arial" charset="0"/>
            </a:endParaRP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 F2()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F3()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….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END F1(</a:t>
            </a:r>
            <a:r>
              <a:rPr lang="en-US" altLang="zh-CN" sz="1600" dirty="0" smtClean="0">
                <a:cs typeface="Arial" charset="0"/>
              </a:rPr>
              <a:t>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76900" y="990602"/>
            <a:ext cx="18288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 smtClean="0">
                <a:cs typeface="Arial" charset="0"/>
              </a:rPr>
              <a:t>F2()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….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IF(condition)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    F4()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ELSE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    F5()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….</a:t>
            </a: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END F2()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62800" y="990601"/>
            <a:ext cx="1905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600" dirty="0" smtClean="0">
                <a:cs typeface="Arial" charset="0"/>
              </a:rPr>
              <a:t>F3()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….</a:t>
            </a:r>
            <a:endParaRPr lang="en-US" altLang="zh-CN" sz="1600" dirty="0">
              <a:cs typeface="Arial" charset="0"/>
            </a:endParaRP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    FOR </a:t>
            </a:r>
            <a:r>
              <a:rPr lang="en-US" altLang="zh-CN" sz="1600" dirty="0">
                <a:cs typeface="Arial" charset="0"/>
              </a:rPr>
              <a:t>(1…n)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   </a:t>
            </a:r>
            <a:r>
              <a:rPr lang="en-US" altLang="zh-CN" sz="1600" dirty="0" smtClean="0">
                <a:cs typeface="Arial" charset="0"/>
              </a:rPr>
              <a:t>    F6(</a:t>
            </a:r>
            <a:r>
              <a:rPr lang="en-US" altLang="zh-CN" sz="1600" dirty="0">
                <a:cs typeface="Arial" charset="0"/>
              </a:rPr>
              <a:t>)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   </a:t>
            </a:r>
            <a:r>
              <a:rPr lang="en-US" altLang="zh-CN" sz="1600" dirty="0" smtClean="0">
                <a:cs typeface="Arial" charset="0"/>
              </a:rPr>
              <a:t>END FOR</a:t>
            </a:r>
          </a:p>
          <a:p>
            <a:pPr eaLnBrk="1" hangingPunct="1"/>
            <a:r>
              <a:rPr lang="en-US" altLang="zh-CN" sz="1600" dirty="0">
                <a:cs typeface="Arial" charset="0"/>
              </a:rPr>
              <a:t> </a:t>
            </a:r>
            <a:r>
              <a:rPr lang="en-US" altLang="zh-CN" sz="1600" dirty="0" smtClean="0">
                <a:cs typeface="Arial" charset="0"/>
              </a:rPr>
              <a:t>   ….</a:t>
            </a:r>
            <a:endParaRPr lang="en-US" altLang="zh-CN" sz="1600" dirty="0">
              <a:cs typeface="Arial" charset="0"/>
            </a:endParaRPr>
          </a:p>
          <a:p>
            <a:pPr eaLnBrk="1" hangingPunct="1"/>
            <a:r>
              <a:rPr lang="en-US" altLang="zh-CN" sz="1600" dirty="0" smtClean="0">
                <a:cs typeface="Arial" charset="0"/>
              </a:rPr>
              <a:t>END F3(</a:t>
            </a:r>
            <a:r>
              <a:rPr lang="en-US" altLang="zh-CN" sz="1600" dirty="0">
                <a:cs typeface="Arial" charset="0"/>
              </a:rPr>
              <a:t>)	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7200" y="3124200"/>
            <a:ext cx="3238500" cy="3286125"/>
            <a:chOff x="457200" y="3124200"/>
            <a:chExt cx="3238500" cy="3286125"/>
          </a:xfrm>
        </p:grpSpPr>
        <p:sp>
          <p:nvSpPr>
            <p:cNvPr id="45" name="椭圆 49"/>
            <p:cNvSpPr/>
            <p:nvPr/>
          </p:nvSpPr>
          <p:spPr>
            <a:xfrm>
              <a:off x="2143125" y="3124200"/>
              <a:ext cx="685800" cy="685800"/>
            </a:xfrm>
            <a:prstGeom prst="ellipse">
              <a:avLst/>
            </a:prstGeom>
            <a:noFill/>
            <a:ln w="25400">
              <a:solidFill>
                <a:srgbClr val="0076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 smtClean="0">
                  <a:solidFill>
                    <a:schemeClr val="tx1"/>
                  </a:solidFill>
                  <a:cs typeface="Arial" pitchFamily="34" charset="0"/>
                </a:rPr>
                <a:t>F1</a:t>
              </a:r>
              <a:endParaRPr lang="zh-CN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46" name="椭圆 62"/>
            <p:cNvSpPr/>
            <p:nvPr/>
          </p:nvSpPr>
          <p:spPr>
            <a:xfrm>
              <a:off x="1247775" y="4000500"/>
              <a:ext cx="685800" cy="685800"/>
            </a:xfrm>
            <a:prstGeom prst="ellipse">
              <a:avLst/>
            </a:prstGeom>
            <a:noFill/>
            <a:ln w="25400">
              <a:solidFill>
                <a:srgbClr val="0076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 smtClean="0">
                  <a:solidFill>
                    <a:schemeClr val="tx1"/>
                  </a:solidFill>
                  <a:cs typeface="Arial" pitchFamily="34" charset="0"/>
                </a:rPr>
                <a:t>F2</a:t>
              </a:r>
              <a:endParaRPr lang="zh-CN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48" name="椭圆 64"/>
            <p:cNvSpPr/>
            <p:nvPr/>
          </p:nvSpPr>
          <p:spPr>
            <a:xfrm>
              <a:off x="3009900" y="4042349"/>
              <a:ext cx="685800" cy="685800"/>
            </a:xfrm>
            <a:prstGeom prst="ellipse">
              <a:avLst/>
            </a:prstGeom>
            <a:noFill/>
            <a:ln w="25400">
              <a:solidFill>
                <a:srgbClr val="0076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 smtClean="0">
                  <a:solidFill>
                    <a:schemeClr val="tx1"/>
                  </a:solidFill>
                  <a:cs typeface="Arial" pitchFamily="34" charset="0"/>
                </a:rPr>
                <a:t>F3</a:t>
              </a:r>
              <a:endParaRPr lang="zh-CN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49" name="矩形 71"/>
            <p:cNvSpPr/>
            <p:nvPr/>
          </p:nvSpPr>
          <p:spPr>
            <a:xfrm>
              <a:off x="3048000" y="4953000"/>
              <a:ext cx="609600" cy="525554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 smtClean="0">
                  <a:solidFill>
                    <a:schemeClr val="tx1"/>
                  </a:solidFill>
                  <a:cs typeface="Arial" pitchFamily="34" charset="0"/>
                </a:rPr>
                <a:t>L2</a:t>
              </a:r>
              <a:endParaRPr lang="zh-CN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50" name="直接箭头连接符 79"/>
            <p:cNvCxnSpPr>
              <a:stCxn id="46" idx="4"/>
              <a:endCxn id="55" idx="0"/>
            </p:cNvCxnSpPr>
            <p:nvPr/>
          </p:nvCxnSpPr>
          <p:spPr>
            <a:xfrm flipH="1">
              <a:off x="1589882" y="4686300"/>
              <a:ext cx="793" cy="3429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94"/>
            <p:cNvCxnSpPr>
              <a:stCxn id="45" idx="4"/>
              <a:endCxn id="46" idx="0"/>
            </p:cNvCxnSpPr>
            <p:nvPr/>
          </p:nvCxnSpPr>
          <p:spPr>
            <a:xfrm flipH="1">
              <a:off x="1590675" y="3810000"/>
              <a:ext cx="895350" cy="190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95"/>
            <p:cNvCxnSpPr>
              <a:stCxn id="48" idx="4"/>
            </p:cNvCxnSpPr>
            <p:nvPr/>
          </p:nvCxnSpPr>
          <p:spPr>
            <a:xfrm>
              <a:off x="3352800" y="4728149"/>
              <a:ext cx="0" cy="2629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/>
            <p:cNvGrpSpPr/>
            <p:nvPr/>
          </p:nvGrpSpPr>
          <p:grpSpPr>
            <a:xfrm>
              <a:off x="800100" y="5029200"/>
              <a:ext cx="1579563" cy="420688"/>
              <a:chOff x="4267200" y="2209800"/>
              <a:chExt cx="1579563" cy="420688"/>
            </a:xfrm>
          </p:grpSpPr>
          <p:sp>
            <p:nvSpPr>
              <p:cNvPr id="55" name="菱形 4"/>
              <p:cNvSpPr/>
              <p:nvPr/>
            </p:nvSpPr>
            <p:spPr>
              <a:xfrm>
                <a:off x="4267200" y="2209800"/>
                <a:ext cx="1579563" cy="420688"/>
              </a:xfrm>
              <a:prstGeom prst="diamond">
                <a:avLst/>
              </a:prstGeom>
              <a:noFill/>
              <a:ln w="254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200" dirty="0">
                  <a:solidFill>
                    <a:schemeClr val="tx1"/>
                  </a:solidFill>
                  <a:cs typeface="Arial" pitchFamily="34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475163" y="2209800"/>
                <a:ext cx="1093788" cy="36988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condition</a:t>
                </a:r>
                <a:endParaRPr lang="en-US" dirty="0">
                  <a:latin typeface="+mn-lt"/>
                </a:endParaRPr>
              </a:p>
            </p:txBody>
          </p:sp>
        </p:grpSp>
        <p:cxnSp>
          <p:nvCxnSpPr>
            <p:cNvPr id="59" name="直接箭头连接符 95"/>
            <p:cNvCxnSpPr>
              <a:stCxn id="45" idx="4"/>
              <a:endCxn id="48" idx="0"/>
            </p:cNvCxnSpPr>
            <p:nvPr/>
          </p:nvCxnSpPr>
          <p:spPr>
            <a:xfrm>
              <a:off x="2486025" y="3810000"/>
              <a:ext cx="866775" cy="2323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椭圆 64"/>
            <p:cNvSpPr/>
            <p:nvPr/>
          </p:nvSpPr>
          <p:spPr>
            <a:xfrm>
              <a:off x="3009900" y="5724525"/>
              <a:ext cx="685800" cy="685800"/>
            </a:xfrm>
            <a:prstGeom prst="ellipse">
              <a:avLst/>
            </a:prstGeom>
            <a:noFill/>
            <a:ln w="25400">
              <a:solidFill>
                <a:srgbClr val="0076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 smtClean="0">
                  <a:solidFill>
                    <a:schemeClr val="tx1"/>
                  </a:solidFill>
                  <a:cs typeface="Arial" pitchFamily="34" charset="0"/>
                </a:rPr>
                <a:t>F6</a:t>
              </a:r>
              <a:endParaRPr lang="zh-CN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64" name="直接箭头连接符 95"/>
            <p:cNvCxnSpPr>
              <a:stCxn id="49" idx="2"/>
              <a:endCxn id="63" idx="0"/>
            </p:cNvCxnSpPr>
            <p:nvPr/>
          </p:nvCxnSpPr>
          <p:spPr>
            <a:xfrm>
              <a:off x="3352800" y="5478554"/>
              <a:ext cx="0" cy="2459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64"/>
            <p:cNvSpPr/>
            <p:nvPr/>
          </p:nvSpPr>
          <p:spPr>
            <a:xfrm>
              <a:off x="457200" y="5724525"/>
              <a:ext cx="685800" cy="685800"/>
            </a:xfrm>
            <a:prstGeom prst="ellipse">
              <a:avLst/>
            </a:prstGeom>
            <a:noFill/>
            <a:ln w="25400">
              <a:solidFill>
                <a:srgbClr val="0076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 smtClean="0">
                  <a:solidFill>
                    <a:schemeClr val="tx1"/>
                  </a:solidFill>
                  <a:cs typeface="Arial" pitchFamily="34" charset="0"/>
                </a:rPr>
                <a:t>F4</a:t>
              </a:r>
              <a:endParaRPr lang="zh-CN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sp>
          <p:nvSpPr>
            <p:cNvPr id="66" name="椭圆 64"/>
            <p:cNvSpPr/>
            <p:nvPr/>
          </p:nvSpPr>
          <p:spPr>
            <a:xfrm>
              <a:off x="2038350" y="5724525"/>
              <a:ext cx="685800" cy="685800"/>
            </a:xfrm>
            <a:prstGeom prst="ellipse">
              <a:avLst/>
            </a:prstGeom>
            <a:noFill/>
            <a:ln w="25400">
              <a:solidFill>
                <a:srgbClr val="0076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 smtClean="0">
                  <a:solidFill>
                    <a:schemeClr val="tx1"/>
                  </a:solidFill>
                  <a:cs typeface="Arial" pitchFamily="34" charset="0"/>
                </a:rPr>
                <a:t>F5</a:t>
              </a:r>
              <a:endParaRPr lang="zh-CN" altLang="en-US" sz="2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  <p:cxnSp>
          <p:nvCxnSpPr>
            <p:cNvPr id="67" name="直接箭头连接符 95"/>
            <p:cNvCxnSpPr>
              <a:stCxn id="55" idx="1"/>
              <a:endCxn id="65" idx="0"/>
            </p:cNvCxnSpPr>
            <p:nvPr/>
          </p:nvCxnSpPr>
          <p:spPr>
            <a:xfrm>
              <a:off x="800100" y="5239544"/>
              <a:ext cx="0" cy="4849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95"/>
            <p:cNvCxnSpPr>
              <a:stCxn id="55" idx="3"/>
              <a:endCxn id="66" idx="0"/>
            </p:cNvCxnSpPr>
            <p:nvPr/>
          </p:nvCxnSpPr>
          <p:spPr>
            <a:xfrm>
              <a:off x="2379663" y="5239544"/>
              <a:ext cx="1587" cy="4849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Content Placeholder 3"/>
          <p:cNvSpPr>
            <a:spLocks noGrp="1"/>
          </p:cNvSpPr>
          <p:nvPr>
            <p:ph sz="quarter" idx="1"/>
          </p:nvPr>
        </p:nvSpPr>
        <p:spPr>
          <a:xfrm>
            <a:off x="228600" y="990601"/>
            <a:ext cx="4191000" cy="2133600"/>
          </a:xfrm>
        </p:spPr>
        <p:txBody>
          <a:bodyPr>
            <a:normAutofit fontScale="92500" lnSpcReduction="20000"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600" dirty="0">
                <a:solidFill>
                  <a:schemeClr val="tx1"/>
                </a:solidFill>
              </a:rPr>
              <a:t>Function F3 calls F6 in a loop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lot of data transfer</a:t>
            </a:r>
          </a:p>
          <a:p>
            <a:r>
              <a:rPr lang="en-US" dirty="0"/>
              <a:t>Functions F4 and F5 in the same </a:t>
            </a:r>
            <a:r>
              <a:rPr lang="en-US" dirty="0" smtClean="0"/>
              <a:t>region</a:t>
            </a:r>
          </a:p>
          <a:p>
            <a:pPr lvl="1"/>
            <a:r>
              <a:rPr lang="en-US" dirty="0" smtClean="0"/>
              <a:t>since </a:t>
            </a:r>
            <a:r>
              <a:rPr lang="en-US" dirty="0"/>
              <a:t>only one of them will be </a:t>
            </a:r>
            <a:r>
              <a:rPr lang="en-US" dirty="0" smtClean="0"/>
              <a:t>called</a:t>
            </a:r>
            <a:endParaRPr lang="en-US" dirty="0"/>
          </a:p>
        </p:txBody>
      </p:sp>
      <p:sp>
        <p:nvSpPr>
          <p:cNvPr id="71" name="TextBox 3"/>
          <p:cNvSpPr txBox="1">
            <a:spLocks noChangeArrowheads="1"/>
          </p:cNvSpPr>
          <p:nvPr/>
        </p:nvSpPr>
        <p:spPr bwMode="auto">
          <a:xfrm>
            <a:off x="4632269" y="6320135"/>
            <a:ext cx="680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</a:t>
            </a:r>
            <a:r>
              <a:rPr lang="en-US" altLang="zh-CN" sz="1200" dirty="0" smtClean="0"/>
              <a:t>6</a:t>
            </a:r>
            <a:endParaRPr lang="en-US" altLang="zh-CN" sz="1200" dirty="0"/>
          </a:p>
        </p:txBody>
      </p:sp>
      <p:sp>
        <p:nvSpPr>
          <p:cNvPr id="73" name="Rounded Rectangle 72"/>
          <p:cNvSpPr/>
          <p:nvPr/>
        </p:nvSpPr>
        <p:spPr>
          <a:xfrm>
            <a:off x="7560458" y="3682526"/>
            <a:ext cx="628188" cy="3765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F1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576992" y="5321413"/>
            <a:ext cx="628188" cy="843037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F2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557295" y="4542258"/>
            <a:ext cx="628188" cy="34315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F3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560459" y="4935970"/>
            <a:ext cx="628188" cy="355371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F4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7560459" y="4083828"/>
            <a:ext cx="628187" cy="418792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F5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7601759" y="6204389"/>
            <a:ext cx="628188" cy="34881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F6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3" name="Straight Connector 82"/>
          <p:cNvCxnSpPr/>
          <p:nvPr/>
        </p:nvCxnSpPr>
        <p:spPr>
          <a:xfrm>
            <a:off x="7402813" y="4067703"/>
            <a:ext cx="1412333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7401723" y="4905651"/>
            <a:ext cx="1413423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26867" y="5310150"/>
            <a:ext cx="1412333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7426867" y="6179940"/>
            <a:ext cx="1412333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3"/>
          <p:cNvSpPr txBox="1">
            <a:spLocks noChangeArrowheads="1"/>
          </p:cNvSpPr>
          <p:nvPr/>
        </p:nvSpPr>
        <p:spPr bwMode="auto">
          <a:xfrm>
            <a:off x="6784753" y="3641987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1</a:t>
            </a:r>
          </a:p>
        </p:txBody>
      </p:sp>
      <p:sp>
        <p:nvSpPr>
          <p:cNvPr id="88" name="TextBox 3"/>
          <p:cNvSpPr txBox="1">
            <a:spLocks noChangeArrowheads="1"/>
          </p:cNvSpPr>
          <p:nvPr/>
        </p:nvSpPr>
        <p:spPr bwMode="auto">
          <a:xfrm>
            <a:off x="6796384" y="4080593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2</a:t>
            </a:r>
          </a:p>
        </p:txBody>
      </p:sp>
      <p:sp>
        <p:nvSpPr>
          <p:cNvPr id="89" name="TextBox 3"/>
          <p:cNvSpPr txBox="1">
            <a:spLocks noChangeArrowheads="1"/>
          </p:cNvSpPr>
          <p:nvPr/>
        </p:nvSpPr>
        <p:spPr bwMode="auto">
          <a:xfrm>
            <a:off x="6796573" y="4900562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4</a:t>
            </a:r>
          </a:p>
        </p:txBody>
      </p:sp>
      <p:sp>
        <p:nvSpPr>
          <p:cNvPr id="90" name="TextBox 3"/>
          <p:cNvSpPr txBox="1">
            <a:spLocks noChangeArrowheads="1"/>
          </p:cNvSpPr>
          <p:nvPr/>
        </p:nvSpPr>
        <p:spPr bwMode="auto">
          <a:xfrm>
            <a:off x="6796384" y="5512098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5</a:t>
            </a:r>
          </a:p>
        </p:txBody>
      </p:sp>
      <p:sp>
        <p:nvSpPr>
          <p:cNvPr id="91" name="TextBox 3"/>
          <p:cNvSpPr txBox="1">
            <a:spLocks noChangeArrowheads="1"/>
          </p:cNvSpPr>
          <p:nvPr/>
        </p:nvSpPr>
        <p:spPr bwMode="auto">
          <a:xfrm>
            <a:off x="6796384" y="4517740"/>
            <a:ext cx="680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3</a:t>
            </a:r>
          </a:p>
        </p:txBody>
      </p:sp>
      <p:cxnSp>
        <p:nvCxnSpPr>
          <p:cNvPr id="92" name="Straight Connector 91"/>
          <p:cNvCxnSpPr/>
          <p:nvPr/>
        </p:nvCxnSpPr>
        <p:spPr>
          <a:xfrm>
            <a:off x="7419470" y="4511966"/>
            <a:ext cx="1412332" cy="1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3"/>
          <p:cNvSpPr txBox="1">
            <a:spLocks noChangeArrowheads="1"/>
          </p:cNvSpPr>
          <p:nvPr/>
        </p:nvSpPr>
        <p:spPr bwMode="auto">
          <a:xfrm>
            <a:off x="6845022" y="6276124"/>
            <a:ext cx="680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ctr" eaLnBrk="1" hangingPunct="1">
              <a:defRPr sz="1400" i="1">
                <a:cs typeface="Arial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zh-CN" sz="1200" dirty="0"/>
              <a:t>Region </a:t>
            </a:r>
            <a:r>
              <a:rPr lang="en-US" altLang="zh-CN" sz="1200" dirty="0" smtClean="0"/>
              <a:t>6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83797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7533E-6 -4.12676E-6 L 0.06811 -0.23641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5" y="-118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5E-7 -4.43211E-6 L 0.07227 -0.11219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4" y="-56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6" grpId="1" animBg="1"/>
      <p:bldP spid="32" grpId="0"/>
      <p:bldP spid="33" grpId="0"/>
      <p:bldP spid="34" grpId="0"/>
      <p:bldP spid="35" grpId="0"/>
      <p:bldP spid="36" grpId="0"/>
      <p:bldP spid="71" grpId="0"/>
      <p:bldP spid="73" grpId="0" animBg="1"/>
      <p:bldP spid="74" grpId="0" animBg="1"/>
      <p:bldP spid="75" grpId="0" animBg="1"/>
      <p:bldP spid="76" grpId="0" animBg="1"/>
      <p:bldP spid="76" grpId="1" animBg="1"/>
      <p:bldP spid="77" grpId="0" animBg="1"/>
      <p:bldP spid="82" grpId="0" animBg="1"/>
      <p:bldP spid="87" grpId="0"/>
      <p:bldP spid="88" grpId="0"/>
      <p:bldP spid="89" grpId="0"/>
      <p:bldP spid="90" grpId="0"/>
      <p:bldP spid="91" grpId="0"/>
      <p:bldP spid="9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Poorly Formed Loops</a:t>
            </a:r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Contain </a:t>
            </a:r>
            <a:r>
              <a:rPr lang="en-US" dirty="0"/>
              <a:t>multiple exits</a:t>
            </a:r>
          </a:p>
          <a:p>
            <a:pPr lvl="1"/>
            <a:r>
              <a:rPr lang="en-US" dirty="0"/>
              <a:t>Caused by continue, break, and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en-US" dirty="0" smtClean="0"/>
              <a:t>statements</a:t>
            </a:r>
          </a:p>
          <a:p>
            <a:r>
              <a:rPr lang="en-US" dirty="0"/>
              <a:t>Transform the loops</a:t>
            </a:r>
          </a:p>
          <a:p>
            <a:pPr lvl="1"/>
            <a:r>
              <a:rPr lang="en-US" dirty="0"/>
              <a:t>Create a single exit block; lead all outgoing and back edges to exit block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41" name="Group 41"/>
          <p:cNvGrpSpPr/>
          <p:nvPr/>
        </p:nvGrpSpPr>
        <p:grpSpPr>
          <a:xfrm>
            <a:off x="2382442" y="3008855"/>
            <a:ext cx="1598612" cy="3117852"/>
            <a:chOff x="5594350" y="1700754"/>
            <a:chExt cx="1598612" cy="3117852"/>
          </a:xfrm>
        </p:grpSpPr>
        <p:cxnSp>
          <p:nvCxnSpPr>
            <p:cNvPr id="4" name="Straight Arrow Connector 3"/>
            <p:cNvCxnSpPr>
              <a:stCxn id="6" idx="2"/>
              <a:endCxn id="8" idx="0"/>
            </p:cNvCxnSpPr>
            <p:nvPr/>
          </p:nvCxnSpPr>
          <p:spPr bwMode="auto">
            <a:xfrm flipH="1">
              <a:off x="5876131" y="2770730"/>
              <a:ext cx="426244" cy="398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>
              <a:stCxn id="6" idx="2"/>
              <a:endCxn id="7" idx="0"/>
            </p:cNvCxnSpPr>
            <p:nvPr/>
          </p:nvCxnSpPr>
          <p:spPr bwMode="auto">
            <a:xfrm>
              <a:off x="6302375" y="2770730"/>
              <a:ext cx="441965" cy="387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7"/>
            <p:cNvSpPr/>
            <p:nvPr/>
          </p:nvSpPr>
          <p:spPr bwMode="auto">
            <a:xfrm>
              <a:off x="6021387" y="2373855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B1</a:t>
              </a:r>
            </a:p>
          </p:txBody>
        </p:sp>
        <p:sp>
          <p:nvSpPr>
            <p:cNvPr id="7" name="Rectangle 7"/>
            <p:cNvSpPr/>
            <p:nvPr/>
          </p:nvSpPr>
          <p:spPr bwMode="auto">
            <a:xfrm>
              <a:off x="6463352" y="3158080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B3</a:t>
              </a: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5594350" y="3169193"/>
              <a:ext cx="563562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B2</a:t>
              </a:r>
            </a:p>
          </p:txBody>
        </p:sp>
        <p:sp>
          <p:nvSpPr>
            <p:cNvPr id="9" name="Rectangle 7"/>
            <p:cNvSpPr/>
            <p:nvPr/>
          </p:nvSpPr>
          <p:spPr bwMode="auto">
            <a:xfrm>
              <a:off x="5837237" y="4421730"/>
              <a:ext cx="563563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7"/>
            <p:cNvSpPr/>
            <p:nvPr/>
          </p:nvSpPr>
          <p:spPr bwMode="auto">
            <a:xfrm>
              <a:off x="6463352" y="3770855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53"/>
            <p:cNvCxnSpPr>
              <a:stCxn id="10" idx="2"/>
            </p:cNvCxnSpPr>
            <p:nvPr/>
          </p:nvCxnSpPr>
          <p:spPr bwMode="auto">
            <a:xfrm>
              <a:off x="6744340" y="4167730"/>
              <a:ext cx="448622" cy="4508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53"/>
            <p:cNvCxnSpPr>
              <a:stCxn id="8" idx="2"/>
              <a:endCxn id="16" idx="0"/>
            </p:cNvCxnSpPr>
            <p:nvPr/>
          </p:nvCxnSpPr>
          <p:spPr bwMode="auto">
            <a:xfrm flipH="1">
              <a:off x="5875338" y="3566068"/>
              <a:ext cx="793" cy="2047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53"/>
            <p:cNvCxnSpPr>
              <a:stCxn id="7" idx="2"/>
              <a:endCxn id="10" idx="0"/>
            </p:cNvCxnSpPr>
            <p:nvPr/>
          </p:nvCxnSpPr>
          <p:spPr bwMode="auto">
            <a:xfrm>
              <a:off x="6744340" y="3554955"/>
              <a:ext cx="0" cy="2159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曲线连接符 2060"/>
            <p:cNvCxnSpPr>
              <a:stCxn id="9" idx="2"/>
              <a:endCxn id="18" idx="1"/>
            </p:cNvCxnSpPr>
            <p:nvPr/>
          </p:nvCxnSpPr>
          <p:spPr>
            <a:xfrm rot="5400000" flipH="1">
              <a:off x="4610497" y="3310084"/>
              <a:ext cx="2919413" cy="97631"/>
            </a:xfrm>
            <a:prstGeom prst="curvedConnector4">
              <a:avLst>
                <a:gd name="adj1" fmla="val -7830"/>
                <a:gd name="adj2" fmla="val 77438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53"/>
            <p:cNvCxnSpPr>
              <a:stCxn id="10" idx="2"/>
              <a:endCxn id="9" idx="0"/>
            </p:cNvCxnSpPr>
            <p:nvPr/>
          </p:nvCxnSpPr>
          <p:spPr bwMode="auto">
            <a:xfrm flipH="1">
              <a:off x="6119019" y="4167730"/>
              <a:ext cx="625321" cy="254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7"/>
            <p:cNvSpPr/>
            <p:nvPr/>
          </p:nvSpPr>
          <p:spPr bwMode="auto">
            <a:xfrm>
              <a:off x="5594350" y="3770855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B4</a:t>
              </a:r>
            </a:p>
          </p:txBody>
        </p:sp>
        <p:cxnSp>
          <p:nvCxnSpPr>
            <p:cNvPr id="17" name="Straight Arrow Connector 53"/>
            <p:cNvCxnSpPr>
              <a:stCxn id="16" idx="2"/>
              <a:endCxn id="9" idx="0"/>
            </p:cNvCxnSpPr>
            <p:nvPr/>
          </p:nvCxnSpPr>
          <p:spPr bwMode="auto">
            <a:xfrm>
              <a:off x="5875338" y="4167730"/>
              <a:ext cx="243681" cy="254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7"/>
            <p:cNvSpPr/>
            <p:nvPr/>
          </p:nvSpPr>
          <p:spPr bwMode="auto">
            <a:xfrm>
              <a:off x="6021388" y="1700754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/>
            <p:cNvCxnSpPr>
              <a:stCxn id="18" idx="2"/>
              <a:endCxn id="6" idx="0"/>
            </p:cNvCxnSpPr>
            <p:nvPr/>
          </p:nvCxnSpPr>
          <p:spPr bwMode="auto">
            <a:xfrm flipH="1">
              <a:off x="6302375" y="2097629"/>
              <a:ext cx="1" cy="2762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8" idx="2"/>
            </p:cNvCxnSpPr>
            <p:nvPr/>
          </p:nvCxnSpPr>
          <p:spPr bwMode="auto">
            <a:xfrm>
              <a:off x="6302376" y="2097629"/>
              <a:ext cx="890586" cy="2762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7" idx="2"/>
            </p:cNvCxnSpPr>
            <p:nvPr/>
          </p:nvCxnSpPr>
          <p:spPr bwMode="auto">
            <a:xfrm>
              <a:off x="6744340" y="3554955"/>
              <a:ext cx="448622" cy="1948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矩形 50"/>
          <p:cNvSpPr/>
          <p:nvPr/>
        </p:nvSpPr>
        <p:spPr>
          <a:xfrm>
            <a:off x="5999438" y="6251053"/>
            <a:ext cx="730250" cy="49847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  <a:cs typeface="Arial" pitchFamily="34" charset="0"/>
              </a:rPr>
              <a:t>Exit </a:t>
            </a:r>
            <a:endParaRPr lang="en-US" altLang="zh-CN" sz="1000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45" name="Right Arrow 42"/>
          <p:cNvSpPr/>
          <p:nvPr/>
        </p:nvSpPr>
        <p:spPr>
          <a:xfrm>
            <a:off x="4130694" y="4465189"/>
            <a:ext cx="1012152" cy="4953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7"/>
          <p:cNvGrpSpPr/>
          <p:nvPr/>
        </p:nvGrpSpPr>
        <p:grpSpPr>
          <a:xfrm>
            <a:off x="5313638" y="2976583"/>
            <a:ext cx="1430977" cy="3722145"/>
            <a:chOff x="5313638" y="2976583"/>
            <a:chExt cx="1430977" cy="3722145"/>
          </a:xfrm>
        </p:grpSpPr>
        <p:cxnSp>
          <p:nvCxnSpPr>
            <p:cNvPr id="22" name="Straight Arrow Connector 21"/>
            <p:cNvCxnSpPr>
              <a:stCxn id="24" idx="2"/>
              <a:endCxn id="26" idx="0"/>
            </p:cNvCxnSpPr>
            <p:nvPr/>
          </p:nvCxnSpPr>
          <p:spPr bwMode="auto">
            <a:xfrm flipH="1">
              <a:off x="5595419" y="4046559"/>
              <a:ext cx="426244" cy="3984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24" idx="2"/>
              <a:endCxn id="25" idx="0"/>
            </p:cNvCxnSpPr>
            <p:nvPr/>
          </p:nvCxnSpPr>
          <p:spPr bwMode="auto">
            <a:xfrm>
              <a:off x="6021663" y="4046559"/>
              <a:ext cx="441965" cy="3873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7"/>
            <p:cNvSpPr/>
            <p:nvPr/>
          </p:nvSpPr>
          <p:spPr bwMode="auto">
            <a:xfrm>
              <a:off x="5740675" y="3649684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B1</a:t>
              </a:r>
            </a:p>
          </p:txBody>
        </p:sp>
        <p:sp>
          <p:nvSpPr>
            <p:cNvPr id="25" name="Rectangle 7"/>
            <p:cNvSpPr/>
            <p:nvPr/>
          </p:nvSpPr>
          <p:spPr bwMode="auto">
            <a:xfrm>
              <a:off x="6182640" y="4433909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B3</a:t>
              </a:r>
            </a:p>
          </p:txBody>
        </p:sp>
        <p:sp>
          <p:nvSpPr>
            <p:cNvPr id="26" name="Rectangle 7"/>
            <p:cNvSpPr/>
            <p:nvPr/>
          </p:nvSpPr>
          <p:spPr bwMode="auto">
            <a:xfrm>
              <a:off x="5313638" y="4445022"/>
              <a:ext cx="563562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B2</a:t>
              </a:r>
            </a:p>
          </p:txBody>
        </p:sp>
        <p:sp>
          <p:nvSpPr>
            <p:cNvPr id="27" name="Rectangle 7"/>
            <p:cNvSpPr/>
            <p:nvPr/>
          </p:nvSpPr>
          <p:spPr bwMode="auto">
            <a:xfrm>
              <a:off x="5556525" y="5697559"/>
              <a:ext cx="563563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7"/>
            <p:cNvSpPr/>
            <p:nvPr/>
          </p:nvSpPr>
          <p:spPr bwMode="auto">
            <a:xfrm>
              <a:off x="6182640" y="5046684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53"/>
            <p:cNvCxnSpPr>
              <a:stCxn id="28" idx="2"/>
              <a:endCxn id="37" idx="0"/>
            </p:cNvCxnSpPr>
            <p:nvPr/>
          </p:nvCxnSpPr>
          <p:spPr bwMode="auto">
            <a:xfrm flipH="1">
              <a:off x="6364563" y="5443559"/>
              <a:ext cx="99065" cy="8582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53"/>
            <p:cNvCxnSpPr>
              <a:stCxn id="26" idx="2"/>
              <a:endCxn id="33" idx="0"/>
            </p:cNvCxnSpPr>
            <p:nvPr/>
          </p:nvCxnSpPr>
          <p:spPr bwMode="auto">
            <a:xfrm flipH="1">
              <a:off x="5594626" y="4841897"/>
              <a:ext cx="793" cy="2047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53"/>
            <p:cNvCxnSpPr>
              <a:stCxn id="25" idx="2"/>
              <a:endCxn id="28" idx="0"/>
            </p:cNvCxnSpPr>
            <p:nvPr/>
          </p:nvCxnSpPr>
          <p:spPr bwMode="auto">
            <a:xfrm>
              <a:off x="6463628" y="4830784"/>
              <a:ext cx="0" cy="2159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53"/>
            <p:cNvCxnSpPr>
              <a:stCxn id="28" idx="2"/>
              <a:endCxn id="27" idx="0"/>
            </p:cNvCxnSpPr>
            <p:nvPr/>
          </p:nvCxnSpPr>
          <p:spPr bwMode="auto">
            <a:xfrm flipH="1">
              <a:off x="5838307" y="5443559"/>
              <a:ext cx="625321" cy="254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7"/>
            <p:cNvSpPr/>
            <p:nvPr/>
          </p:nvSpPr>
          <p:spPr bwMode="auto">
            <a:xfrm>
              <a:off x="5313638" y="5046684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B4</a:t>
              </a:r>
            </a:p>
          </p:txBody>
        </p:sp>
        <p:cxnSp>
          <p:nvCxnSpPr>
            <p:cNvPr id="34" name="Straight Arrow Connector 53"/>
            <p:cNvCxnSpPr>
              <a:stCxn id="33" idx="2"/>
              <a:endCxn id="27" idx="0"/>
            </p:cNvCxnSpPr>
            <p:nvPr/>
          </p:nvCxnSpPr>
          <p:spPr bwMode="auto">
            <a:xfrm>
              <a:off x="5594626" y="5443559"/>
              <a:ext cx="243681" cy="254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7"/>
            <p:cNvSpPr/>
            <p:nvPr/>
          </p:nvSpPr>
          <p:spPr bwMode="auto">
            <a:xfrm>
              <a:off x="5740676" y="2976583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Straight Arrow Connector 35"/>
            <p:cNvCxnSpPr>
              <a:stCxn id="35" idx="2"/>
              <a:endCxn id="24" idx="0"/>
            </p:cNvCxnSpPr>
            <p:nvPr/>
          </p:nvCxnSpPr>
          <p:spPr bwMode="auto">
            <a:xfrm flipH="1">
              <a:off x="6021663" y="3373458"/>
              <a:ext cx="1" cy="2762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7"/>
            <p:cNvSpPr/>
            <p:nvPr/>
          </p:nvSpPr>
          <p:spPr bwMode="auto">
            <a:xfrm>
              <a:off x="6083575" y="6301853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Arrow Connector 53"/>
            <p:cNvCxnSpPr>
              <a:stCxn id="27" idx="2"/>
              <a:endCxn id="37" idx="0"/>
            </p:cNvCxnSpPr>
            <p:nvPr/>
          </p:nvCxnSpPr>
          <p:spPr bwMode="auto">
            <a:xfrm>
              <a:off x="5838307" y="6094434"/>
              <a:ext cx="526256" cy="2074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曲线连接符 2060"/>
            <p:cNvCxnSpPr>
              <a:stCxn id="25" idx="3"/>
              <a:endCxn id="37" idx="3"/>
            </p:cNvCxnSpPr>
            <p:nvPr/>
          </p:nvCxnSpPr>
          <p:spPr>
            <a:xfrm flipH="1">
              <a:off x="6645550" y="4632347"/>
              <a:ext cx="99065" cy="1867944"/>
            </a:xfrm>
            <a:prstGeom prst="curvedConnector3">
              <a:avLst>
                <a:gd name="adj1" fmla="val -23075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曲线连接符 2060"/>
            <p:cNvCxnSpPr>
              <a:stCxn id="35" idx="3"/>
              <a:endCxn id="37" idx="3"/>
            </p:cNvCxnSpPr>
            <p:nvPr/>
          </p:nvCxnSpPr>
          <p:spPr>
            <a:xfrm>
              <a:off x="6302651" y="3175021"/>
              <a:ext cx="342899" cy="3325270"/>
            </a:xfrm>
            <a:prstGeom prst="curvedConnector3">
              <a:avLst>
                <a:gd name="adj1" fmla="val 27911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437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Poorly Formed Loops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Intertwined loops</a:t>
            </a:r>
          </a:p>
          <a:p>
            <a:pPr lvl="1"/>
            <a:r>
              <a:rPr lang="en-US" dirty="0" smtClean="0"/>
              <a:t>Caused by </a:t>
            </a:r>
            <a:r>
              <a:rPr lang="en-US" dirty="0" err="1" smtClean="0"/>
              <a:t>goto</a:t>
            </a:r>
            <a:r>
              <a:rPr lang="en-US" dirty="0" smtClean="0"/>
              <a:t> statements</a:t>
            </a:r>
          </a:p>
          <a:p>
            <a:r>
              <a:rPr lang="en-US" dirty="0" smtClean="0"/>
              <a:t>Transform the loops</a:t>
            </a:r>
          </a:p>
          <a:p>
            <a:pPr lvl="1"/>
            <a:r>
              <a:rPr lang="en-US" dirty="0" smtClean="0"/>
              <a:t>Create a single exit block; lead all outgoing and back edges to exit block.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600200" y="3909270"/>
            <a:ext cx="2065007" cy="1549899"/>
            <a:chOff x="7064375" y="1774208"/>
            <a:chExt cx="1431925" cy="1074737"/>
          </a:xfrm>
        </p:grpSpPr>
        <p:sp>
          <p:nvSpPr>
            <p:cNvPr id="4" name="Rectangle 7"/>
            <p:cNvSpPr/>
            <p:nvPr/>
          </p:nvSpPr>
          <p:spPr bwMode="auto">
            <a:xfrm>
              <a:off x="7491412" y="1774208"/>
              <a:ext cx="563563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7"/>
            <p:cNvSpPr/>
            <p:nvPr/>
          </p:nvSpPr>
          <p:spPr bwMode="auto">
            <a:xfrm>
              <a:off x="7064375" y="2447308"/>
              <a:ext cx="563562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7"/>
            <p:cNvSpPr/>
            <p:nvPr/>
          </p:nvSpPr>
          <p:spPr bwMode="auto">
            <a:xfrm>
              <a:off x="7932737" y="2452070"/>
              <a:ext cx="563563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Arrow Connector 53"/>
            <p:cNvCxnSpPr>
              <a:stCxn id="4" idx="2"/>
              <a:endCxn id="5" idx="0"/>
            </p:cNvCxnSpPr>
            <p:nvPr/>
          </p:nvCxnSpPr>
          <p:spPr bwMode="auto">
            <a:xfrm flipH="1">
              <a:off x="7346950" y="2171083"/>
              <a:ext cx="425450" cy="2762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53"/>
            <p:cNvCxnSpPr>
              <a:stCxn id="4" idx="2"/>
              <a:endCxn id="6" idx="0"/>
            </p:cNvCxnSpPr>
            <p:nvPr/>
          </p:nvCxnSpPr>
          <p:spPr bwMode="auto">
            <a:xfrm>
              <a:off x="7772400" y="2171083"/>
              <a:ext cx="442912" cy="280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曲线连接符 2056"/>
            <p:cNvCxnSpPr>
              <a:stCxn id="5" idx="2"/>
              <a:endCxn id="4" idx="1"/>
            </p:cNvCxnSpPr>
            <p:nvPr/>
          </p:nvCxnSpPr>
          <p:spPr>
            <a:xfrm rot="5400000" flipH="1" flipV="1">
              <a:off x="6983412" y="2336183"/>
              <a:ext cx="871538" cy="144462"/>
            </a:xfrm>
            <a:prstGeom prst="curvedConnector4">
              <a:avLst>
                <a:gd name="adj1" fmla="val -26230"/>
                <a:gd name="adj2" fmla="val -35136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曲线连接符 2060"/>
            <p:cNvCxnSpPr>
              <a:stCxn id="6" idx="2"/>
              <a:endCxn id="4" idx="3"/>
            </p:cNvCxnSpPr>
            <p:nvPr/>
          </p:nvCxnSpPr>
          <p:spPr>
            <a:xfrm rot="5400000" flipH="1">
              <a:off x="7696994" y="2330626"/>
              <a:ext cx="876300" cy="160337"/>
            </a:xfrm>
            <a:prstGeom prst="curvedConnector4">
              <a:avLst>
                <a:gd name="adj1" fmla="val -26087"/>
                <a:gd name="adj2" fmla="val -319898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1"/>
          <p:cNvGrpSpPr/>
          <p:nvPr/>
        </p:nvGrpSpPr>
        <p:grpSpPr>
          <a:xfrm>
            <a:off x="5874864" y="3769166"/>
            <a:ext cx="2033041" cy="2420924"/>
            <a:chOff x="7030244" y="3353888"/>
            <a:chExt cx="1447800" cy="1724025"/>
          </a:xfrm>
        </p:grpSpPr>
        <p:sp>
          <p:nvSpPr>
            <p:cNvPr id="11" name="Rectangle 7"/>
            <p:cNvSpPr/>
            <p:nvPr/>
          </p:nvSpPr>
          <p:spPr bwMode="auto">
            <a:xfrm>
              <a:off x="7489032" y="3353888"/>
              <a:ext cx="563562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7"/>
            <p:cNvSpPr/>
            <p:nvPr/>
          </p:nvSpPr>
          <p:spPr bwMode="auto">
            <a:xfrm>
              <a:off x="7030244" y="3988888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53"/>
            <p:cNvCxnSpPr>
              <a:stCxn id="11" idx="2"/>
              <a:endCxn id="12" idx="0"/>
            </p:cNvCxnSpPr>
            <p:nvPr/>
          </p:nvCxnSpPr>
          <p:spPr bwMode="auto">
            <a:xfrm flipH="1">
              <a:off x="7311232" y="3750763"/>
              <a:ext cx="460375" cy="2381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7"/>
            <p:cNvSpPr/>
            <p:nvPr/>
          </p:nvSpPr>
          <p:spPr bwMode="auto">
            <a:xfrm>
              <a:off x="7916069" y="3990476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7"/>
            <p:cNvSpPr/>
            <p:nvPr/>
          </p:nvSpPr>
          <p:spPr bwMode="auto">
            <a:xfrm>
              <a:off x="7493794" y="4630238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53"/>
            <p:cNvCxnSpPr>
              <a:stCxn id="11" idx="2"/>
              <a:endCxn id="14" idx="0"/>
            </p:cNvCxnSpPr>
            <p:nvPr/>
          </p:nvCxnSpPr>
          <p:spPr bwMode="auto">
            <a:xfrm>
              <a:off x="7771607" y="3750763"/>
              <a:ext cx="425450" cy="2397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53"/>
            <p:cNvCxnSpPr>
              <a:stCxn id="14" idx="2"/>
              <a:endCxn id="15" idx="0"/>
            </p:cNvCxnSpPr>
            <p:nvPr/>
          </p:nvCxnSpPr>
          <p:spPr bwMode="auto">
            <a:xfrm flipH="1">
              <a:off x="7774782" y="4387351"/>
              <a:ext cx="422275" cy="2428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53"/>
            <p:cNvCxnSpPr>
              <a:stCxn id="12" idx="2"/>
              <a:endCxn id="15" idx="0"/>
            </p:cNvCxnSpPr>
            <p:nvPr/>
          </p:nvCxnSpPr>
          <p:spPr bwMode="auto">
            <a:xfrm>
              <a:off x="7311232" y="4385763"/>
              <a:ext cx="463550" cy="2444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50"/>
            <p:cNvSpPr/>
            <p:nvPr/>
          </p:nvSpPr>
          <p:spPr>
            <a:xfrm>
              <a:off x="7409657" y="4579438"/>
              <a:ext cx="730250" cy="4984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tx1"/>
                  </a:solidFill>
                  <a:cs typeface="Arial" pitchFamily="34" charset="0"/>
                </a:rPr>
                <a:t>Exit </a:t>
              </a:r>
              <a:endParaRPr lang="en-US" altLang="zh-CN" sz="1000" dirty="0">
                <a:solidFill>
                  <a:schemeClr val="tx1"/>
                </a:solidFill>
                <a:cs typeface="Arial" pitchFamily="34" charset="0"/>
              </a:endParaRPr>
            </a:p>
          </p:txBody>
        </p:sp>
      </p:grpSp>
      <p:sp>
        <p:nvSpPr>
          <p:cNvPr id="25" name="Right Arrow 22"/>
          <p:cNvSpPr/>
          <p:nvPr/>
        </p:nvSpPr>
        <p:spPr>
          <a:xfrm>
            <a:off x="4456542" y="4576220"/>
            <a:ext cx="1012152" cy="4953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basic block has more than two children</a:t>
            </a:r>
          </a:p>
          <a:p>
            <a:r>
              <a:rPr lang="en-US" dirty="0"/>
              <a:t>Transform graph so that each block has at most two children</a:t>
            </a:r>
          </a:p>
          <a:p>
            <a:endParaRPr lang="en-US" dirty="0"/>
          </a:p>
        </p:txBody>
      </p:sp>
      <p:grpSp>
        <p:nvGrpSpPr>
          <p:cNvPr id="6" name="Group 3"/>
          <p:cNvGrpSpPr/>
          <p:nvPr/>
        </p:nvGrpSpPr>
        <p:grpSpPr>
          <a:xfrm>
            <a:off x="842014" y="3332908"/>
            <a:ext cx="3200669" cy="2001092"/>
            <a:chOff x="842015" y="3332908"/>
            <a:chExt cx="1904360" cy="1190626"/>
          </a:xfrm>
        </p:grpSpPr>
        <p:sp>
          <p:nvSpPr>
            <p:cNvPr id="42" name="Rectangle 7"/>
            <p:cNvSpPr/>
            <p:nvPr/>
          </p:nvSpPr>
          <p:spPr bwMode="auto">
            <a:xfrm>
              <a:off x="1524000" y="3332908"/>
              <a:ext cx="563563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B1</a:t>
              </a:r>
            </a:p>
          </p:txBody>
        </p:sp>
        <p:sp>
          <p:nvSpPr>
            <p:cNvPr id="43" name="Rectangle 7"/>
            <p:cNvSpPr/>
            <p:nvPr/>
          </p:nvSpPr>
          <p:spPr bwMode="auto">
            <a:xfrm>
              <a:off x="842015" y="4126660"/>
              <a:ext cx="565150" cy="39687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B2</a:t>
              </a:r>
            </a:p>
          </p:txBody>
        </p:sp>
        <p:sp>
          <p:nvSpPr>
            <p:cNvPr id="44" name="Rectangle 7"/>
            <p:cNvSpPr/>
            <p:nvPr/>
          </p:nvSpPr>
          <p:spPr bwMode="auto">
            <a:xfrm>
              <a:off x="2182813" y="4126658"/>
              <a:ext cx="563562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B4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Straight Arrow Connector 53"/>
            <p:cNvCxnSpPr>
              <a:stCxn id="42" idx="2"/>
              <a:endCxn id="57" idx="0"/>
            </p:cNvCxnSpPr>
            <p:nvPr/>
          </p:nvCxnSpPr>
          <p:spPr bwMode="auto">
            <a:xfrm flipH="1">
              <a:off x="1804194" y="3729783"/>
              <a:ext cx="1588" cy="3968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53"/>
            <p:cNvCxnSpPr>
              <a:stCxn id="42" idx="2"/>
              <a:endCxn id="43" idx="0"/>
            </p:cNvCxnSpPr>
            <p:nvPr/>
          </p:nvCxnSpPr>
          <p:spPr bwMode="auto">
            <a:xfrm flipH="1">
              <a:off x="1124590" y="3729783"/>
              <a:ext cx="681192" cy="3968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53"/>
            <p:cNvCxnSpPr>
              <a:stCxn id="42" idx="2"/>
              <a:endCxn id="44" idx="0"/>
            </p:cNvCxnSpPr>
            <p:nvPr/>
          </p:nvCxnSpPr>
          <p:spPr bwMode="auto">
            <a:xfrm>
              <a:off x="1805782" y="3729783"/>
              <a:ext cx="658812" cy="3968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7"/>
            <p:cNvSpPr/>
            <p:nvPr/>
          </p:nvSpPr>
          <p:spPr bwMode="auto">
            <a:xfrm>
              <a:off x="1522413" y="4126659"/>
              <a:ext cx="563562" cy="39687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B3</a:t>
              </a:r>
            </a:p>
          </p:txBody>
        </p:sp>
      </p:grpSp>
      <p:grpSp>
        <p:nvGrpSpPr>
          <p:cNvPr id="7" name="Group 4"/>
          <p:cNvGrpSpPr/>
          <p:nvPr/>
        </p:nvGrpSpPr>
        <p:grpSpPr>
          <a:xfrm>
            <a:off x="5473888" y="3048960"/>
            <a:ext cx="2908112" cy="2764304"/>
            <a:chOff x="9218252" y="3050449"/>
            <a:chExt cx="1733550" cy="1647825"/>
          </a:xfrm>
        </p:grpSpPr>
        <p:sp>
          <p:nvSpPr>
            <p:cNvPr id="48" name="Rectangle 7"/>
            <p:cNvSpPr/>
            <p:nvPr/>
          </p:nvSpPr>
          <p:spPr bwMode="auto">
            <a:xfrm>
              <a:off x="10008827" y="3683861"/>
              <a:ext cx="78016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7"/>
            <p:cNvSpPr/>
            <p:nvPr/>
          </p:nvSpPr>
          <p:spPr bwMode="auto">
            <a:xfrm>
              <a:off x="9626240" y="3050449"/>
              <a:ext cx="563562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B1</a:t>
              </a:r>
            </a:p>
          </p:txBody>
        </p:sp>
        <p:cxnSp>
          <p:nvCxnSpPr>
            <p:cNvPr id="50" name="Straight Arrow Connector 53"/>
            <p:cNvCxnSpPr>
              <a:stCxn id="49" idx="2"/>
              <a:endCxn id="48" idx="0"/>
            </p:cNvCxnSpPr>
            <p:nvPr/>
          </p:nvCxnSpPr>
          <p:spPr bwMode="auto">
            <a:xfrm>
              <a:off x="9908021" y="3447324"/>
              <a:ext cx="490889" cy="2365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7"/>
            <p:cNvSpPr/>
            <p:nvPr/>
          </p:nvSpPr>
          <p:spPr bwMode="auto">
            <a:xfrm>
              <a:off x="9218252" y="3683861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B2</a:t>
              </a:r>
            </a:p>
          </p:txBody>
        </p:sp>
        <p:cxnSp>
          <p:nvCxnSpPr>
            <p:cNvPr id="52" name="Straight Arrow Connector 53"/>
            <p:cNvCxnSpPr>
              <a:stCxn id="49" idx="2"/>
              <a:endCxn id="51" idx="0"/>
            </p:cNvCxnSpPr>
            <p:nvPr/>
          </p:nvCxnSpPr>
          <p:spPr bwMode="auto">
            <a:xfrm flipH="1">
              <a:off x="9499240" y="3447324"/>
              <a:ext cx="408781" cy="2365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7"/>
            <p:cNvSpPr/>
            <p:nvPr/>
          </p:nvSpPr>
          <p:spPr bwMode="auto">
            <a:xfrm>
              <a:off x="10389827" y="4300368"/>
              <a:ext cx="561975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B4</a:t>
              </a:r>
            </a:p>
          </p:txBody>
        </p:sp>
        <p:sp>
          <p:nvSpPr>
            <p:cNvPr id="54" name="Rectangle 7"/>
            <p:cNvSpPr/>
            <p:nvPr/>
          </p:nvSpPr>
          <p:spPr bwMode="auto">
            <a:xfrm>
              <a:off x="9750064" y="4301399"/>
              <a:ext cx="563563" cy="396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tx1"/>
                  </a:solidFill>
                </a:rPr>
                <a:t>B3</a:t>
              </a:r>
            </a:p>
          </p:txBody>
        </p:sp>
        <p:cxnSp>
          <p:nvCxnSpPr>
            <p:cNvPr id="55" name="Straight Arrow Connector 53"/>
            <p:cNvCxnSpPr>
              <a:stCxn id="48" idx="2"/>
              <a:endCxn id="54" idx="0"/>
            </p:cNvCxnSpPr>
            <p:nvPr/>
          </p:nvCxnSpPr>
          <p:spPr bwMode="auto">
            <a:xfrm flipH="1">
              <a:off x="10031846" y="4080736"/>
              <a:ext cx="367064" cy="2206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3"/>
            <p:cNvCxnSpPr>
              <a:stCxn id="48" idx="2"/>
              <a:endCxn id="53" idx="0"/>
            </p:cNvCxnSpPr>
            <p:nvPr/>
          </p:nvCxnSpPr>
          <p:spPr bwMode="auto">
            <a:xfrm>
              <a:off x="10398910" y="4080736"/>
              <a:ext cx="271905" cy="2196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7"/>
            <p:cNvSpPr/>
            <p:nvPr/>
          </p:nvSpPr>
          <p:spPr bwMode="auto">
            <a:xfrm>
              <a:off x="9911548" y="3683860"/>
              <a:ext cx="971107" cy="39687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000" b="1" dirty="0" smtClean="0">
                  <a:solidFill>
                    <a:schemeClr val="tx1"/>
                  </a:solidFill>
                </a:rPr>
                <a:t>Intermediate</a:t>
              </a:r>
              <a:endParaRPr lang="en-US" sz="10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en-US" sz="1000" b="1" dirty="0">
                  <a:solidFill>
                    <a:schemeClr val="tx1"/>
                  </a:solidFill>
                </a:rPr>
                <a:t>Block</a:t>
              </a:r>
            </a:p>
          </p:txBody>
        </p:sp>
      </p:grpSp>
      <p:sp>
        <p:nvSpPr>
          <p:cNvPr id="8" name="Right Arrow 23"/>
          <p:cNvSpPr/>
          <p:nvPr/>
        </p:nvSpPr>
        <p:spPr>
          <a:xfrm>
            <a:off x="4241439" y="4148477"/>
            <a:ext cx="1012152" cy="49530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0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Setup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Construct GCCFG using LLVM</a:t>
            </a:r>
          </a:p>
          <a:p>
            <a:pPr lvl="1"/>
            <a:r>
              <a:rPr lang="en-US" dirty="0" err="1"/>
              <a:t>llvm</a:t>
            </a:r>
            <a:r>
              <a:rPr lang="en-US" dirty="0"/>
              <a:t>-link unites all source code files into one </a:t>
            </a:r>
            <a:r>
              <a:rPr lang="en-US" dirty="0" smtClean="0"/>
              <a:t>file</a:t>
            </a:r>
          </a:p>
          <a:p>
            <a:pPr lvl="1"/>
            <a:r>
              <a:rPr lang="en-US" dirty="0" err="1" smtClean="0"/>
              <a:t>llvm</a:t>
            </a:r>
            <a:r>
              <a:rPr lang="en-US" dirty="0" smtClean="0"/>
              <a:t> Function </a:t>
            </a:r>
            <a:r>
              <a:rPr lang="en-US" dirty="0"/>
              <a:t>P</a:t>
            </a:r>
            <a:r>
              <a:rPr lang="en-US" dirty="0" smtClean="0"/>
              <a:t>ass operates on one function at a time</a:t>
            </a:r>
          </a:p>
          <a:p>
            <a:pPr lvl="1"/>
            <a:r>
              <a:rPr lang="en-US" dirty="0" smtClean="0"/>
              <a:t>After all passes are finished </a:t>
            </a:r>
          </a:p>
          <a:p>
            <a:pPr lvl="2"/>
            <a:r>
              <a:rPr lang="en-US" dirty="0" smtClean="0"/>
              <a:t>Combine all CCFG’s into GCCFG</a:t>
            </a:r>
            <a:endParaRPr lang="en-US" dirty="0"/>
          </a:p>
          <a:p>
            <a:pPr lvl="1"/>
            <a:r>
              <a:rPr lang="en-US" dirty="0" smtClean="0"/>
              <a:t>Annotate graph</a:t>
            </a:r>
          </a:p>
          <a:p>
            <a:pPr lvl="2"/>
            <a:r>
              <a:rPr lang="en-US" dirty="0" smtClean="0"/>
              <a:t>Information relevant to Code, Stack management</a:t>
            </a:r>
          </a:p>
          <a:p>
            <a:r>
              <a:rPr lang="en-US" dirty="0" smtClean="0"/>
              <a:t>Code </a:t>
            </a:r>
            <a:r>
              <a:rPr lang="en-US" dirty="0"/>
              <a:t>management and Stack management</a:t>
            </a:r>
          </a:p>
          <a:p>
            <a:pPr lvl="1"/>
            <a:r>
              <a:rPr lang="en-US" dirty="0"/>
              <a:t>Use Global CFG vs GCCFG as input</a:t>
            </a:r>
          </a:p>
          <a:p>
            <a:pPr lvl="1"/>
            <a:r>
              <a:rPr lang="en-US" dirty="0"/>
              <a:t>Measure time to compile both, using each data </a:t>
            </a:r>
            <a:r>
              <a:rPr lang="en-US" dirty="0" smtClean="0"/>
              <a:t>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47800"/>
          </a:xfrm>
        </p:spPr>
        <p:txBody>
          <a:bodyPr>
            <a:normAutofit/>
          </a:bodyPr>
          <a:lstStyle/>
          <a:p>
            <a:r>
              <a:rPr lang="en-US" dirty="0" smtClean="0"/>
              <a:t>Code Management: GCCFG 5x faster compile time than Global CFG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8323858"/>
              </p:ext>
            </p:extLst>
          </p:nvPr>
        </p:nvGraphicFramePr>
        <p:xfrm>
          <a:off x="838200" y="1752600"/>
          <a:ext cx="7680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7467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Stack management: GCCFG 4x faster compile time than Global CFG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1682527"/>
              </p:ext>
            </p:extLst>
          </p:nvPr>
        </p:nvGraphicFramePr>
        <p:xfrm>
          <a:off x="457199" y="1752600"/>
          <a:ext cx="7721615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6099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dirty="0"/>
              <a:t>GCCFG 9x smaller than Global CFG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36527"/>
              </p:ext>
            </p:extLst>
          </p:nvPr>
        </p:nvGraphicFramePr>
        <p:xfrm>
          <a:off x="914400" y="1447800"/>
          <a:ext cx="7007352" cy="4099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3119"/>
                <a:gridCol w="2367812"/>
                <a:gridCol w="2086421"/>
              </a:tblGrid>
              <a:tr h="409956">
                <a:tc>
                  <a:txBody>
                    <a:bodyPr/>
                    <a:lstStyle/>
                    <a:p>
                      <a:pPr algn="l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Graph Size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Benchmark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GCCFG(Nodes)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GCFG(Nodes)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Basicmath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Dijkstra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 smtClean="0">
                          <a:effectLst/>
                        </a:rPr>
                        <a:t>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71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Patricia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124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Sha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14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111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String_Search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Susan_Corners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389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Susan_Edge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399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09956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Susan_Smoothing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168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44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Coherent Caches will not scale for long</a:t>
            </a:r>
          </a:p>
          <a:p>
            <a:r>
              <a:rPr lang="en-US" dirty="0" smtClean="0"/>
              <a:t>SMM architectures is a promising solution</a:t>
            </a:r>
          </a:p>
          <a:p>
            <a:pPr lvl="1"/>
            <a:r>
              <a:rPr lang="en-US" dirty="0" smtClean="0"/>
              <a:t>Each core has a SPM</a:t>
            </a:r>
          </a:p>
          <a:p>
            <a:pPr lvl="1"/>
            <a:r>
              <a:rPr lang="en-US" dirty="0" smtClean="0"/>
              <a:t>Code and data must be explicitly managed</a:t>
            </a:r>
          </a:p>
          <a:p>
            <a:r>
              <a:rPr lang="en-US" dirty="0"/>
              <a:t>C</a:t>
            </a:r>
            <a:r>
              <a:rPr lang="en-US" dirty="0" smtClean="0"/>
              <a:t>ompiler techniques for SMM already use GCCFG</a:t>
            </a:r>
          </a:p>
          <a:p>
            <a:pPr lvl="1"/>
            <a:r>
              <a:rPr lang="en-US" dirty="0" smtClean="0"/>
              <a:t>Construction hasn’t been shown yet</a:t>
            </a:r>
          </a:p>
          <a:p>
            <a:pPr lvl="1"/>
            <a:r>
              <a:rPr lang="en-US" dirty="0" smtClean="0"/>
              <a:t>Construction is not straight forward in many common cases</a:t>
            </a:r>
          </a:p>
          <a:p>
            <a:r>
              <a:rPr lang="en-US" dirty="0" smtClean="0"/>
              <a:t>Using GCCFG instead of Global CFG is more efficient</a:t>
            </a:r>
          </a:p>
          <a:p>
            <a:pPr lvl="1"/>
            <a:r>
              <a:rPr lang="en-US" dirty="0" smtClean="0"/>
              <a:t>5X average compilation time speedup in state-of-the-art code management</a:t>
            </a:r>
          </a:p>
          <a:p>
            <a:pPr lvl="1"/>
            <a:r>
              <a:rPr lang="en-US" dirty="0" smtClean="0"/>
              <a:t>4X average compilation time speedup in state-of-the-art stack 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3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Outcomes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44CF0-85CE-42A4-AA82-F85AEEBDEB77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Paper accepted and presented at CASES 2014</a:t>
            </a:r>
          </a:p>
          <a:p>
            <a:r>
              <a:rPr lang="en-US" dirty="0" smtClean="0"/>
              <a:t>Patent application filed. Currently in </a:t>
            </a:r>
            <a:r>
              <a:rPr lang="en-US" smtClean="0"/>
              <a:t>review.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237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31.8|15.9|2.2|15.8|5.4|35.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16807</TotalTime>
  <Words>2379</Words>
  <Application>Microsoft Office PowerPoint</Application>
  <PresentationFormat>On-screen Show (4:3)</PresentationFormat>
  <Paragraphs>740</Paragraphs>
  <Slides>33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50" baseType="lpstr">
      <vt:lpstr>MS PGothic</vt:lpstr>
      <vt:lpstr>宋体</vt:lpstr>
      <vt:lpstr>宋体</vt:lpstr>
      <vt:lpstr>Arial</vt:lpstr>
      <vt:lpstr>Bookman Old Style</vt:lpstr>
      <vt:lpstr>Calibri</vt:lpstr>
      <vt:lpstr>Cambria Math</vt:lpstr>
      <vt:lpstr>Candara</vt:lpstr>
      <vt:lpstr>Comic Sans MS</vt:lpstr>
      <vt:lpstr>Gill Sans MT</vt:lpstr>
      <vt:lpstr>华文新魏</vt:lpstr>
      <vt:lpstr>Times New Roman</vt:lpstr>
      <vt:lpstr>Wingdings</vt:lpstr>
      <vt:lpstr>Wingdings 3</vt:lpstr>
      <vt:lpstr>ヒラギノ角ゴ Pro W3</vt:lpstr>
      <vt:lpstr>Origin</vt:lpstr>
      <vt:lpstr>Worksheet</vt:lpstr>
      <vt:lpstr>GCCFG: A New Graphical Representation for  Inter-procedural Optimizations in  Software-Managed Manycore (SMM) Architectures</vt:lpstr>
      <vt:lpstr>Simplified Overview</vt:lpstr>
      <vt:lpstr>PowerPoint Presentation</vt:lpstr>
      <vt:lpstr>Software Managed Manycore (SMM)</vt:lpstr>
      <vt:lpstr>Scratchpad Memory (SPM)</vt:lpstr>
      <vt:lpstr>The Promise of SMM Architecture</vt:lpstr>
      <vt:lpstr>Manage code and data in Software</vt:lpstr>
      <vt:lpstr>How to efficiently manage code and data</vt:lpstr>
      <vt:lpstr>The problem of Code Management</vt:lpstr>
      <vt:lpstr>Code Management: Setting</vt:lpstr>
      <vt:lpstr>Code Management Optimization</vt:lpstr>
      <vt:lpstr>How do we capture the whole program?</vt:lpstr>
      <vt:lpstr>How do we capture the whole program</vt:lpstr>
      <vt:lpstr>GCCFG: Global Call Control Flow Graph</vt:lpstr>
      <vt:lpstr>Example Graph: Dijkstra</vt:lpstr>
      <vt:lpstr>How to construct GCCFG?</vt:lpstr>
      <vt:lpstr>Step 1: Extract Loop Information</vt:lpstr>
      <vt:lpstr>Step 2: Build an HFG</vt:lpstr>
      <vt:lpstr>Step 3a: Create nodes of CCFG</vt:lpstr>
      <vt:lpstr>Step 3b: Add edges in CCFG</vt:lpstr>
      <vt:lpstr>Step 3b: Add edges in CCFG</vt:lpstr>
      <vt:lpstr>Step 3b: Add edges in CCFG</vt:lpstr>
      <vt:lpstr>Step 4: Building GCCFG</vt:lpstr>
      <vt:lpstr>Code mapping using GCCFG</vt:lpstr>
      <vt:lpstr>Poorly Formed Loops</vt:lpstr>
      <vt:lpstr>Poorly Formed Loops</vt:lpstr>
      <vt:lpstr>Switch Statements</vt:lpstr>
      <vt:lpstr>Experimental Setup</vt:lpstr>
      <vt:lpstr>Code Management: GCCFG 5x faster compile time than Global CFG</vt:lpstr>
      <vt:lpstr>Stack management: GCCFG 4x faster compile time than Global CFG</vt:lpstr>
      <vt:lpstr>GCCFG 9x smaller than Global CFG</vt:lpstr>
      <vt:lpstr>Summary</vt:lpstr>
      <vt:lpstr>Outcomes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Bryce Holton</dc:creator>
  <cp:lastModifiedBy>Bryce Holton</cp:lastModifiedBy>
  <cp:revision>358</cp:revision>
  <dcterms:created xsi:type="dcterms:W3CDTF">2013-04-18T15:45:31Z</dcterms:created>
  <dcterms:modified xsi:type="dcterms:W3CDTF">2014-11-03T21:37:29Z</dcterms:modified>
</cp:coreProperties>
</file>