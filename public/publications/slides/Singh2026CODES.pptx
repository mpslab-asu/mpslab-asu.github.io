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the system problem, not the formula. The audience should remember: abnormal inputs should not all get the same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response semantics: OOD is not malicious by default; ADV should be treated as a security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make intuition concrete. Avoid overclaiming: say under the evaluated datasets and threat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math explanation to 30 seconds. Define B, TV, and the normalization,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enumerate all 17 architectures verbally. The point is held-out protocol and breadth.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central result slide. Pause here. Make T2 and T3 clear before moving to three-way classification.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message is complementarity. Logits catch OOD; Viyog catches ADV. Together they enable three-way routing.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robustness to systems: first-layer read is not just accurate; it is cheap.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say architecture-independent. Say empirically consistent across evaluated families.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builds credibility. State that the adaptive results are evaluated configurations, not proof of worst-case robustness.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quickly. Do not restate all numbers; let audience ask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9F8B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23444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Viyog: Separating Adversarial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and Out-of-Distribution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58952" y="248716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0B1320"/>
                </a:solidFill>
              </a:rPr>
              <a:t>Aman Singh, Abhinav Kumar, Rishab Kashyap, Soyeong Park, Ameya Gurjar, Yohan Ko, Hwisoo So, Uiwon Hwang, Kyoungwoo Lee, and Aviral Shrivastava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58952" y="28529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F8B"/>
                </a:solidFill>
              </a:rPr>
              <a:t>CODES/ESWEEK 2026 · Efficient and Robust AI Systems and Architectures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3886200"/>
            <a:ext cx="10561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407822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One-line story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48840" y="4041648"/>
            <a:ext cx="8823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2233A"/>
                </a:solidFill>
              </a:rPr>
              <a:t>Viyog uses first-layer dormant-channel roughness to route abnormal inputs as OOD or adversarial — without retraining or extra forward passes.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92608"/>
            <a:ext cx="11201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OOD and adversarial inputs require different system responses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691640" y="2743200"/>
            <a:ext cx="1280160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800600" y="2743200"/>
            <a:ext cx="1280160" cy="-82296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00600" y="2743200"/>
            <a:ext cx="1280160" cy="0"/>
          </a:xfrm>
          <a:prstGeom prst="line">
            <a:avLst/>
          </a:prstGeom>
          <a:noFill/>
          <a:ln w="17780">
            <a:solidFill>
              <a:srgbClr val="12A15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800600" y="2743200"/>
            <a:ext cx="1280160" cy="822960"/>
          </a:xfrm>
          <a:prstGeom prst="line">
            <a:avLst/>
          </a:prstGeom>
          <a:noFill/>
          <a:ln w="17780">
            <a:solidFill>
              <a:srgbClr val="E66A0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1920240"/>
            <a:ext cx="1600200" cy="164592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32688" y="21488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A"/>
                </a:solidFill>
              </a:rPr>
              <a:t>Input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59536" y="2633472"/>
            <a:ext cx="1170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normal, shifted,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or attacked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971800" y="1920240"/>
            <a:ext cx="18288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273552" y="2167128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A"/>
                </a:solidFill>
              </a:rPr>
              <a:t>Classifier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10128" y="263347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may be confident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for all three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82880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12A15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263640" y="1993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A150"/>
                </a:solidFill>
              </a:rPr>
              <a:t>ID → PASS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80760" y="265176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263640" y="281635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563EB"/>
                </a:solidFill>
              </a:rPr>
              <a:t>OOD → ABSTAIN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080760" y="347472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263640" y="363931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66A00"/>
                </a:solidFill>
              </a:rPr>
              <a:t>ADV → REJECT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686800" y="1600200"/>
            <a:ext cx="2423160" cy="2468880"/>
          </a:xfrm>
          <a:prstGeom prst="roundRect">
            <a:avLst>
              <a:gd name="adj" fmla="val 3019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988552" y="18470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66A00"/>
                </a:solidFill>
              </a:rPr>
              <a:t>Gap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8979408" y="2331720"/>
            <a:ext cx="1810512" cy="9875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2233A"/>
                </a:solidFill>
              </a:rPr>
              <a:t>Most lightweight anomaly detectors return one score; they flag “unusual” without deciding whether the input is a natural shift or an attack.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097280" y="4718304"/>
            <a:ext cx="99669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417320" y="4946904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A"/>
                </a:solidFill>
              </a:rPr>
              <a:t>Viyog’s role: use the first-layer signal to split the non-ID pool into OOD versus ADV.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7A8493"/>
                </a:solidFill>
              </a:rPr>
              <a:t>Viyog: Separating Adversarial and Out-of-Distribution · CODES/ESWEEK 2026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92608"/>
            <a:ext cx="11201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Adversarial inputs create roughness in dormant first-layer channels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694944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iyog_fig_crops/fig15_dormant_signa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62720"/>
            <a:ext cx="6492240" cy="319539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001000" y="1143000"/>
            <a:ext cx="34747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275320" y="13716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233A"/>
                </a:solidFill>
              </a:rPr>
              <a:t>Dormant band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366760" y="1728216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quietest 10% of alive first-layer channels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001000" y="260604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0FDF9"/>
          </a:solidFill>
          <a:ln w="12700">
            <a:solidFill>
              <a:srgbClr val="99F6E4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366760" y="28529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9F8B"/>
                </a:solidFill>
              </a:rPr>
              <a:t>ID / OOD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366760" y="322783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33A"/>
                </a:solidFill>
              </a:rPr>
              <a:t>low and smoother dormant-band profile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01000" y="4187952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366760" y="44439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6A00"/>
                </a:solidFill>
              </a:rPr>
              <a:t>ADV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366760" y="480974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33A"/>
                </a:solidFill>
              </a:rPr>
              <a:t>higher spatial roughness / high-frequency structure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14400" y="5833872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2233A"/>
                </a:solidFill>
              </a:rPr>
              <a:t>Core shift: measure shape, not raw magnitude.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7A8493"/>
                </a:solidFill>
              </a:rPr>
              <a:t>Viyog: Separating Adversarial and Out-of-Distribution · CODES/ESWEEK 2026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92608"/>
            <a:ext cx="11201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Viyog measures dormant-band roughness in one forward pass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441448" y="1810512"/>
            <a:ext cx="2286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608576" y="1810512"/>
            <a:ext cx="2286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775704" y="1810512"/>
            <a:ext cx="2286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942832" y="1810512"/>
            <a:ext cx="2286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02920" y="1261872"/>
            <a:ext cx="193852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12648" y="1371600"/>
            <a:ext cx="292608" cy="292608"/>
          </a:xfrm>
          <a:prstGeom prst="ellipse">
            <a:avLst/>
          </a:prstGeom>
          <a:solidFill>
            <a:srgbClr val="0F9F8B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" y="1435608"/>
            <a:ext cx="2926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960120" y="1417320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</a:rPr>
              <a:t>Hook first conv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" y="1856232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6B7280"/>
                </a:solidFill>
              </a:rPr>
              <a:t>activation map a = f₀(x)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2670048" y="1261872"/>
            <a:ext cx="193852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779776" y="1371600"/>
            <a:ext cx="292608" cy="292608"/>
          </a:xfrm>
          <a:prstGeom prst="ellipse">
            <a:avLst/>
          </a:prstGeom>
          <a:solidFill>
            <a:srgbClr val="0F9F8B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779776" y="1435608"/>
            <a:ext cx="2926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127248" y="1417320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</a:rPr>
              <a:t>Select band B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34640" y="1856232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6B7280"/>
                </a:solidFill>
              </a:rPr>
              <a:t>quietest 10% alive channels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837176" y="1261872"/>
            <a:ext cx="193852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946904" y="1371600"/>
            <a:ext cx="292608" cy="292608"/>
          </a:xfrm>
          <a:prstGeom prst="ellipse">
            <a:avLst/>
          </a:prstGeom>
          <a:solidFill>
            <a:srgbClr val="E66A00"/>
          </a:solidFill>
          <a:ln w="1270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946904" y="1435608"/>
            <a:ext cx="2926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3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294376" y="1417320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</a:rPr>
              <a:t>Read shape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01768" y="1856232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6B7280"/>
                </a:solidFill>
              </a:rPr>
              <a:t>total variation on B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7004304" y="1261872"/>
            <a:ext cx="193852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114032" y="1371600"/>
            <a:ext cx="292608" cy="2926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114032" y="1435608"/>
            <a:ext cx="2926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461504" y="1417320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</a:rPr>
              <a:t>Score V(x)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68896" y="1856232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6B7280"/>
                </a:solidFill>
              </a:rPr>
              <a:t>normalize by magnitude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9171432" y="1261872"/>
            <a:ext cx="193852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9281160" y="1371600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281160" y="1435608"/>
            <a:ext cx="2926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9628632" y="1417320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</a:rPr>
              <a:t>Route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36024" y="1856232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6B7280"/>
                </a:solidFill>
              </a:rPr>
              <a:t>low→OOD · high→ADV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777240" y="29718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024128" y="327355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33A"/>
                </a:solidFill>
              </a:rPr>
              <a:t>V(x) = 1/|B| · Σc∈B  TV(ac) / ( |ac| + ε )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170432" y="38039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TV = spatial roughness · denominator removes magnitude dependence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92240" y="2816352"/>
            <a:ext cx="4709160" cy="1600200"/>
          </a:xfrm>
          <a:prstGeom prst="roundRect">
            <a:avLst>
              <a:gd name="adj" fmla="val 4571"/>
            </a:avLst>
          </a:prstGeom>
          <a:solidFill>
            <a:srgbClr val="F8FAFC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6693408" y="3063240"/>
            <a:ext cx="12344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784848" y="317296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9F8B"/>
                </a:solidFill>
              </a:rPr>
              <a:t>0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6830568" y="3593592"/>
            <a:ext cx="9601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learned parameters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101584" y="3063240"/>
            <a:ext cx="12344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193024" y="317296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9F8B"/>
                </a:solidFill>
              </a:rPr>
              <a:t>no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8238744" y="3593592"/>
            <a:ext cx="9601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gradient pass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9509760" y="3063240"/>
            <a:ext cx="12344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9601200" y="317296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9F8B"/>
                </a:solidFill>
              </a:rPr>
              <a:t>O(C)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9646920" y="3593592"/>
            <a:ext cx="9601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state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14400" y="500176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2233A"/>
                </a:solidFill>
              </a:rPr>
              <a:t>Calibration fixes polarity and threshold once; inference reads a first-layer hook during the normal forward pass.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7A8493"/>
                </a:solidFill>
              </a:rPr>
              <a:t>Viyog: Separating Adversarial and Out-of-Distribution · CODES/ESWEEK 2026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92608"/>
            <a:ext cx="11201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Held-out evaluation spans models, attacks, and datasets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21488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34416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9F8B"/>
                </a:solidFill>
              </a:rPr>
              <a:t>17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68680" y="1764792"/>
            <a:ext cx="18745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usable architectures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27248" y="1234440"/>
            <a:ext cx="21488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218688" y="134416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66A00"/>
                </a:solidFill>
              </a:rPr>
              <a:t>4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264408" y="1764792"/>
            <a:ext cx="18745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L∞ attacks at ε=8/255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522976" y="1234440"/>
            <a:ext cx="21488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14416" y="134416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</a:rPr>
              <a:t>2 + OOD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660136" y="1764792"/>
            <a:ext cx="18745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primary ID datasets + OOD sets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918704" y="1234440"/>
            <a:ext cx="21488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010144" y="134416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C3AED"/>
                </a:solidFill>
              </a:rPr>
              <a:t>20/80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055864" y="1764792"/>
            <a:ext cx="18745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calibration/test split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05840" y="3063240"/>
            <a:ext cx="101498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417320" y="33375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563EB"/>
                </a:solidFill>
              </a:rPr>
              <a:t>T1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039112" y="33101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33A"/>
                </a:solidFill>
              </a:rPr>
              <a:t>ID ↔ OOD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039112" y="369417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distribution shift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709160" y="33375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66A00"/>
                </a:solidFill>
              </a:rPr>
              <a:t>T2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330952" y="33101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33A"/>
                </a:solidFill>
              </a:rPr>
              <a:t>ID ↔ ADV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330952" y="369417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security detection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001000" y="33375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F9F8B"/>
                </a:solidFill>
              </a:rPr>
              <a:t>T3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8622792" y="33101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33A"/>
                </a:solidFill>
              </a:rPr>
              <a:t>OOD ↔ ADV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622792" y="369417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routing decision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554480" y="4983480"/>
            <a:ext cx="914400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828800" y="5157216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33A"/>
                </a:solidFill>
              </a:rPr>
              <a:t>Everything important is fit on calibration data and frozen before test evaluation.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7A8493"/>
                </a:solidFill>
              </a:rPr>
              <a:t>Viyog: Separating Adversarial and Out-of-Distribution · CODES/ESWEEK 2026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92608"/>
            <a:ext cx="11201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First-layer shape separates adversarial inputs where confidence scores fail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051560"/>
            <a:ext cx="7315200" cy="480060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26187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A"/>
                </a:solidFill>
              </a:rPr>
              <a:t>Held-out AUROC across 17 CIFAR-100 architectures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25880" y="4645152"/>
            <a:ext cx="5897880" cy="0"/>
          </a:xfrm>
          <a:prstGeom prst="line">
            <a:avLst/>
          </a:prstGeom>
          <a:noFill/>
          <a:ln w="10160">
            <a:solidFill>
              <a:srgbClr val="AAB3C2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325880" y="1819656"/>
            <a:ext cx="0" cy="2770632"/>
          </a:xfrm>
          <a:prstGeom prst="line">
            <a:avLst/>
          </a:prstGeom>
          <a:noFill/>
          <a:ln w="10160">
            <a:solidFill>
              <a:srgbClr val="AAB3C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325880" y="3259836"/>
            <a:ext cx="5897880" cy="0"/>
          </a:xfrm>
          <a:prstGeom prst="line">
            <a:avLst/>
          </a:prstGeom>
          <a:noFill/>
          <a:ln w="6350">
            <a:solidFill>
              <a:srgbClr val="E5E9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32688" y="3195828"/>
            <a:ext cx="3291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0.50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325880" y="2567178"/>
            <a:ext cx="5897880" cy="0"/>
          </a:xfrm>
          <a:prstGeom prst="line">
            <a:avLst/>
          </a:prstGeom>
          <a:noFill/>
          <a:ln w="6350">
            <a:solidFill>
              <a:srgbClr val="E5E9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32688" y="2503170"/>
            <a:ext cx="3291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0.75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1325880" y="1874520"/>
            <a:ext cx="5897880" cy="0"/>
          </a:xfrm>
          <a:prstGeom prst="line">
            <a:avLst/>
          </a:prstGeom>
          <a:noFill/>
          <a:ln w="6350">
            <a:solidFill>
              <a:srgbClr val="E5E9F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32688" y="1810512"/>
            <a:ext cx="3291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1.00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659636" y="2816535"/>
            <a:ext cx="209946" cy="1828617"/>
          </a:xfrm>
          <a:prstGeom prst="rect">
            <a:avLst/>
          </a:prstGeom>
          <a:solidFill>
            <a:srgbClr val="0F9F8B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915668" y="2705710"/>
            <a:ext cx="209946" cy="1939442"/>
          </a:xfrm>
          <a:prstGeom prst="rect">
            <a:avLst/>
          </a:prstGeom>
          <a:solidFill>
            <a:srgbClr val="74B816"/>
          </a:solidFill>
          <a:ln w="12700">
            <a:solidFill>
              <a:srgbClr val="74B816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171700" y="2262408"/>
            <a:ext cx="209946" cy="238274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2427732" y="2484059"/>
            <a:ext cx="209946" cy="2161093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325880" y="4754880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33A"/>
                </a:solidFill>
              </a:rPr>
              <a:t>T1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2233A"/>
                </a:solidFill>
              </a:rPr>
              <a:t>ID/OOD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762756" y="1929933"/>
            <a:ext cx="209946" cy="2715219"/>
          </a:xfrm>
          <a:prstGeom prst="rect">
            <a:avLst/>
          </a:prstGeom>
          <a:solidFill>
            <a:srgbClr val="0F9F8B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717036" y="1728765"/>
            <a:ext cx="347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9F8B"/>
                </a:solidFill>
              </a:rPr>
              <a:t>0.980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018788" y="2040758"/>
            <a:ext cx="209946" cy="2604394"/>
          </a:xfrm>
          <a:prstGeom prst="rect">
            <a:avLst/>
          </a:prstGeom>
          <a:solidFill>
            <a:srgbClr val="74B816"/>
          </a:solidFill>
          <a:ln w="12700">
            <a:solidFill>
              <a:srgbClr val="74B81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274820" y="2852553"/>
            <a:ext cx="209946" cy="1792599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530852" y="2819306"/>
            <a:ext cx="209946" cy="182584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429000" y="4754880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33A"/>
                </a:solidFill>
              </a:rPr>
              <a:t>T2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2233A"/>
                </a:solidFill>
              </a:rPr>
              <a:t>ID/ADV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865876" y="2306739"/>
            <a:ext cx="209946" cy="2338413"/>
          </a:xfrm>
          <a:prstGeom prst="rect">
            <a:avLst/>
          </a:prstGeom>
          <a:solidFill>
            <a:srgbClr val="0F9F8B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820156" y="2105571"/>
            <a:ext cx="347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9F8B"/>
                </a:solidFill>
              </a:rPr>
              <a:t>0.844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21908" y="2539472"/>
            <a:ext cx="209946" cy="2105680"/>
          </a:xfrm>
          <a:prstGeom prst="rect">
            <a:avLst/>
          </a:prstGeom>
          <a:solidFill>
            <a:srgbClr val="74B816"/>
          </a:solidFill>
          <a:ln w="12700">
            <a:solidFill>
              <a:srgbClr val="74B816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377940" y="2373234"/>
            <a:ext cx="209946" cy="227191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633972" y="2816535"/>
            <a:ext cx="209946" cy="1828617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532120" y="4754880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33A"/>
                </a:solidFill>
              </a:rPr>
              <a:t>T3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2233A"/>
                </a:solidFill>
              </a:rPr>
              <a:t>OOD/ADV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325880" y="5413248"/>
            <a:ext cx="118872" cy="118872"/>
          </a:xfrm>
          <a:prstGeom prst="rect">
            <a:avLst/>
          </a:prstGeom>
          <a:solidFill>
            <a:srgbClr val="0F9F8B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490472" y="539953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2233A"/>
                </a:solidFill>
              </a:rPr>
              <a:t>Viyog-TV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2560320" y="5413248"/>
            <a:ext cx="118872" cy="118872"/>
          </a:xfrm>
          <a:prstGeom prst="rect">
            <a:avLst/>
          </a:prstGeom>
          <a:solidFill>
            <a:srgbClr val="74B816"/>
          </a:solidFill>
          <a:ln w="12700">
            <a:solidFill>
              <a:srgbClr val="74B816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724912" y="539953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2233A"/>
                </a:solidFill>
              </a:rPr>
              <a:t>Viyog-HF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3703320" y="5413248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3867912" y="539953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2233A"/>
                </a:solidFill>
              </a:rPr>
              <a:t>GEN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4526280" y="5413248"/>
            <a:ext cx="118872" cy="1188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690872" y="539953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2233A"/>
                </a:solidFill>
              </a:rPr>
              <a:t>KL-Matching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8366760" y="123444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458200" y="13441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9F8B"/>
                </a:solidFill>
              </a:rPr>
              <a:t>0.980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8503920" y="1764792"/>
            <a:ext cx="2286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T2: ID vs ADV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366760" y="278892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8458200" y="2898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9F8B"/>
                </a:solidFill>
              </a:rPr>
              <a:t>0.844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8503920" y="3319272"/>
            <a:ext cx="2286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T3: OOD vs ADV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183880" y="4572000"/>
            <a:ext cx="2926080" cy="749808"/>
          </a:xfrm>
          <a:prstGeom prst="roundRect">
            <a:avLst>
              <a:gd name="adj" fmla="val 9756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8375904" y="4782312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33A"/>
                </a:solidFill>
              </a:rPr>
              <a:t>Confidence/logit scores top out at ≤0.647 on T2.</a:t>
            </a:r>
            <a:endParaRPr lang="en-US" sz="1350" dirty="0"/>
          </a:p>
        </p:txBody>
      </p:sp>
      <p:sp>
        <p:nvSpPr>
          <p:cNvPr id="48" name="Shape 46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7A8493"/>
                </a:solidFill>
              </a:rPr>
              <a:t>Viyog: Separating Adversarial and Out-of-Distribution · CODES/ESWEEK 2026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92608"/>
            <a:ext cx="11201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Viyog complements logit scores for three-way routing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286000" y="2057400"/>
            <a:ext cx="1965960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286000" y="3703320"/>
            <a:ext cx="1965960" cy="0"/>
          </a:xfrm>
          <a:prstGeom prst="line">
            <a:avLst/>
          </a:prstGeom>
          <a:noFill/>
          <a:ln w="15240">
            <a:solidFill>
              <a:srgbClr val="0F9F8B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629400" y="2057400"/>
            <a:ext cx="1783080" cy="82296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29400" y="3703320"/>
            <a:ext cx="1783080" cy="-82296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31520" y="1417320"/>
            <a:ext cx="15544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60120" y="17556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EB"/>
                </a:solidFill>
              </a:rPr>
              <a:t>Logit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563EB"/>
                </a:solidFill>
              </a:rPr>
              <a:t>OOD score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251960" y="141732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26280" y="178308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33A"/>
                </a:solidFill>
              </a:rPr>
              <a:t>Strong ID/OOD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2233A"/>
                </a:solidFill>
              </a:rPr>
              <a:t>coverage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063240"/>
            <a:ext cx="15544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69264" y="3401568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9F8B"/>
                </a:solidFill>
              </a:rPr>
              <a:t>Viyog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0F9F8B"/>
                </a:solidFill>
              </a:rPr>
              <a:t>roughness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251960" y="306324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F0FDF9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26280" y="342900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33A"/>
                </a:solidFill>
              </a:rPr>
              <a:t>Strong ADV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2233A"/>
                </a:solidFill>
              </a:rPr>
              <a:t>coverage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412480" y="1965960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68512" y="2359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233A"/>
                </a:solidFill>
              </a:rPr>
              <a:t>ID / OOD / ADV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96528" y="2907792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different responses,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one routing decision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011680" y="493776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103120" y="5047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9F8B"/>
                </a:solidFill>
              </a:rPr>
              <a:t>0.798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2148840" y="5468112"/>
            <a:ext cx="18745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CIFAR-100 balanced accuracy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983480" y="493776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074920" y="5047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9F8B"/>
                </a:solidFill>
              </a:rPr>
              <a:t>0.863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5120640" y="5468112"/>
            <a:ext cx="18745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GTSRB balanced accuracy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955280" y="493776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046720" y="5047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</a:rPr>
              <a:t>0.758/0.768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8092440" y="5468112"/>
            <a:ext cx="18745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logit + Viyog only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7A8493"/>
                </a:solidFill>
              </a:rPr>
              <a:t>Viyog: Separating Adversarial and Out-of-Distribution · CODES/ESWEEK 2026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92608"/>
            <a:ext cx="11201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most discriminative layer is also the cheapest to read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060704"/>
            <a:ext cx="585216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1298448"/>
            <a:ext cx="5257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A"/>
                </a:solidFill>
              </a:rPr>
              <a:t>Depth sweep: first-conv shape is strongest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97280" y="4709160"/>
            <a:ext cx="4846320" cy="0"/>
          </a:xfrm>
          <a:prstGeom prst="line">
            <a:avLst/>
          </a:prstGeom>
          <a:noFill/>
          <a:ln w="10160">
            <a:solidFill>
              <a:srgbClr val="AAB3C2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97280" y="1874520"/>
            <a:ext cx="0" cy="2834640"/>
          </a:xfrm>
          <a:prstGeom prst="line">
            <a:avLst/>
          </a:prstGeom>
          <a:noFill/>
          <a:ln w="10160">
            <a:solidFill>
              <a:srgbClr val="AAB3C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097280" y="4709160"/>
            <a:ext cx="0" cy="54864"/>
          </a:xfrm>
          <a:prstGeom prst="line">
            <a:avLst/>
          </a:prstGeom>
          <a:noFill/>
          <a:ln w="7620">
            <a:solidFill>
              <a:srgbClr val="AAB3C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42416" y="4818888"/>
            <a:ext cx="10972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0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905000" y="4709160"/>
            <a:ext cx="0" cy="54864"/>
          </a:xfrm>
          <a:prstGeom prst="line">
            <a:avLst/>
          </a:prstGeom>
          <a:noFill/>
          <a:ln w="7620">
            <a:solidFill>
              <a:srgbClr val="AAB3C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850136" y="4818888"/>
            <a:ext cx="10972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1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712720" y="4709160"/>
            <a:ext cx="0" cy="54864"/>
          </a:xfrm>
          <a:prstGeom prst="line">
            <a:avLst/>
          </a:prstGeom>
          <a:noFill/>
          <a:ln w="7620">
            <a:solidFill>
              <a:srgbClr val="AAB3C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657856" y="4818888"/>
            <a:ext cx="10972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2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520440" y="4709160"/>
            <a:ext cx="0" cy="54864"/>
          </a:xfrm>
          <a:prstGeom prst="line">
            <a:avLst/>
          </a:prstGeom>
          <a:noFill/>
          <a:ln w="7620">
            <a:solidFill>
              <a:srgbClr val="AAB3C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65576" y="4818888"/>
            <a:ext cx="10972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3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328160" y="4709160"/>
            <a:ext cx="0" cy="54864"/>
          </a:xfrm>
          <a:prstGeom prst="line">
            <a:avLst/>
          </a:prstGeom>
          <a:noFill/>
          <a:ln w="7620">
            <a:solidFill>
              <a:srgbClr val="AAB3C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273296" y="4818888"/>
            <a:ext cx="10972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135880" y="4709160"/>
            <a:ext cx="0" cy="54864"/>
          </a:xfrm>
          <a:prstGeom prst="line">
            <a:avLst/>
          </a:prstGeom>
          <a:noFill/>
          <a:ln w="7620">
            <a:solidFill>
              <a:srgbClr val="AAB3C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081016" y="4818888"/>
            <a:ext cx="10972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5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5943600" y="4709160"/>
            <a:ext cx="0" cy="54864"/>
          </a:xfrm>
          <a:prstGeom prst="line">
            <a:avLst/>
          </a:prstGeom>
          <a:noFill/>
          <a:ln w="7620">
            <a:solidFill>
              <a:srgbClr val="AAB3C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888736" y="4818888"/>
            <a:ext cx="10972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6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097280" y="2054906"/>
            <a:ext cx="807720" cy="747314"/>
          </a:xfrm>
          <a:prstGeom prst="line">
            <a:avLst/>
          </a:prstGeom>
          <a:noFill/>
          <a:ln w="254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097280" y="4348388"/>
            <a:ext cx="807720" cy="-1030778"/>
          </a:xfrm>
          <a:prstGeom prst="line">
            <a:avLst/>
          </a:prstGeom>
          <a:noFill/>
          <a:ln w="2540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05000" y="2802220"/>
            <a:ext cx="807720" cy="515389"/>
          </a:xfrm>
          <a:prstGeom prst="line">
            <a:avLst/>
          </a:prstGeom>
          <a:noFill/>
          <a:ln w="254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905000" y="3317609"/>
            <a:ext cx="807720" cy="-154617"/>
          </a:xfrm>
          <a:prstGeom prst="line">
            <a:avLst/>
          </a:prstGeom>
          <a:noFill/>
          <a:ln w="2540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2712720" y="3317609"/>
            <a:ext cx="807720" cy="103078"/>
          </a:xfrm>
          <a:prstGeom prst="line">
            <a:avLst/>
          </a:prstGeom>
          <a:noFill/>
          <a:ln w="254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2712720" y="3162993"/>
            <a:ext cx="807720" cy="257695"/>
          </a:xfrm>
          <a:prstGeom prst="line">
            <a:avLst/>
          </a:prstGeom>
          <a:noFill/>
          <a:ln w="2540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3520440" y="3420687"/>
            <a:ext cx="807720" cy="-463850"/>
          </a:xfrm>
          <a:prstGeom prst="line">
            <a:avLst/>
          </a:prstGeom>
          <a:noFill/>
          <a:ln w="254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3520440" y="3420687"/>
            <a:ext cx="807720" cy="-206156"/>
          </a:xfrm>
          <a:prstGeom prst="line">
            <a:avLst/>
          </a:prstGeom>
          <a:noFill/>
          <a:ln w="2540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328160" y="2956837"/>
            <a:ext cx="807720" cy="-103078"/>
          </a:xfrm>
          <a:prstGeom prst="line">
            <a:avLst/>
          </a:prstGeom>
          <a:noFill/>
          <a:ln w="254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328160" y="3214532"/>
            <a:ext cx="807720" cy="309233"/>
          </a:xfrm>
          <a:prstGeom prst="line">
            <a:avLst/>
          </a:prstGeom>
          <a:noFill/>
          <a:ln w="2540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135880" y="2853759"/>
            <a:ext cx="807720" cy="566928"/>
          </a:xfrm>
          <a:prstGeom prst="line">
            <a:avLst/>
          </a:prstGeom>
          <a:noFill/>
          <a:ln w="254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5135880" y="3523765"/>
            <a:ext cx="807720" cy="-618467"/>
          </a:xfrm>
          <a:prstGeom prst="line">
            <a:avLst/>
          </a:prstGeom>
          <a:noFill/>
          <a:ln w="2540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1056132" y="2013758"/>
            <a:ext cx="82296" cy="82296"/>
          </a:xfrm>
          <a:prstGeom prst="ellipse">
            <a:avLst/>
          </a:prstGeom>
          <a:solidFill>
            <a:srgbClr val="0F9F8B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863852" y="2761072"/>
            <a:ext cx="82296" cy="82296"/>
          </a:xfrm>
          <a:prstGeom prst="ellipse">
            <a:avLst/>
          </a:prstGeom>
          <a:solidFill>
            <a:srgbClr val="0F9F8B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2671572" y="3276461"/>
            <a:ext cx="82296" cy="82296"/>
          </a:xfrm>
          <a:prstGeom prst="ellipse">
            <a:avLst/>
          </a:prstGeom>
          <a:solidFill>
            <a:srgbClr val="0F9F8B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479292" y="3379539"/>
            <a:ext cx="82296" cy="82296"/>
          </a:xfrm>
          <a:prstGeom prst="ellipse">
            <a:avLst/>
          </a:prstGeom>
          <a:solidFill>
            <a:srgbClr val="0F9F8B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4287012" y="2915689"/>
            <a:ext cx="82296" cy="82296"/>
          </a:xfrm>
          <a:prstGeom prst="ellipse">
            <a:avLst/>
          </a:prstGeom>
          <a:solidFill>
            <a:srgbClr val="0F9F8B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5094732" y="2812611"/>
            <a:ext cx="82296" cy="82296"/>
          </a:xfrm>
          <a:prstGeom prst="ellipse">
            <a:avLst/>
          </a:prstGeom>
          <a:solidFill>
            <a:srgbClr val="0F9F8B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5902452" y="3379539"/>
            <a:ext cx="82296" cy="82296"/>
          </a:xfrm>
          <a:prstGeom prst="ellipse">
            <a:avLst/>
          </a:prstGeom>
          <a:solidFill>
            <a:srgbClr val="0F9F8B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1056132" y="4307240"/>
            <a:ext cx="82296" cy="82296"/>
          </a:xfrm>
          <a:prstGeom prst="ellipse">
            <a:avLst/>
          </a:prstGeom>
          <a:solidFill>
            <a:srgbClr val="E66A00"/>
          </a:solidFill>
          <a:ln w="1270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1863852" y="3276461"/>
            <a:ext cx="82296" cy="82296"/>
          </a:xfrm>
          <a:prstGeom prst="ellipse">
            <a:avLst/>
          </a:prstGeom>
          <a:solidFill>
            <a:srgbClr val="E66A00"/>
          </a:solidFill>
          <a:ln w="1270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2671572" y="3121845"/>
            <a:ext cx="82296" cy="82296"/>
          </a:xfrm>
          <a:prstGeom prst="ellipse">
            <a:avLst/>
          </a:prstGeom>
          <a:solidFill>
            <a:srgbClr val="E66A00"/>
          </a:solidFill>
          <a:ln w="1270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3479292" y="3379539"/>
            <a:ext cx="82296" cy="82296"/>
          </a:xfrm>
          <a:prstGeom prst="ellipse">
            <a:avLst/>
          </a:prstGeom>
          <a:solidFill>
            <a:srgbClr val="E66A00"/>
          </a:solidFill>
          <a:ln w="1270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4287012" y="3173384"/>
            <a:ext cx="82296" cy="82296"/>
          </a:xfrm>
          <a:prstGeom prst="ellipse">
            <a:avLst/>
          </a:prstGeom>
          <a:solidFill>
            <a:srgbClr val="E66A00"/>
          </a:solidFill>
          <a:ln w="1270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5094732" y="3482617"/>
            <a:ext cx="82296" cy="82296"/>
          </a:xfrm>
          <a:prstGeom prst="ellipse">
            <a:avLst/>
          </a:prstGeom>
          <a:solidFill>
            <a:srgbClr val="E66A00"/>
          </a:solidFill>
          <a:ln w="1270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5902452" y="2864150"/>
            <a:ext cx="82296" cy="82296"/>
          </a:xfrm>
          <a:prstGeom prst="ellipse">
            <a:avLst/>
          </a:prstGeom>
          <a:solidFill>
            <a:srgbClr val="E66A00"/>
          </a:solidFill>
          <a:ln w="1270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1005840" y="5074920"/>
            <a:ext cx="10058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0 = first conv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 rot="16200000">
            <a:off x="786384" y="24231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AUROC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389120" y="1664208"/>
            <a:ext cx="118872" cy="118872"/>
          </a:xfrm>
          <a:prstGeom prst="rect">
            <a:avLst/>
          </a:prstGeom>
          <a:solidFill>
            <a:srgbClr val="0F9F8B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553712" y="165049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2233A"/>
                </a:solidFill>
              </a:rPr>
              <a:t>shape V</a:t>
            </a:r>
            <a:endParaRPr lang="en-US" sz="820" dirty="0"/>
          </a:p>
        </p:txBody>
      </p:sp>
      <p:sp>
        <p:nvSpPr>
          <p:cNvPr id="52" name="Shape 50"/>
          <p:cNvSpPr/>
          <p:nvPr/>
        </p:nvSpPr>
        <p:spPr>
          <a:xfrm>
            <a:off x="5303520" y="1664208"/>
            <a:ext cx="118872" cy="118872"/>
          </a:xfrm>
          <a:prstGeom prst="rect">
            <a:avLst/>
          </a:prstGeom>
          <a:solidFill>
            <a:srgbClr val="E66A00"/>
          </a:solidFill>
          <a:ln w="1270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5468112" y="165049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2233A"/>
                </a:solidFill>
              </a:rPr>
              <a:t>raw L∞</a:t>
            </a:r>
            <a:endParaRPr lang="en-US" sz="820" dirty="0"/>
          </a:p>
        </p:txBody>
      </p:sp>
      <p:sp>
        <p:nvSpPr>
          <p:cNvPr id="54" name="Text 52"/>
          <p:cNvSpPr/>
          <p:nvPr/>
        </p:nvSpPr>
        <p:spPr>
          <a:xfrm>
            <a:off x="1005840" y="15727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F8B"/>
                </a:solidFill>
              </a:rPr>
              <a:t>0.965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1673352" y="1645920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</a:rPr>
              <a:t>first-conv mean T2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995160" y="1143000"/>
            <a:ext cx="4343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7315200" y="138988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A"/>
                </a:solidFill>
              </a:rPr>
              <a:t>Efficiency at deployment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7315200" y="1874520"/>
            <a:ext cx="157276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7406640" y="1984248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9F8B"/>
                </a:solidFill>
              </a:rPr>
              <a:t>0</a:t>
            </a:r>
            <a:endParaRPr lang="en-US" sz="2400" dirty="0"/>
          </a:p>
        </p:txBody>
      </p:sp>
      <p:sp>
        <p:nvSpPr>
          <p:cNvPr id="60" name="Text 58"/>
          <p:cNvSpPr/>
          <p:nvPr/>
        </p:nvSpPr>
        <p:spPr>
          <a:xfrm>
            <a:off x="7452360" y="2404872"/>
            <a:ext cx="1298448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learned parameters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9235440" y="1874520"/>
            <a:ext cx="157276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9326880" y="1984248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9F8B"/>
                </a:solidFill>
              </a:rPr>
              <a:t>~0.3 kB</a:t>
            </a:r>
            <a:endParaRPr lang="en-US" sz="2400" dirty="0"/>
          </a:p>
        </p:txBody>
      </p:sp>
      <p:sp>
        <p:nvSpPr>
          <p:cNvPr id="63" name="Text 61"/>
          <p:cNvSpPr/>
          <p:nvPr/>
        </p:nvSpPr>
        <p:spPr>
          <a:xfrm>
            <a:off x="9372600" y="2404872"/>
            <a:ext cx="1298448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state at 64 channels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7315200" y="3063240"/>
            <a:ext cx="157276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7406640" y="3172968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9F8B"/>
                </a:solidFill>
              </a:rPr>
              <a:t>2.28%</a:t>
            </a:r>
            <a:endParaRPr lang="en-US" sz="2400" dirty="0"/>
          </a:p>
        </p:txBody>
      </p:sp>
      <p:sp>
        <p:nvSpPr>
          <p:cNvPr id="66" name="Text 64"/>
          <p:cNvSpPr/>
          <p:nvPr/>
        </p:nvSpPr>
        <p:spPr>
          <a:xfrm>
            <a:off x="7452360" y="3593592"/>
            <a:ext cx="1298448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CNN MAC overhead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9235440" y="3063240"/>
            <a:ext cx="157276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9326880" y="3172968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9F8B"/>
                </a:solidFill>
              </a:rPr>
              <a:t>3.9%</a:t>
            </a:r>
            <a:endParaRPr lang="en-US" sz="2400" dirty="0"/>
          </a:p>
        </p:txBody>
      </p:sp>
      <p:sp>
        <p:nvSpPr>
          <p:cNvPr id="69" name="Text 67"/>
          <p:cNvSpPr/>
          <p:nvPr/>
        </p:nvSpPr>
        <p:spPr>
          <a:xfrm>
            <a:off x="9372600" y="3593592"/>
            <a:ext cx="1298448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H200 latency overhead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7269480" y="459028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33A"/>
                </a:solidFill>
              </a:rPr>
              <a:t>CODES angle: the discriminative signal is read before expensive deep features.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7A8493"/>
                </a:solidFill>
              </a:rPr>
              <a:t>Viyog: Separating Adversarial and Out-of-Distribution · CODES/ESWEEK 2026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92608"/>
            <a:ext cx="11201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signal is consistent across the evaluated conditions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667512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iyog_fig_crops/fig8_generaliz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88671"/>
            <a:ext cx="6263640" cy="360633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14300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046720" y="1344168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9F8B"/>
                </a:solidFill>
              </a:rPr>
              <a:t>17 architectures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101584" y="1719072"/>
            <a:ext cx="2606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T3 mean 0.844, range 0.68–0.95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726680" y="242316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028432" y="26243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6A00"/>
                </a:solidFill>
              </a:rPr>
              <a:t>4 attacks × 3 datasets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101584" y="2999232"/>
            <a:ext cx="2606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weakest case ≥0.77 in paper summary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26680" y="370332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010144" y="3904488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CNNs + transformers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8028432" y="4279392"/>
            <a:ext cx="2706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ConvNeXtV2, ViT-B/16, Swin-T at 224×224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726680" y="5166360"/>
            <a:ext cx="333756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33A"/>
                </a:solidFill>
              </a:rPr>
              <a:t>Claim carefully: evidence across evaluated families, not universal architecture invariance.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7A8493"/>
                </a:solidFill>
              </a:rPr>
              <a:t>Viyog: Separating Adversarial and Out-of-Distribution · CODES/ESWEEK 2026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92608"/>
            <a:ext cx="11201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Adaptive attacks identify the remaining robustness gap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828800" y="1920240"/>
            <a:ext cx="86868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794760" y="1920240"/>
            <a:ext cx="86868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760720" y="1920240"/>
            <a:ext cx="86868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26680" y="1920240"/>
            <a:ext cx="86868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31520" y="1325880"/>
            <a:ext cx="1097280" cy="11887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87552" y="152704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233A"/>
                </a:solidFill>
              </a:rPr>
              <a:t>A0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22960" y="1874520"/>
            <a:ext cx="9144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dirty="0">
                <a:solidFill>
                  <a:srgbClr val="12233A"/>
                </a:solidFill>
              </a:rPr>
              <a:t>standard PGD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2697480" y="1325880"/>
            <a:ext cx="1097280" cy="1188720"/>
          </a:xfrm>
          <a:prstGeom prst="roundRect">
            <a:avLst>
              <a:gd name="adj" fmla="val 6667"/>
            </a:avLst>
          </a:prstGeom>
          <a:solidFill>
            <a:srgbClr val="F0FDF9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953512" y="152704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F9F8B"/>
                </a:solidFill>
              </a:rPr>
              <a:t>A1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2788920" y="1874520"/>
            <a:ext cx="9144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dirty="0">
                <a:solidFill>
                  <a:srgbClr val="12233A"/>
                </a:solidFill>
              </a:rPr>
              <a:t>norm-aware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2233A"/>
                </a:solidFill>
              </a:rPr>
              <a:t>0% evasion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4663440" y="1325880"/>
            <a:ext cx="1097280" cy="11887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19472" y="152704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233A"/>
                </a:solidFill>
              </a:rPr>
              <a:t>A2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754880" y="1874520"/>
            <a:ext cx="9144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dirty="0">
                <a:solidFill>
                  <a:srgbClr val="12233A"/>
                </a:solidFill>
              </a:rPr>
              <a:t>TV-aware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2233A"/>
                </a:solidFill>
              </a:rPr>
              <a:t>degrades V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629400" y="1325880"/>
            <a:ext cx="1097280" cy="1188720"/>
          </a:xfrm>
          <a:prstGeom prst="roundRect">
            <a:avLst>
              <a:gd name="adj" fmla="val 6667"/>
            </a:avLst>
          </a:prstGeom>
          <a:solidFill>
            <a:srgbClr val="FFF7ED"/>
          </a:solidFill>
          <a:ln w="1270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85432" y="152704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66A00"/>
                </a:solidFill>
              </a:rPr>
              <a:t>A3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720840" y="1874520"/>
            <a:ext cx="9144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dirty="0">
                <a:solidFill>
                  <a:srgbClr val="12233A"/>
                </a:solidFill>
              </a:rPr>
              <a:t>both-aware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2233A"/>
                </a:solidFill>
              </a:rPr>
              <a:t>+8% attack-success cost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8595360" y="1325880"/>
            <a:ext cx="1097280" cy="11887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851392" y="152704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233A"/>
                </a:solidFill>
              </a:rPr>
              <a:t>EOT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8686800" y="1874520"/>
            <a:ext cx="9144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dirty="0">
                <a:solidFill>
                  <a:srgbClr val="12233A"/>
                </a:solidFill>
              </a:rPr>
              <a:t>stochastic band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2233A"/>
                </a:solidFill>
              </a:rPr>
              <a:t>restores detection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868680" y="3337560"/>
            <a:ext cx="47548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143000" y="358444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A"/>
                </a:solidFill>
              </a:rPr>
              <a:t>Interpretation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34440" y="4041648"/>
            <a:ext cx="3977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33A"/>
                </a:solidFill>
              </a:rPr>
              <a:t>Viyog resists the evaluated norm-preserving attack, but detector-aware optimization can reduce the primary signal. This is empirical stress testing, not a robustness certificate.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0" y="3154680"/>
            <a:ext cx="4480560" cy="1920240"/>
          </a:xfrm>
          <a:prstGeom prst="roundRect">
            <a:avLst>
              <a:gd name="adj" fmla="val 3810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720840" y="342900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6A00"/>
                </a:solidFill>
              </a:rPr>
              <a:t>Limitations to state explicitly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12280" y="3858768"/>
            <a:ext cx="36118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20" dirty="0">
                <a:solidFill>
                  <a:srgbClr val="12233A"/>
                </a:solidFill>
              </a:rPr>
              <a:t>near/texture OOD remains harder
</a:t>
            </a:r>
            <a:endParaRPr lang="en-US" sz="1320" dirty="0"/>
          </a:p>
          <a:p>
            <a:r>
              <a:rPr lang="en-US" sz="1320" dirty="0">
                <a:solidFill>
                  <a:srgbClr val="12233A"/>
                </a:solidFill>
              </a:rPr>
              <a:t>adaptive attack coverage is not exhaustive
</a:t>
            </a:r>
            <a:endParaRPr lang="en-US" sz="1320" dirty="0"/>
          </a:p>
          <a:p>
            <a:r>
              <a:rPr lang="en-US" sz="1320" dirty="0">
                <a:solidFill>
                  <a:srgbClr val="12233A"/>
                </a:solidFill>
              </a:rPr>
              <a:t>edge energy is projected, not measured on-device
</a:t>
            </a:r>
            <a:endParaRPr lang="en-US" sz="1320" dirty="0"/>
          </a:p>
        </p:txBody>
      </p:sp>
      <p:sp>
        <p:nvSpPr>
          <p:cNvPr id="29" name="Text 27"/>
          <p:cNvSpPr/>
          <p:nvPr/>
        </p:nvSpPr>
        <p:spPr>
          <a:xfrm>
            <a:off x="1005840" y="566928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33A"/>
                </a:solidFill>
              </a:rPr>
              <a:t>Better to be precise than overclaim: Viyog is a useful low-cost signal, not a complete deployment-ready defense.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7A8493"/>
                </a:solidFill>
              </a:rPr>
              <a:t>Viyog: Separating Adversarial and Out-of-Distribution · CODES/ESWEEK 2026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92608"/>
            <a:ext cx="11201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Takeaways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0175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938528" y="1627632"/>
            <a:ext cx="566928" cy="566928"/>
          </a:xfrm>
          <a:prstGeom prst="ellipse">
            <a:avLst/>
          </a:prstGeom>
          <a:solidFill>
            <a:srgbClr val="E66A00"/>
          </a:solidFill>
          <a:ln w="12700">
            <a:solidFill>
              <a:srgbClr val="E66A0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38528" y="1810512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78992" y="239572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233A"/>
                </a:solidFill>
              </a:rPr>
              <a:t>Signal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3000" y="2816352"/>
            <a:ext cx="219456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33A"/>
                </a:solidFill>
              </a:rPr>
              <a:t>ADV perturbations make dormant first-layer channels unusually rough.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51960" y="1371600"/>
            <a:ext cx="30175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58968" y="1627632"/>
            <a:ext cx="566928" cy="566928"/>
          </a:xfrm>
          <a:prstGeom prst="ellipse">
            <a:avLst/>
          </a:prstGeom>
          <a:solidFill>
            <a:srgbClr val="0F9F8B"/>
          </a:solidFill>
          <a:ln w="12700">
            <a:solidFill>
              <a:srgbClr val="0F9F8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58968" y="1810512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99432" y="239572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233A"/>
                </a:solidFill>
              </a:rPr>
              <a:t>Method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63440" y="2816352"/>
            <a:ext cx="219456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33A"/>
                </a:solidFill>
              </a:rPr>
              <a:t>Normalized TV extracts that shape signal with no retraining and O(C) state.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0" y="1371600"/>
            <a:ext cx="30175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979408" y="1627632"/>
            <a:ext cx="566928" cy="5669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79408" y="1810512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19872" y="239572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233A"/>
                </a:solidFill>
              </a:rPr>
              <a:t>System result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183880" y="2816352"/>
            <a:ext cx="219456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33A"/>
                </a:solidFill>
              </a:rPr>
              <a:t>Viyog + logit scores enable low-overhead ID/OOD/ADV routing.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143000" y="4315968"/>
            <a:ext cx="9875520" cy="868680"/>
          </a:xfrm>
          <a:prstGeom prst="roundRect">
            <a:avLst>
              <a:gd name="adj" fmla="val 8421"/>
            </a:avLst>
          </a:prstGeom>
          <a:solidFill>
            <a:srgbClr val="F8FAFC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444752" y="4572000"/>
            <a:ext cx="9235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2233A"/>
                </a:solidFill>
              </a:rPr>
              <a:t>0.980 T2 AUROC  ·  0.798 / 0.863 three-way BA  ·  3.9% H200 latency overhead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166360" y="5669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F9F8B"/>
                </a:solidFill>
              </a:rPr>
              <a:t>Questions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7A8493"/>
                </a:solidFill>
              </a:rPr>
              <a:t>Viyog: Separating Adversarial and Out-of-Distribution · CODES/ESWEEK 2026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92608"/>
            <a:ext cx="11201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Backup · calibration and inference rule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143000"/>
            <a:ext cx="507492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43000" y="141732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A"/>
                </a:solidFill>
              </a:rPr>
              <a:t>Calibration, once per model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847088"/>
            <a:ext cx="429768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00" dirty="0">
                <a:solidFill>
                  <a:srgbClr val="12233A"/>
                </a:solidFill>
              </a:rPr>
              <a:t>compute per-channel ID mean activation
</a:t>
            </a:r>
            <a:endParaRPr lang="en-US" sz="1400" dirty="0"/>
          </a:p>
          <a:p>
            <a:r>
              <a:rPr lang="en-US" sz="1400" dirty="0">
                <a:solidFill>
                  <a:srgbClr val="12233A"/>
                </a:solidFill>
              </a:rPr>
              <a:t>remove permanently silent filters
</a:t>
            </a:r>
            <a:endParaRPr lang="en-US" sz="1400" dirty="0"/>
          </a:p>
          <a:p>
            <a:r>
              <a:rPr lang="en-US" sz="1400" dirty="0">
                <a:solidFill>
                  <a:srgbClr val="12233A"/>
                </a:solidFill>
              </a:rPr>
              <a:t>choose quietest 10% alive channels as B
</a:t>
            </a:r>
            <a:endParaRPr lang="en-US" sz="1400" dirty="0"/>
          </a:p>
          <a:p>
            <a:r>
              <a:rPr lang="en-US" sz="1400" dirty="0">
                <a:solidFill>
                  <a:srgbClr val="12233A"/>
                </a:solidFill>
              </a:rPr>
              <a:t>fit polarity and operating point on calibration split
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143000"/>
            <a:ext cx="507492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12280" y="141732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A"/>
                </a:solidFill>
              </a:rPr>
              <a:t>Inference, per sample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0" y="1847088"/>
            <a:ext cx="406908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00" dirty="0">
                <a:solidFill>
                  <a:srgbClr val="12233A"/>
                </a:solidFill>
              </a:rPr>
              <a:t>hook first affine/conv activation
</a:t>
            </a:r>
            <a:endParaRPr lang="en-US" sz="1400" dirty="0"/>
          </a:p>
          <a:p>
            <a:r>
              <a:rPr lang="en-US" sz="1400" dirty="0">
                <a:solidFill>
                  <a:srgbClr val="12233A"/>
                </a:solidFill>
              </a:rPr>
              <a:t>compute dormant-band normalized TV
</a:t>
            </a:r>
            <a:endParaRPr lang="en-US" sz="1400" dirty="0"/>
          </a:p>
          <a:p>
            <a:r>
              <a:rPr lang="en-US" sz="1400" dirty="0">
                <a:solidFill>
                  <a:srgbClr val="12233A"/>
                </a:solidFill>
              </a:rPr>
              <a:t>if d·s &gt; τ: ADV → reject / alert
</a:t>
            </a:r>
            <a:endParaRPr lang="en-US" sz="1400" dirty="0"/>
          </a:p>
          <a:p>
            <a:r>
              <a:rPr lang="en-US" sz="1400" dirty="0">
                <a:solidFill>
                  <a:srgbClr val="12233A"/>
                </a:solidFill>
              </a:rPr>
              <a:t>otherwise: OOD → abstain / fallback
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828800" y="498348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9F8B"/>
                </a:solidFill>
              </a:rPr>
              <a:t>Optional: linear discriminant head over detector scores for three-class ID/OOD/ADV classification.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7A8493"/>
                </a:solidFill>
              </a:rPr>
              <a:t>Viyog: Separating Adversarial and Out-of-Distribution · CODES/ESWEEK 2026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92608"/>
            <a:ext cx="11201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Backup · baseline comparison summary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005840"/>
            <a:ext cx="1106424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86384" y="1243584"/>
            <a:ext cx="10332720" cy="420624"/>
          </a:xfrm>
          <a:prstGeom prst="rect">
            <a:avLst/>
          </a:prstGeom>
          <a:solidFill>
            <a:srgbClr val="12233A"/>
          </a:solidFill>
          <a:ln w="12700">
            <a:solidFill>
              <a:srgbClr val="12233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13533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Detector family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880360" y="13533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T1 ID/OOD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754880" y="13533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T2 ID/ADV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29400" y="13533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T3 OOD/ADV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641080" y="135331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State/cost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" y="20391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233A"/>
                </a:solidFill>
              </a:rPr>
              <a:t>Logit confidence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80360" y="20391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2233A"/>
                </a:solidFill>
              </a:rPr>
              <a:t>strong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754880" y="20391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2233A"/>
                </a:solidFill>
              </a:rPr>
              <a:t>weak ≤0.647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629400" y="20391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2233A"/>
                </a:solidFill>
              </a:rPr>
              <a:t>competitive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641080" y="203911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2233A"/>
                </a:solidFill>
              </a:rPr>
              <a:t>O(1)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41248" y="27249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233A"/>
                </a:solidFill>
              </a:rPr>
              <a:t>Feature distance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880360" y="27249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2233A"/>
                </a:solidFill>
              </a:rPr>
              <a:t>varies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754880" y="27249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2233A"/>
                </a:solidFill>
              </a:rPr>
              <a:t>mixed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629400" y="27249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2233A"/>
                </a:solidFill>
              </a:rPr>
              <a:t>weaker on T3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641080" y="272491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2233A"/>
                </a:solidFill>
              </a:rPr>
              <a:t>MB-scale state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" y="34107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233A"/>
                </a:solidFill>
              </a:rPr>
              <a:t>Raw first-conv norm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880360" y="34107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2233A"/>
                </a:solidFill>
              </a:rPr>
              <a:t>direction-inconsistent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754880" y="34107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2233A"/>
                </a:solidFill>
              </a:rPr>
              <a:t>near chance at first layer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629400" y="34107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2233A"/>
                </a:solidFill>
              </a:rPr>
              <a:t>near chance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641080" y="341071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2233A"/>
                </a:solidFill>
              </a:rPr>
              <a:t>O(C)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86384" y="3986784"/>
            <a:ext cx="10332720" cy="420624"/>
          </a:xfrm>
          <a:prstGeom prst="rect">
            <a:avLst/>
          </a:prstGeom>
          <a:solidFill>
            <a:srgbClr val="F0FDF9"/>
          </a:solidFill>
          <a:ln w="12700">
            <a:solidFill>
              <a:srgbClr val="F0FDF9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1248" y="40965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9F8B"/>
                </a:solidFill>
              </a:rPr>
              <a:t>Viyog shape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2880360" y="40965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9F8B"/>
                </a:solidFill>
              </a:rPr>
              <a:t>not main purpose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754880" y="40965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9F8B"/>
                </a:solidFill>
              </a:rPr>
              <a:t>0.980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629400" y="40965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9F8B"/>
                </a:solidFill>
              </a:rPr>
              <a:t>0.844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641080" y="409651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9F8B"/>
                </a:solidFill>
              </a:rPr>
              <a:t>O(C), ~0.3 kB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051560" y="5715000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A"/>
                </a:solidFill>
              </a:rPr>
              <a:t>Use this if asked why Viyog is not just another OOD detector: its main role is T2/T3, especially OOD-vs-ADV routing.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7A8493"/>
                </a:solidFill>
              </a:rPr>
              <a:t>Viyog: Separating Adversarial and Out-of-Distribution · CODES/ESWEEK 2026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92608"/>
            <a:ext cx="11201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Backup · near-OOD and texture-OOD behavior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143000"/>
            <a:ext cx="548640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iyog_fig_crops/fig10_ood_difficul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531172"/>
            <a:ext cx="5029200" cy="31555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720840" y="1234440"/>
            <a:ext cx="4206240" cy="3200400"/>
          </a:xfrm>
          <a:prstGeom prst="roundRect">
            <a:avLst>
              <a:gd name="adj" fmla="val 2286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040880" y="160020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6A00"/>
                </a:solidFill>
              </a:rPr>
              <a:t>Key caveat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132320" y="2148840"/>
            <a:ext cx="320040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00" dirty="0">
                <a:solidFill>
                  <a:srgbClr val="12233A"/>
                </a:solidFill>
              </a:rPr>
              <a:t>far-OOD is easiest
</a:t>
            </a:r>
            <a:endParaRPr lang="en-US" sz="1300" dirty="0"/>
          </a:p>
          <a:p>
            <a:r>
              <a:rPr lang="en-US" sz="1300" dirty="0">
                <a:solidFill>
                  <a:srgbClr val="12233A"/>
                </a:solidFill>
              </a:rPr>
              <a:t>near-OOD remains harder
</a:t>
            </a:r>
            <a:endParaRPr lang="en-US" sz="1300" dirty="0"/>
          </a:p>
          <a:p>
            <a:r>
              <a:rPr lang="en-US" sz="1300" dirty="0">
                <a:solidFill>
                  <a:srgbClr val="12233A"/>
                </a:solidFill>
              </a:rPr>
              <a:t>texture-OOD can be naturally rough
</a:t>
            </a:r>
            <a:endParaRPr lang="en-US" sz="1300" dirty="0"/>
          </a:p>
          <a:p>
            <a:r>
              <a:rPr lang="en-US" sz="1300" dirty="0">
                <a:solidFill>
                  <a:srgbClr val="12233A"/>
                </a:solidFill>
              </a:rPr>
              <a:t>TV/HF complement is diagnostic, not deployable as shown
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7A8493"/>
                </a:solidFill>
              </a:rPr>
              <a:t>Viyog: Separating Adversarial and Out-of-Distribution · CODES/ESWEEK 2026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92608"/>
            <a:ext cx="11201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Backup · end-to-end cascade at 5% ID-FPR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097280"/>
            <a:ext cx="612648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iyog_fig_crops/fig14_casc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91820"/>
            <a:ext cx="5715000" cy="2880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60920" y="141732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452360" y="15270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66A00"/>
                </a:solidFill>
              </a:rPr>
              <a:t>0.157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498080" y="1947672"/>
            <a:ext cx="2286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ADV recall: energy only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60920" y="278892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52360" y="2898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9F8B"/>
                </a:solidFill>
              </a:rPr>
              <a:t>0.834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498080" y="3319272"/>
            <a:ext cx="2286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ADV recall: two-signal gate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360920" y="416052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452360" y="42702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</a:rPr>
              <a:t>≤0.0001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7498080" y="4690872"/>
            <a:ext cx="2286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2233A"/>
                </a:solidFill>
              </a:rPr>
              <a:t>ID→ADV misescalation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7A8493"/>
                </a:solidFill>
              </a:rPr>
              <a:t>Viyog: Separating Adversarial and Out-of-Distribution · CODES/ESWEEK 2026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92608"/>
            <a:ext cx="11201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Backup · adaptive attack ladder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051560"/>
            <a:ext cx="644652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iyog_fig_crops/fig13_adapt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424002"/>
            <a:ext cx="6080760" cy="34613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80960" y="1234440"/>
            <a:ext cx="3246120" cy="356616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028432" y="15727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233A"/>
                </a:solidFill>
              </a:rPr>
              <a:t>How to answer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092440" y="2057400"/>
            <a:ext cx="251460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00" dirty="0">
                <a:solidFill>
                  <a:srgbClr val="12233A"/>
                </a:solidFill>
              </a:rPr>
              <a:t>A1 result is measured, not theoretical
</a:t>
            </a:r>
            <a:endParaRPr lang="en-US" sz="1300" dirty="0"/>
          </a:p>
          <a:p>
            <a:r>
              <a:rPr lang="en-US" sz="1300" dirty="0">
                <a:solidFill>
                  <a:srgbClr val="12233A"/>
                </a:solidFill>
              </a:rPr>
              <a:t>A2/A3 are detector-aware stress tests
</a:t>
            </a:r>
            <a:endParaRPr lang="en-US" sz="1300" dirty="0"/>
          </a:p>
          <a:p>
            <a:r>
              <a:rPr lang="en-US" sz="1300" dirty="0">
                <a:solidFill>
                  <a:srgbClr val="12233A"/>
                </a:solidFill>
              </a:rPr>
              <a:t>EOT randomized band helps in this setting
</a:t>
            </a:r>
            <a:endParaRPr lang="en-US" sz="1300" dirty="0"/>
          </a:p>
          <a:p>
            <a:r>
              <a:rPr lang="en-US" sz="1300" dirty="0">
                <a:solidFill>
                  <a:srgbClr val="12233A"/>
                </a:solidFill>
              </a:rPr>
              <a:t>do not call this a certificate
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7A8493"/>
                </a:solidFill>
              </a:rPr>
              <a:t>Viyog: Separating Adversarial and Out-of-Distribution · CODES/ESWEEK 2026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92608"/>
            <a:ext cx="11201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Backup · current limitations and follow-up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051560"/>
            <a:ext cx="10789920" cy="480060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1307592"/>
            <a:ext cx="10058400" cy="402336"/>
          </a:xfrm>
          <a:prstGeom prst="rect">
            <a:avLst/>
          </a:prstGeom>
          <a:solidFill>
            <a:srgbClr val="12233A"/>
          </a:solidFill>
          <a:ln w="12700">
            <a:solidFill>
              <a:srgbClr val="12233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1417320"/>
            <a:ext cx="15544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Area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743200" y="1417320"/>
            <a:ext cx="42976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Current boundary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06640" y="1417320"/>
            <a:ext cx="35661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Follow-up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05840" y="2075688"/>
            <a:ext cx="15544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2233A"/>
                </a:solidFill>
              </a:rPr>
              <a:t>Theory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0" y="2075688"/>
            <a:ext cx="42976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2233A"/>
                </a:solidFill>
              </a:rPr>
              <a:t>Conditional affine preactivation bound; nonlinear hooks are empirical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06640" y="2075688"/>
            <a:ext cx="35661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2233A"/>
                </a:solidFill>
              </a:rPr>
              <a:t>extend/validate nonlinear theory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2734056"/>
            <a:ext cx="15544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2233A"/>
                </a:solidFill>
              </a:rPr>
              <a:t>Threat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0" y="2734056"/>
            <a:ext cx="42976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2233A"/>
                </a:solidFill>
              </a:rPr>
              <a:t>four digital L∞ attacks at ε=8/255; finite adaptive sweeps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06640" y="2734056"/>
            <a:ext cx="35661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2233A"/>
                </a:solidFill>
              </a:rPr>
              <a:t>broader attacks and objectives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3392424"/>
            <a:ext cx="15544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2233A"/>
                </a:solidFill>
              </a:rPr>
              <a:t>Accuracy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0" y="3392424"/>
            <a:ext cx="42976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2233A"/>
                </a:solidFill>
              </a:rPr>
              <a:t>T3 FPR remains high; OOD recall not solved by Viyog alone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406640" y="3392424"/>
            <a:ext cx="35661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2233A"/>
                </a:solidFill>
              </a:rPr>
              <a:t>better cascade operating points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050792"/>
            <a:ext cx="15544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2233A"/>
                </a:solidFill>
              </a:rPr>
              <a:t>Generality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43200" y="4050792"/>
            <a:ext cx="42976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2233A"/>
                </a:solidFill>
              </a:rPr>
              <a:t>three image datasets; limited seeds; one synthetic 1-D task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06640" y="4050792"/>
            <a:ext cx="35661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2233A"/>
                </a:solidFill>
              </a:rPr>
              <a:t>larger modalities and seed coverage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" y="4709160"/>
            <a:ext cx="15544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2233A"/>
                </a:solidFill>
              </a:rPr>
              <a:t>Hardware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43200" y="4709160"/>
            <a:ext cx="42976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2233A"/>
                </a:solidFill>
              </a:rPr>
              <a:t>H200 measured; edge energy projected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06640" y="4709160"/>
            <a:ext cx="35661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2233A"/>
                </a:solidFill>
              </a:rPr>
              <a:t>measure target edge devices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7A8493"/>
                </a:solidFill>
              </a:rPr>
              <a:t>Viyog: Separating Adversarial and Out-of-Distribution · CODES/ESWEEK 2026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92608"/>
            <a:ext cx="11201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Backup · high-probability Q&amp;A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051560"/>
            <a:ext cx="10698480" cy="480060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43000" y="1371600"/>
            <a:ext cx="2880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9F8B"/>
                </a:solidFill>
              </a:rPr>
              <a:t>Why first layer?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160520" y="137160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2233A"/>
                </a:solidFill>
              </a:rPr>
              <a:t>Highest AUROC in depth sweep and cheapest to read.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43000" y="2157984"/>
            <a:ext cx="2880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9F8B"/>
                </a:solidFill>
              </a:rPr>
              <a:t>Why TV?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160520" y="2157984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2233A"/>
                </a:solidFill>
              </a:rPr>
              <a:t>It measures spatial roughness, while normalization reduces magnitude dependence.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143000" y="2944368"/>
            <a:ext cx="2880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9F8B"/>
                </a:solidFill>
              </a:rPr>
              <a:t>Does it replace OOD detection?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160520" y="294436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2233A"/>
                </a:solidFill>
              </a:rPr>
              <a:t>No. It complements a first-stage non-ID/logit detector.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143000" y="3730752"/>
            <a:ext cx="2880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9F8B"/>
                </a:solidFill>
              </a:rPr>
              <a:t>Does theory guarantee robustness?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160520" y="3730752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2233A"/>
                </a:solidFill>
              </a:rPr>
              <a:t>No. Proposition 1 is conditional; adaptive tests are empirical.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43000" y="4517136"/>
            <a:ext cx="2880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9F8B"/>
                </a:solidFill>
              </a:rPr>
              <a:t>What is the deployment status?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160520" y="4517136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2233A"/>
                </a:solidFill>
              </a:rPr>
              <a:t>Promising low-cost signal; not claimed stand-alone deployment-ready.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8890">
            <a:solidFill>
              <a:srgbClr val="D6DEE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6565392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7A8493"/>
                </a:solidFill>
              </a:rPr>
              <a:t>Viyog: Separating Adversarial and Out-of-Distribution · CODES/ESWEEK 2026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Viyog: Separating Adversarial and Out-of-Distribution</dc:title>
  <dc:subject>Viyog ESWEEK presentation</dc:subject>
  <dc:creator>OpenAI</dc:creator>
  <cp:lastModifiedBy>OpenAI</cp:lastModifiedBy>
  <cp:revision>1</cp:revision>
  <dcterms:created xsi:type="dcterms:W3CDTF">2026-09-16T20:45:18Z</dcterms:created>
  <dcterms:modified xsi:type="dcterms:W3CDTF">2026-09-16T20:45:18Z</dcterms:modified>
</cp:coreProperties>
</file>